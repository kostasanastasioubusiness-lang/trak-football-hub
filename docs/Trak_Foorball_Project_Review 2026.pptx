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pre-pilot engineering review for Trak Football. I've been through the codebase end-to-end, and what I want to walk you through today is twenty-five specific things we should investigate, in priority order. The headline is encouraging: I think the pilot can launch — but only if we settle five specific items first. Everything else in this deck is about what we do after that, in week one, weeks two through four, and post-pilot. Plan for about twenty-five minutes plus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put the recommendation up front so the rest of the deck is in context. The pilot can launch, but it should not launch this week. Five P0 items have to clear first. They're listed here on the right. The pattern is consistent: these are the items where, if we get them wrong, a single pilot user can either see another user's data, brick the app for everyone, or trigger a performance regression we can't recover from at the table level. None of them are particularly hard. The work this week is mostly about confirming, not building. If we close these five, I'm confident green-lighting the pilot the following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catalogue at a glance. Twenty-five items, sorted into four tiers. Five P0 blockers that have to land before any external user signs in. Six P1 items that we should close in launch week one — they don't block, but they become regret debt fast. Seven P2 items we monitor during the pilot itself, weeks two through four. And seven P3 items that need to close before we scale past the pilot — accessibility, CI, observability, the GDPR work, and the business model. The point of this slide is to set expectations on volume and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orientation on how to read the rest of the deck. The P0 items each get their own slide, because every one of them is launch-blocking and I want time on each. The lower tiers are clustered by theme — so two slides for P1, two for P2, two for P3. Each item slide has the same structure: a verdict-style title, the original investigation question, why it matters, and a proposed owner and effort estimate. Item numbers match the source catalogue so you can use them in tickets after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P0. Five items. The framing for this section is simple: if any one of these is still open on launch day, we delay launch. Three of the five live in security or implementation fidelity — they're about confirming the foundation is what we think it is. The other two are operational gaps: an error boundary and database indexes. None of them are speculative; all five are concrete things to do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 item one. The Supabase anon key — has it ever been committed to the repository? The command to check is on the slide. The reason this is urgent: a key that has ever been in git history is permanently public to anyone who has cloned, forked, or even shallow-pulled the repo at any point, regardless of whether we later scrubbed it. If it ever leaked, we rotate today. The good news is that the audit takes about two hours and the rotation is a redeploy. We also want to wire in a pre-commit secret scanner so we don't have to think about this again. The owner is the backend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 item two. We have a conflict between STATE.md, which lists thirty-one tasks as pending, and the most recent commit message, which claims all six milestones are implemented. Until we know which is right, we don't actually know what we're shipping into the pilot. The fix is a half-day pair walk-through — tech lead and PM, sitting together, running the app and ticking each task as done, partial, broken, or not started. Then STATE.md becomes the source of truth, and we keep it current per merge. You cannot run a pilot on code you believe is complete; that's the line that matters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 item three. Multi-tenant isolation. We have RLS policies in place on every table, but we have never adversarially tested them. The probe is straightforward: sign in as Player A in one browser, open the Supabase client in the console, and try to read Player B's matches, assessments, profile, anything. If any row comes back, the policy is wrong. We do this for every table, fix what we find, and then codify each probe as a test fixture so we never regress. About three hours, owned by whoever's playing the security reviewer role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 item four. There is no React error boundary anywhere in the app. The first time a pilot user triggers an unhandled exception — a corrupt match record, a date in the wrong format, a missing field — they get a blank white screen. And we will hear about it from them, not from logs. The fix is half a day: a global boundary at the router root with a graceful fallback, and per-route boundaries for the three role homes so one screen's crash doesn't take the app down with it. Frontend lead owns this. When the logging sink lands later in P3, we wire boundary errors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 item five. Database indexes. Open Supabase Studio, look at the matches, coach_assessments, and squad_players tables, and confirm what I expect to be true: no indexes beyond the primary keys. Every list query is currently a full table scan. With thirty pilot users this is fine on day one and noticeably slow by week three. The fix is a half-day of migrations — foreign-key indexes on the obvious columns, plus a composite or two for the most common access patterns — and then re-running the worst three queries with EXPLAIN to confirm we're hitting indexes. Indexes are cheap to add before there's data and expensive once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P0. Five items, four owners — the backend lead carries two, and PM partners with the tech lead on the STATE.md reconciliation. The total effort is comfortably under a person-week. The status column starts as 'open' across the board. By Friday, every row should read 'done', and we'd run a fifteen-minute review to confirm before green-lighting the following Monday's pilot kickoff.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P1. Six items, all hardening work that should close inside launch week one. These don't block launch — the app works without them — but they all become regret debt within a fortnight. I've split the six into two themed slides: cluster A is testing and types, cluster B is runtime safety. The headline for the section: P1 is the work that turns a working app into a production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cluster A. Three items, all about confidence in what we ship. Item six: Playwright is already installed and configured. Zero test files exist. The smallest meaningful step is three end-to-end smoke tests, one per role's happy path, and we'd have them in a day. Item seven: TypeScript strict mode is off — no implicit any, no strict null checks, no unused variable checks. Turning it on surfaces the type debt today, while it's small. Item eleven is the ratchet: once seven is done, gate merges on a clean strict build so we can't slip backwards.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cluster B. Three items about making the runtime honest. Item eight: every Supabase insert and update needs to check the error return and surface it to the user. The failure mode today is silent — coach assesses a player, request fails, UI says nothing, assessment is gone. We learn about it from the coach. Item nine: sessions expire, autoRefreshToken doesn't catch every case, and the app currently hangs instead of redirecting to sign-in. Add a global auth-state listener. Item ten: the password floor is six characters in both Supabase and the frontend. With minors in scope, it's eight. Two-line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 P2. Seven items to watch during the pilot weeks. The framing here is different from P0 and P1. These items are unlikely to fail on day one. They're the slow leaks — things that get worse as data accumulates, or that fail only on edge cases. So instead of 'fix before launch', the disposition is 'monitor weekly during the pilot, patch as needed'. Two themed slides: data integrity, then scale and 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 cluster A. Three items about treating data correctly. Item fourteen: our RLS policies use FOR ALL, which implicitly grants DELETE. A coach could erase their own assessment history; a player could delete a coach's record of them. Historical records should be immutable. We split the policies by verb. Item fifteen: the assessment band calculation takes six slider values. We've never tested it at boundary values — all zeros, all tens, mixed edges. Six fixtures, locked in as unit tests. Item sixteen: TRK invite codes have no unique constraint that I can see. Two coaches with the same code means players route to whichever account got there first. Quiet, hard to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 cluster B. Four items about how the app behaves at scale and under stale state. Item twelve: no .range() in useMatches, so the history screen pulls everything every time. Add a cursor before someone tracks a full season. Item thirteen: measure the initial JS payload — twenty-four Radix components plus Recharts plus multiple icon sets will be felt on mobile. Item seventeen: PENDING_PROFILE_KEY in localStorage has no TTL, so abandoned onboarding state lives forever. Item eighteen: when we add the leaderboard, audit that aggregate queries don't let a player infer their coach or another player's club. Test before adding the feature,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 Seven items to close before scaling beyond the pilot. The framing: each of these becomes urgent the moment we sign a second customer. They're not urgent today because we have one customer and thirty users. They will be urgent in three months. Two themed slides: quality and operations, then compliance and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 cluster A. Four items about operational maturity. Item nineteen: user-scalable=no in the viewport meta tag is a direct WCAG 1.4.4 violation. Run axe-core across the role homes and triage the rest. Accessibility for minors is not optional. Item twenty: there's no GitHub Actions workflow, so every deploy is a person clicking through Lovable. Single point of failure. Item twenty-one: three console.error calls across 132 files is effectively no observability. Pick Sentry, wire it into the error boundary from item four. Item twenty-three: Storybook is installed, stories were written against early scaffolding, they've drifted. Refresh or retire — stale stories are worse than no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 cluster B. Three items that are not purely engineering. Item twenty-two: parental consent and account deletion are legal obligations for minors, full stop. We need a self-serve deletion path and a linked privacy policy. This one needs an owner outside engineering. Item twenty-four: tree-shake Recharts and audit our icon imports — wildcard imports likely add about two hundred kilobytes the bundle doesn't need. Item twenty-five: there is no documented monetization model anywhere in the project. The coach is identified as the acquisition channel, but no pricing, no conversion point, no paid tier is named. We need a working hypothesis before the pilot's last week so we can have the 'how much' conversation while the users are still engaged.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the work concentrates. Security carries five items across all four tiers — three urgent ones, which means the security reviewer and the backend lead are going to be the busiest people this week. Database is next with four, three of which are P2. Error handling, code quality, and fidelity each have three. Operations and accessibility wait entirely in P3 — fine for a pilot, urgent at customer two. The single business item is twenty-five, and it's the only entry that won't be answered in the IDE. The legend on the right summarizes what this distribution means for staffing.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for this week, here's the order I'd run the five P0 items in. Monday: the git history audit. It's the cheapest, the fastest, and the only one that has to land before any deploy. If keys leaked, we want to know on Monday. Monday into Tuesday: reconcile STATE.md, because the rest of the week is informed by that picture. Tuesday into Wednesday: the RLS probe. Wednesday into Thursday: ship the error boundary. Thursday into Friday: indexes. By Friday close, all five should be done, with evidence in the tracker. A fifteen-minute Friday review to confirm and to green-light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Green-light conditions for the pilot, all in one place. Five boxes. They're deliberately binary — checked or not, no halfway. Each has a named owner. Each is verifiable from outside the engineering team, which matters because the green-light decision is not just an engineering call. If on Friday any of these is unchecked, we don't launch on Monday. We don't ship 'mostly ready'. The conditions are small enough in number that 'mostly' isn't a real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open questions we cannot answer from the codebase. Who owns the launch decision singularly — because right now I see five doers but no single decision-maker. How many real users are in pilot week one — that sizing matters for indexes and pagination. What's the incident path on a Saturday — we don't have on-call coverage yet. Who owns parental consent — product, ops, or legal. What's our pricing hypothesis and when do we test it. And critically: if two P0 items slip on Friday, do we delay or shrink — better to decide the rule now, while it's hypothetical, than under pressure on Friday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review. Five blockers, one week, and then we play. I'm happy to take questions in any order — the items, the priorities, the owners, the timeline, or the open questions. Push back on anything that doesn't match the picture you have from the inside.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8287999" cy="10286999"/>
          </a:xfrm>
          <a:prstGeom prst="rect">
            <a:avLst/>
          </a:prstGeom>
          <a:solidFill>
            <a:srgbClr val="14201A"/>
          </a:solidFill>
          <a:ln/>
        </p:spPr>
      </p:sp>
      <p:pic>
        <p:nvPicPr>
          <p:cNvPr id="3" name="Image 0" descr="preencoded.png">    </p:cNvPr>
          <p:cNvPicPr>
            <a:picLocks noChangeAspect="1"/>
          </p:cNvPicPr>
          <p:nvPr/>
        </p:nvPicPr>
        <p:blipFill>
          <a:blip r:embed="rId1"/>
          <a:stretch>
            <a:fillRect/>
          </a:stretch>
        </p:blipFill>
        <p:spPr>
          <a:xfrm>
            <a:off x="0" y="0"/>
            <a:ext cx="18287999" cy="10286999"/>
          </a:xfrm>
          <a:prstGeom prst="rect">
            <a:avLst/>
          </a:prstGeom>
        </p:spPr>
      </p:pic>
      <p:sp>
        <p:nvSpPr>
          <p:cNvPr id="4" name="Shape 1"/>
          <p:cNvSpPr/>
          <p:nvPr/>
        </p:nvSpPr>
        <p:spPr>
          <a:xfrm>
            <a:off x="914341" y="916214"/>
            <a:ext cx="152341" cy="152341"/>
          </a:xfrm>
          <a:prstGeom prst="ellipse">
            <a:avLst/>
          </a:prstGeom>
          <a:solidFill>
            <a:srgbClr val="1F6F43"/>
          </a:solidFill>
          <a:ln/>
          <a:effectLst>
            <a:outerShdw sx="100000" sy="100000" kx="0" ky="0" algn="bl" rotWithShape="0" blurRad="101600" dist="50800" dir="16200000">
              <a:srgbClr val="1F6F43">
                <a:alpha val="22000"/>
              </a:srgbClr>
            </a:outerShdw>
          </a:effectLst>
        </p:spPr>
      </p:sp>
      <p:sp>
        <p:nvSpPr>
          <p:cNvPr id="5" name="Text 2"/>
          <p:cNvSpPr/>
          <p:nvPr/>
        </p:nvSpPr>
        <p:spPr>
          <a:xfrm>
            <a:off x="1199992" y="838121"/>
            <a:ext cx="203769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6F4EF"/>
                </a:solidFill>
                <a:latin typeface="Courier New" pitchFamily="34" charset="0"/>
                <a:ea typeface="Courier New" pitchFamily="34" charset="-122"/>
                <a:cs typeface="Courier New" pitchFamily="34" charset="-120"/>
              </a:rPr>
              <a:t>TRAK FOOTBALL</a:t>
            </a:r>
            <a:endParaRPr lang="en-US" sz="1800" dirty="0"/>
          </a:p>
        </p:txBody>
      </p:sp>
      <p:sp>
        <p:nvSpPr>
          <p:cNvPr id="6" name="Text 3"/>
          <p:cNvSpPr/>
          <p:nvPr/>
        </p:nvSpPr>
        <p:spPr>
          <a:xfrm>
            <a:off x="13149035" y="838121"/>
            <a:ext cx="435136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AEBCB3"/>
                </a:solidFill>
                <a:latin typeface="Courier New" pitchFamily="34" charset="0"/>
                <a:ea typeface="Courier New" pitchFamily="34" charset="-122"/>
                <a:cs typeface="Courier New" pitchFamily="34" charset="-120"/>
              </a:rPr>
              <a:t>PRE-PILOT ENGINEERING REVIEW</a:t>
            </a:r>
            <a:endParaRPr lang="en-US" sz="1800" dirty="0"/>
          </a:p>
        </p:txBody>
      </p:sp>
      <p:sp>
        <p:nvSpPr>
          <p:cNvPr id="7" name="Text 4"/>
          <p:cNvSpPr/>
          <p:nvPr/>
        </p:nvSpPr>
        <p:spPr>
          <a:xfrm>
            <a:off x="914341" y="4651177"/>
            <a:ext cx="1695309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324" kern="0" dirty="0">
                <a:solidFill>
                  <a:srgbClr val="8EA298"/>
                </a:solidFill>
                <a:latin typeface="Courier New" pitchFamily="34" charset="0"/>
                <a:ea typeface="Courier New" pitchFamily="34" charset="-122"/>
                <a:cs typeface="Courier New" pitchFamily="34" charset="-120"/>
              </a:rPr>
              <a:t>PROJECT REVIEW · V1.0</a:t>
            </a:r>
            <a:endParaRPr lang="en-US" sz="1800" dirty="0"/>
          </a:p>
        </p:txBody>
      </p:sp>
      <p:sp>
        <p:nvSpPr>
          <p:cNvPr id="8" name="Text 5"/>
          <p:cNvSpPr/>
          <p:nvPr/>
        </p:nvSpPr>
        <p:spPr>
          <a:xfrm>
            <a:off x="914341" y="5302546"/>
            <a:ext cx="14716124" cy="3059083"/>
          </a:xfrm>
          <a:prstGeom prst="rect">
            <a:avLst/>
          </a:prstGeom>
          <a:noFill/>
          <a:ln/>
        </p:spPr>
        <p:txBody>
          <a:bodyPr wrap="square" lIns="25400" tIns="25400" rIns="25400" bIns="25400" rtlCol="0" anchor="t">
            <a:normAutofit/>
          </a:bodyPr>
          <a:lstStyle/>
          <a:p>
            <a:pPr algn="l" indent="0" marL="0">
              <a:lnSpc>
                <a:spcPct val="94000"/>
              </a:lnSpc>
              <a:buNone/>
            </a:pPr>
            <a:r>
              <a:rPr lang="en-US" sz="12600" spc="-315" kern="0" dirty="0">
                <a:solidFill>
                  <a:srgbClr val="F6F4EF"/>
                </a:solidFill>
                <a:latin typeface="Georgia" pitchFamily="34" charset="0"/>
                <a:ea typeface="Georgia" pitchFamily="34" charset="-122"/>
                <a:cs typeface="Georgia" pitchFamily="34" charset="-120"/>
              </a:rPr>
              <a:t>Twenty-five things to settle </a:t>
            </a:r>
            <a:pPr algn="l" indent="0" marL="0">
              <a:lnSpc>
                <a:spcPct val="94000"/>
              </a:lnSpc>
              <a:buNone/>
            </a:pPr>
            <a:r>
              <a:rPr lang="en-US" sz="12600" i="1" spc="-315" kern="0" dirty="0">
                <a:solidFill>
                  <a:srgbClr val="5FB585"/>
                </a:solidFill>
                <a:latin typeface="Georgia" pitchFamily="34" charset="0"/>
                <a:ea typeface="Georgia" pitchFamily="34" charset="-122"/>
                <a:cs typeface="Georgia" pitchFamily="34" charset="-120"/>
              </a:rPr>
              <a:t>before kickoff.</a:t>
            </a:r>
            <a:endParaRPr lang="en-US" sz="12600" dirty="0"/>
          </a:p>
        </p:txBody>
      </p:sp>
      <p:sp>
        <p:nvSpPr>
          <p:cNvPr id="9" name="Shape 6"/>
          <p:cNvSpPr/>
          <p:nvPr/>
        </p:nvSpPr>
        <p:spPr>
          <a:xfrm>
            <a:off x="914341" y="8552088"/>
            <a:ext cx="16459317" cy="9525"/>
          </a:xfrm>
          <a:prstGeom prst="rect">
            <a:avLst/>
          </a:prstGeom>
          <a:solidFill>
            <a:srgbClr val="FFFFFF">
              <a:alpha val="14000"/>
            </a:srgbClr>
          </a:solidFill>
          <a:ln/>
        </p:spPr>
      </p:sp>
      <p:sp>
        <p:nvSpPr>
          <p:cNvPr id="10" name="Text 7"/>
          <p:cNvSpPr/>
          <p:nvPr/>
        </p:nvSpPr>
        <p:spPr>
          <a:xfrm>
            <a:off x="914341" y="8825020"/>
            <a:ext cx="494467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8" kern="0" dirty="0">
                <a:solidFill>
                  <a:srgbClr val="6B7D72"/>
                </a:solidFill>
                <a:latin typeface="Courier New" pitchFamily="34" charset="0"/>
                <a:ea typeface="Courier New" pitchFamily="34" charset="-122"/>
                <a:cs typeface="Courier New" pitchFamily="34" charset="-120"/>
              </a:rPr>
              <a:t>BRIEF</a:t>
            </a:r>
            <a:endParaRPr lang="en-US" sz="1800" dirty="0"/>
          </a:p>
        </p:txBody>
      </p:sp>
      <p:sp>
        <p:nvSpPr>
          <p:cNvPr id="11" name="Text 8"/>
          <p:cNvSpPr/>
          <p:nvPr/>
        </p:nvSpPr>
        <p:spPr>
          <a:xfrm>
            <a:off x="914341" y="9209570"/>
            <a:ext cx="3918308" cy="322075"/>
          </a:xfrm>
          <a:prstGeom prst="rect">
            <a:avLst/>
          </a:prstGeom>
          <a:noFill/>
          <a:ln/>
        </p:spPr>
        <p:txBody>
          <a:bodyPr wrap="square" lIns="25400" tIns="25400" rIns="25400" bIns="25400" rtlCol="0" anchor="t">
            <a:normAutofit/>
          </a:bodyPr>
          <a:lstStyle/>
          <a:p>
            <a:pPr algn="l" indent="0" marL="0">
              <a:lnSpc>
                <a:spcPct val="135000"/>
              </a:lnSpc>
              <a:buNone/>
            </a:pPr>
            <a:r>
              <a:rPr lang="en-US" sz="1950" spc="78" kern="0" dirty="0">
                <a:solidFill>
                  <a:srgbClr val="F6F4EF"/>
                </a:solidFill>
                <a:latin typeface="Courier New" pitchFamily="34" charset="0"/>
                <a:ea typeface="Courier New" pitchFamily="34" charset="-122"/>
                <a:cs typeface="Courier New" pitchFamily="34" charset="-120"/>
              </a:rPr>
              <a:t>PRE-PILOT CODEBASE AUDIT</a:t>
            </a:r>
            <a:endParaRPr lang="en-US" sz="1950" dirty="0"/>
          </a:p>
        </p:txBody>
      </p:sp>
      <p:sp>
        <p:nvSpPr>
          <p:cNvPr id="12" name="Text 9"/>
          <p:cNvSpPr/>
          <p:nvPr/>
        </p:nvSpPr>
        <p:spPr>
          <a:xfrm>
            <a:off x="6172121" y="8825020"/>
            <a:ext cx="353197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8" kern="0" dirty="0">
                <a:solidFill>
                  <a:srgbClr val="6B7D72"/>
                </a:solidFill>
                <a:latin typeface="Courier New" pitchFamily="34" charset="0"/>
                <a:ea typeface="Courier New" pitchFamily="34" charset="-122"/>
                <a:cs typeface="Courier New" pitchFamily="34" charset="-120"/>
              </a:rPr>
              <a:t>ITEMS</a:t>
            </a:r>
            <a:endParaRPr lang="en-US" sz="1800" dirty="0"/>
          </a:p>
        </p:txBody>
      </p:sp>
      <p:sp>
        <p:nvSpPr>
          <p:cNvPr id="13" name="Text 10"/>
          <p:cNvSpPr/>
          <p:nvPr/>
        </p:nvSpPr>
        <p:spPr>
          <a:xfrm>
            <a:off x="6172121" y="9209570"/>
            <a:ext cx="3265273" cy="322075"/>
          </a:xfrm>
          <a:prstGeom prst="rect">
            <a:avLst/>
          </a:prstGeom>
          <a:noFill/>
          <a:ln/>
        </p:spPr>
        <p:txBody>
          <a:bodyPr wrap="square" lIns="25400" tIns="25400" rIns="25400" bIns="25400" rtlCol="0" anchor="t">
            <a:normAutofit/>
          </a:bodyPr>
          <a:lstStyle/>
          <a:p>
            <a:pPr algn="l" indent="0" marL="0">
              <a:lnSpc>
                <a:spcPct val="135000"/>
              </a:lnSpc>
              <a:buNone/>
            </a:pPr>
            <a:r>
              <a:rPr lang="en-US" sz="1950" spc="78" kern="0" dirty="0">
                <a:solidFill>
                  <a:srgbClr val="F6F4EF"/>
                </a:solidFill>
                <a:latin typeface="Courier New" pitchFamily="34" charset="0"/>
                <a:ea typeface="Courier New" pitchFamily="34" charset="-122"/>
                <a:cs typeface="Courier New" pitchFamily="34" charset="-120"/>
              </a:rPr>
              <a:t>25 ACROSS FOUR TIERS</a:t>
            </a:r>
            <a:endParaRPr lang="en-US" sz="1950" dirty="0"/>
          </a:p>
        </p:txBody>
      </p:sp>
      <p:sp>
        <p:nvSpPr>
          <p:cNvPr id="14" name="Text 11"/>
          <p:cNvSpPr/>
          <p:nvPr/>
        </p:nvSpPr>
        <p:spPr>
          <a:xfrm>
            <a:off x="10058341" y="8825020"/>
            <a:ext cx="353197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8" kern="0" dirty="0">
                <a:solidFill>
                  <a:srgbClr val="6B7D72"/>
                </a:solidFill>
                <a:latin typeface="Courier New" pitchFamily="34" charset="0"/>
                <a:ea typeface="Courier New" pitchFamily="34" charset="-122"/>
                <a:cs typeface="Courier New" pitchFamily="34" charset="-120"/>
              </a:rPr>
              <a:t>WINDOW</a:t>
            </a:r>
            <a:endParaRPr lang="en-US" sz="1800" dirty="0"/>
          </a:p>
        </p:txBody>
      </p:sp>
      <p:sp>
        <p:nvSpPr>
          <p:cNvPr id="15" name="Text 12"/>
          <p:cNvSpPr/>
          <p:nvPr/>
        </p:nvSpPr>
        <p:spPr>
          <a:xfrm>
            <a:off x="10058341" y="9209570"/>
            <a:ext cx="2938756" cy="322075"/>
          </a:xfrm>
          <a:prstGeom prst="rect">
            <a:avLst/>
          </a:prstGeom>
          <a:noFill/>
          <a:ln/>
        </p:spPr>
        <p:txBody>
          <a:bodyPr wrap="square" lIns="25400" tIns="25400" rIns="25400" bIns="25400" rtlCol="0" anchor="t">
            <a:normAutofit/>
          </a:bodyPr>
          <a:lstStyle/>
          <a:p>
            <a:pPr algn="l" indent="0" marL="0">
              <a:lnSpc>
                <a:spcPct val="135000"/>
              </a:lnSpc>
              <a:buNone/>
            </a:pPr>
            <a:r>
              <a:rPr lang="en-US" sz="1950" spc="78" kern="0" dirty="0">
                <a:solidFill>
                  <a:srgbClr val="F6F4EF"/>
                </a:solidFill>
                <a:latin typeface="Courier New" pitchFamily="34" charset="0"/>
                <a:ea typeface="Courier New" pitchFamily="34" charset="-122"/>
                <a:cs typeface="Courier New" pitchFamily="34" charset="-120"/>
              </a:rPr>
              <a:t>THIS WEEK → WEEK 4</a:t>
            </a:r>
            <a:endParaRPr lang="en-US" sz="1950" dirty="0"/>
          </a:p>
        </p:txBody>
      </p:sp>
      <p:sp>
        <p:nvSpPr>
          <p:cNvPr id="16" name="Text 13"/>
          <p:cNvSpPr/>
          <p:nvPr/>
        </p:nvSpPr>
        <p:spPr>
          <a:xfrm>
            <a:off x="13944559" y="8825020"/>
            <a:ext cx="353187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8" kern="0" dirty="0">
                <a:solidFill>
                  <a:srgbClr val="6B7D72"/>
                </a:solidFill>
                <a:latin typeface="Courier New" pitchFamily="34" charset="0"/>
                <a:ea typeface="Courier New" pitchFamily="34" charset="-122"/>
                <a:cs typeface="Courier New" pitchFamily="34" charset="-120"/>
              </a:rPr>
              <a:t>DATE</a:t>
            </a:r>
            <a:endParaRPr lang="en-US" sz="1800" dirty="0"/>
          </a:p>
        </p:txBody>
      </p:sp>
      <p:sp>
        <p:nvSpPr>
          <p:cNvPr id="17" name="Text 14"/>
          <p:cNvSpPr/>
          <p:nvPr/>
        </p:nvSpPr>
        <p:spPr>
          <a:xfrm>
            <a:off x="13944559" y="9209570"/>
            <a:ext cx="1344327" cy="322075"/>
          </a:xfrm>
          <a:prstGeom prst="rect">
            <a:avLst/>
          </a:prstGeom>
          <a:noFill/>
          <a:ln/>
        </p:spPr>
        <p:txBody>
          <a:bodyPr wrap="square" lIns="25400" tIns="25400" rIns="25400" bIns="25400" rtlCol="0" anchor="t">
            <a:normAutofit/>
          </a:bodyPr>
          <a:lstStyle/>
          <a:p>
            <a:pPr algn="l" indent="0" marL="0">
              <a:lnSpc>
                <a:spcPct val="135000"/>
              </a:lnSpc>
              <a:buNone/>
            </a:pPr>
            <a:r>
              <a:rPr lang="en-US" sz="1950" spc="78" kern="0" dirty="0">
                <a:solidFill>
                  <a:srgbClr val="F6F4EF"/>
                </a:solidFill>
                <a:latin typeface="Courier New" pitchFamily="34" charset="0"/>
                <a:ea typeface="Courier New" pitchFamily="34" charset="-122"/>
                <a:cs typeface="Courier New" pitchFamily="34" charset="-120"/>
              </a:rPr>
              <a:t>MAY 2026</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3862226" y="419061"/>
            <a:ext cx="361677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RECOMMENDATION · 01 / 25</a:t>
            </a:r>
            <a:endParaRPr lang="en-US" sz="1800" dirty="0"/>
          </a:p>
        </p:txBody>
      </p:sp>
      <p:sp>
        <p:nvSpPr>
          <p:cNvPr id="5" name="Text 3"/>
          <p:cNvSpPr/>
          <p:nvPr/>
        </p:nvSpPr>
        <p:spPr>
          <a:xfrm>
            <a:off x="914341" y="2252475"/>
            <a:ext cx="82009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VERDICT</a:t>
            </a:r>
            <a:endParaRPr lang="en-US" sz="1800" dirty="0"/>
          </a:p>
        </p:txBody>
      </p:sp>
      <p:sp>
        <p:nvSpPr>
          <p:cNvPr id="6" name="Text 4"/>
          <p:cNvSpPr/>
          <p:nvPr/>
        </p:nvSpPr>
        <p:spPr>
          <a:xfrm>
            <a:off x="914341" y="2827623"/>
            <a:ext cx="8200913" cy="3149501"/>
          </a:xfrm>
          <a:prstGeom prst="rect">
            <a:avLst/>
          </a:prstGeom>
          <a:noFill/>
          <a:ln/>
        </p:spPr>
        <p:txBody>
          <a:bodyPr wrap="square" lIns="25400" tIns="25400" rIns="25400" bIns="25400" rtlCol="0" anchor="t">
            <a:normAutofit/>
          </a:bodyPr>
          <a:lstStyle/>
          <a:p>
            <a:pPr algn="l" indent="0" marL="0">
              <a:lnSpc>
                <a:spcPct val="100000"/>
              </a:lnSpc>
              <a:buNone/>
            </a:pPr>
            <a:r>
              <a:rPr lang="en-US" sz="8100" spc="-162" kern="0" dirty="0">
                <a:solidFill>
                  <a:srgbClr val="16241C"/>
                </a:solidFill>
                <a:latin typeface="Georgia" pitchFamily="34" charset="0"/>
                <a:ea typeface="Georgia" pitchFamily="34" charset="-122"/>
                <a:cs typeface="Georgia" pitchFamily="34" charset="-120"/>
              </a:rPr>
              <a:t>The pilot can launch — </a:t>
            </a:r>
            <a:pPr algn="l" indent="0" marL="0">
              <a:lnSpc>
                <a:spcPct val="100000"/>
              </a:lnSpc>
              <a:buNone/>
            </a:pPr>
            <a:r>
              <a:rPr lang="en-US" sz="8100" i="1" spc="-162" kern="0" dirty="0">
                <a:solidFill>
                  <a:srgbClr val="1F6F43"/>
                </a:solidFill>
                <a:latin typeface="Georgia" pitchFamily="34" charset="0"/>
                <a:ea typeface="Georgia" pitchFamily="34" charset="-122"/>
                <a:cs typeface="Georgia" pitchFamily="34" charset="-120"/>
              </a:rPr>
              <a:t>once five blockers clear.</a:t>
            </a:r>
            <a:endParaRPr lang="en-US" sz="8100" dirty="0"/>
          </a:p>
        </p:txBody>
      </p:sp>
      <p:sp>
        <p:nvSpPr>
          <p:cNvPr id="7" name="Text 5"/>
          <p:cNvSpPr/>
          <p:nvPr/>
        </p:nvSpPr>
        <p:spPr>
          <a:xfrm>
            <a:off x="914341" y="6281865"/>
            <a:ext cx="7063739" cy="3009781"/>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The architecture is sound and most of the right pieces are in place. What's missing is the safety net: secret hygiene, a real check of the security model, an error boundary, indexes, and a single source of truth on what actually shipped.</a:t>
            </a:r>
            <a:endParaRPr lang="en-US" sz="3000" dirty="0"/>
          </a:p>
        </p:txBody>
      </p:sp>
      <p:sp>
        <p:nvSpPr>
          <p:cNvPr id="8" name="Shape 6"/>
          <p:cNvSpPr/>
          <p:nvPr/>
        </p:nvSpPr>
        <p:spPr>
          <a:xfrm>
            <a:off x="9790733" y="2657041"/>
            <a:ext cx="7582925" cy="6191939"/>
          </a:xfrm>
          <a:prstGeom prst="roundRect">
            <a:avLst>
              <a:gd name="adj" fmla="val 615"/>
            </a:avLst>
          </a:prstGeom>
          <a:solidFill>
            <a:srgbClr val="EFECE4"/>
          </a:solidFill>
          <a:ln w="6311">
            <a:solidFill>
              <a:srgbClr val="16241C">
                <a:alpha val="14000"/>
              </a:srgbClr>
            </a:solidFill>
            <a:prstDash val="solid"/>
          </a:ln>
        </p:spPr>
      </p:sp>
      <p:sp>
        <p:nvSpPr>
          <p:cNvPr id="9" name="Text 7"/>
          <p:cNvSpPr/>
          <p:nvPr/>
        </p:nvSpPr>
        <p:spPr>
          <a:xfrm>
            <a:off x="10254165" y="3120473"/>
            <a:ext cx="685574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16" kern="0" dirty="0">
                <a:solidFill>
                  <a:srgbClr val="7C8A82"/>
                </a:solidFill>
                <a:latin typeface="Courier New" pitchFamily="34" charset="0"/>
                <a:ea typeface="Courier New" pitchFamily="34" charset="-122"/>
                <a:cs typeface="Courier New" pitchFamily="34" charset="-120"/>
              </a:rPr>
              <a:t>GREEN-LIGHT CONDITIONS</a:t>
            </a:r>
            <a:endParaRPr lang="en-US" sz="1800" dirty="0"/>
          </a:p>
        </p:txBody>
      </p:sp>
      <p:sp>
        <p:nvSpPr>
          <p:cNvPr id="10" name="Text 8"/>
          <p:cNvSpPr/>
          <p:nvPr/>
        </p:nvSpPr>
        <p:spPr>
          <a:xfrm>
            <a:off x="10254165" y="3600371"/>
            <a:ext cx="6855744" cy="1970807"/>
          </a:xfrm>
          <a:prstGeom prst="rect">
            <a:avLst/>
          </a:prstGeom>
          <a:noFill/>
          <a:ln/>
        </p:spPr>
        <p:txBody>
          <a:bodyPr wrap="square" lIns="25400" tIns="25400" rIns="25400" bIns="25400" rtlCol="0" anchor="t">
            <a:normAutofit/>
          </a:bodyPr>
          <a:lstStyle/>
          <a:p>
            <a:pPr algn="l" indent="0" marL="0">
              <a:lnSpc>
                <a:spcPct val="105000"/>
              </a:lnSpc>
              <a:buNone/>
            </a:pPr>
            <a:r>
              <a:rPr lang="en-US" sz="4800" spc="-11" kern="0" dirty="0">
                <a:solidFill>
                  <a:srgbClr val="16241C"/>
                </a:solidFill>
                <a:latin typeface="Georgia" pitchFamily="34" charset="0"/>
                <a:ea typeface="Georgia" pitchFamily="34" charset="-122"/>
                <a:cs typeface="Georgia" pitchFamily="34" charset="-120"/>
              </a:rPr>
              <a:t>Five P0 items, </a:t>
            </a:r>
            <a:pPr algn="l" indent="0" marL="0">
              <a:lnSpc>
                <a:spcPct val="105000"/>
              </a:lnSpc>
              <a:buNone/>
            </a:pPr>
            <a:r>
              <a:rPr lang="en-US" sz="4800" i="1" spc="-11" kern="0" dirty="0">
                <a:solidFill>
                  <a:srgbClr val="1F6F43"/>
                </a:solidFill>
                <a:latin typeface="Georgia" pitchFamily="34" charset="0"/>
                <a:ea typeface="Georgia" pitchFamily="34" charset="-122"/>
                <a:cs typeface="Georgia" pitchFamily="34" charset="-120"/>
              </a:rPr>
              <a:t>cleared and signed off </a:t>
            </a:r>
            <a:pPr algn="l" indent="0" marL="0">
              <a:lnSpc>
                <a:spcPct val="105000"/>
              </a:lnSpc>
              <a:buNone/>
            </a:pPr>
            <a:r>
              <a:rPr lang="en-US" sz="4800" spc="-11" kern="0" dirty="0">
                <a:solidFill>
                  <a:srgbClr val="16241C"/>
                </a:solidFill>
                <a:latin typeface="Georgia" pitchFamily="34" charset="0"/>
                <a:ea typeface="Georgia" pitchFamily="34" charset="-122"/>
                <a:cs typeface="Georgia" pitchFamily="34" charset="-120"/>
              </a:rPr>
              <a:t>before any external user signs in.</a:t>
            </a:r>
            <a:endParaRPr lang="en-US" sz="4800" dirty="0"/>
          </a:p>
        </p:txBody>
      </p:sp>
      <p:sp>
        <p:nvSpPr>
          <p:cNvPr id="11" name="Shape 9"/>
          <p:cNvSpPr/>
          <p:nvPr/>
        </p:nvSpPr>
        <p:spPr>
          <a:xfrm>
            <a:off x="10254165" y="5837858"/>
            <a:ext cx="6656062" cy="9525"/>
          </a:xfrm>
          <a:prstGeom prst="rect">
            <a:avLst/>
          </a:prstGeom>
          <a:solidFill>
            <a:srgbClr val="16241C">
              <a:alpha val="14000"/>
            </a:srgbClr>
          </a:solidFill>
          <a:ln/>
        </p:spPr>
      </p:sp>
      <p:sp>
        <p:nvSpPr>
          <p:cNvPr id="12" name="Text 10"/>
          <p:cNvSpPr/>
          <p:nvPr/>
        </p:nvSpPr>
        <p:spPr>
          <a:xfrm>
            <a:off x="10254165" y="6155260"/>
            <a:ext cx="419041"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b="1" spc="-11" kern="0" dirty="0">
                <a:solidFill>
                  <a:srgbClr val="B94A2A"/>
                </a:solidFill>
                <a:latin typeface="Courier New" pitchFamily="34" charset="0"/>
                <a:ea typeface="Courier New" pitchFamily="34" charset="-122"/>
                <a:cs typeface="Courier New" pitchFamily="34" charset="-120"/>
              </a:rPr>
              <a:t>01</a:t>
            </a:r>
            <a:endParaRPr lang="en-US" sz="1950" dirty="0"/>
          </a:p>
        </p:txBody>
      </p:sp>
      <p:sp>
        <p:nvSpPr>
          <p:cNvPr id="13" name="Text 11"/>
          <p:cNvSpPr/>
          <p:nvPr/>
        </p:nvSpPr>
        <p:spPr>
          <a:xfrm>
            <a:off x="10597005" y="6148949"/>
            <a:ext cx="6502618"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Confirm and rotate any leaked Supabase key</a:t>
            </a:r>
            <a:endParaRPr lang="en-US" sz="1950" dirty="0"/>
          </a:p>
        </p:txBody>
      </p:sp>
      <p:sp>
        <p:nvSpPr>
          <p:cNvPr id="14" name="Text 12"/>
          <p:cNvSpPr/>
          <p:nvPr/>
        </p:nvSpPr>
        <p:spPr>
          <a:xfrm>
            <a:off x="10254165" y="6629242"/>
            <a:ext cx="419041"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b="1" spc="-11" kern="0" dirty="0">
                <a:solidFill>
                  <a:srgbClr val="B94A2A"/>
                </a:solidFill>
                <a:latin typeface="Courier New" pitchFamily="34" charset="0"/>
                <a:ea typeface="Courier New" pitchFamily="34" charset="-122"/>
                <a:cs typeface="Courier New" pitchFamily="34" charset="-120"/>
              </a:rPr>
              <a:t>02</a:t>
            </a:r>
            <a:endParaRPr lang="en-US" sz="1950" dirty="0"/>
          </a:p>
        </p:txBody>
      </p:sp>
      <p:sp>
        <p:nvSpPr>
          <p:cNvPr id="15" name="Text 13"/>
          <p:cNvSpPr/>
          <p:nvPr/>
        </p:nvSpPr>
        <p:spPr>
          <a:xfrm>
            <a:off x="10597005" y="6622931"/>
            <a:ext cx="6502618"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Reconcile STATE.md with shipped code</a:t>
            </a:r>
            <a:endParaRPr lang="en-US" sz="1950" dirty="0"/>
          </a:p>
        </p:txBody>
      </p:sp>
      <p:sp>
        <p:nvSpPr>
          <p:cNvPr id="16" name="Text 14"/>
          <p:cNvSpPr/>
          <p:nvPr/>
        </p:nvSpPr>
        <p:spPr>
          <a:xfrm>
            <a:off x="10254165" y="7103224"/>
            <a:ext cx="419041"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b="1" spc="-11" kern="0" dirty="0">
                <a:solidFill>
                  <a:srgbClr val="B94A2A"/>
                </a:solidFill>
                <a:latin typeface="Courier New" pitchFamily="34" charset="0"/>
                <a:ea typeface="Courier New" pitchFamily="34" charset="-122"/>
                <a:cs typeface="Courier New" pitchFamily="34" charset="-120"/>
              </a:rPr>
              <a:t>03</a:t>
            </a:r>
            <a:endParaRPr lang="en-US" sz="1950" dirty="0"/>
          </a:p>
        </p:txBody>
      </p:sp>
      <p:sp>
        <p:nvSpPr>
          <p:cNvPr id="17" name="Text 15"/>
          <p:cNvSpPr/>
          <p:nvPr/>
        </p:nvSpPr>
        <p:spPr>
          <a:xfrm>
            <a:off x="10597005" y="7096913"/>
            <a:ext cx="6502618"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Adversarially test RLS tenant isolation</a:t>
            </a:r>
            <a:endParaRPr lang="en-US" sz="1950" dirty="0"/>
          </a:p>
        </p:txBody>
      </p:sp>
      <p:sp>
        <p:nvSpPr>
          <p:cNvPr id="18" name="Text 16"/>
          <p:cNvSpPr/>
          <p:nvPr/>
        </p:nvSpPr>
        <p:spPr>
          <a:xfrm>
            <a:off x="10254165" y="7577206"/>
            <a:ext cx="419041"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b="1" spc="-11" kern="0" dirty="0">
                <a:solidFill>
                  <a:srgbClr val="B94A2A"/>
                </a:solidFill>
                <a:latin typeface="Courier New" pitchFamily="34" charset="0"/>
                <a:ea typeface="Courier New" pitchFamily="34" charset="-122"/>
                <a:cs typeface="Courier New" pitchFamily="34" charset="-120"/>
              </a:rPr>
              <a:t>04</a:t>
            </a:r>
            <a:endParaRPr lang="en-US" sz="1950" dirty="0"/>
          </a:p>
        </p:txBody>
      </p:sp>
      <p:sp>
        <p:nvSpPr>
          <p:cNvPr id="19" name="Text 17"/>
          <p:cNvSpPr/>
          <p:nvPr/>
        </p:nvSpPr>
        <p:spPr>
          <a:xfrm>
            <a:off x="10597005" y="7570895"/>
            <a:ext cx="6502618"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Ship a global React error boundary</a:t>
            </a:r>
            <a:endParaRPr lang="en-US" sz="1950" dirty="0"/>
          </a:p>
        </p:txBody>
      </p:sp>
      <p:sp>
        <p:nvSpPr>
          <p:cNvPr id="20" name="Text 18"/>
          <p:cNvSpPr/>
          <p:nvPr/>
        </p:nvSpPr>
        <p:spPr>
          <a:xfrm>
            <a:off x="10254165" y="8051188"/>
            <a:ext cx="419041"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b="1" spc="-11" kern="0" dirty="0">
                <a:solidFill>
                  <a:srgbClr val="B94A2A"/>
                </a:solidFill>
                <a:latin typeface="Courier New" pitchFamily="34" charset="0"/>
                <a:ea typeface="Courier New" pitchFamily="34" charset="-122"/>
                <a:cs typeface="Courier New" pitchFamily="34" charset="-120"/>
              </a:rPr>
              <a:t>05</a:t>
            </a:r>
            <a:endParaRPr lang="en-US" sz="1950" dirty="0"/>
          </a:p>
        </p:txBody>
      </p:sp>
      <p:sp>
        <p:nvSpPr>
          <p:cNvPr id="21" name="Text 19"/>
          <p:cNvSpPr/>
          <p:nvPr/>
        </p:nvSpPr>
        <p:spPr>
          <a:xfrm>
            <a:off x="10597005" y="8044878"/>
            <a:ext cx="6502618"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Add indexes on the three hot tables</a:t>
            </a:r>
            <a:endParaRPr lang="en-US" sz="1950" dirty="0"/>
          </a:p>
        </p:txBody>
      </p:sp>
      <p:sp>
        <p:nvSpPr>
          <p:cNvPr id="22" name="Shape 20"/>
          <p:cNvSpPr/>
          <p:nvPr/>
        </p:nvSpPr>
        <p:spPr>
          <a:xfrm>
            <a:off x="914341" y="9381730"/>
            <a:ext cx="16459317" cy="9525"/>
          </a:xfrm>
          <a:prstGeom prst="rect">
            <a:avLst/>
          </a:prstGeom>
          <a:solidFill>
            <a:srgbClr val="16241C">
              <a:alpha val="14000"/>
            </a:srgbClr>
          </a:solidFill>
          <a:ln/>
        </p:spPr>
      </p:sp>
      <p:sp>
        <p:nvSpPr>
          <p:cNvPr id="23" name="Text 21"/>
          <p:cNvSpPr/>
          <p:nvPr/>
        </p:nvSpPr>
        <p:spPr>
          <a:xfrm>
            <a:off x="914341" y="9559412"/>
            <a:ext cx="316462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PROJECT REVIEW · V1.0</a:t>
            </a:r>
            <a:endParaRPr lang="en-US" sz="1800" dirty="0"/>
          </a:p>
        </p:txBody>
      </p:sp>
      <p:sp>
        <p:nvSpPr>
          <p:cNvPr id="24" name="Text 22"/>
          <p:cNvSpPr/>
          <p:nvPr/>
        </p:nvSpPr>
        <p:spPr>
          <a:xfrm>
            <a:off x="15471616" y="9559412"/>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TRAK FOOTBALL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4593758" y="419061"/>
            <a:ext cx="286329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CATALOGUE · 02 / 25</a:t>
            </a:r>
            <a:endParaRPr lang="en-US" sz="1800" dirty="0"/>
          </a:p>
        </p:txBody>
      </p:sp>
      <p:sp>
        <p:nvSpPr>
          <p:cNvPr id="5" name="Text 3"/>
          <p:cNvSpPr/>
          <p:nvPr/>
        </p:nvSpPr>
        <p:spPr>
          <a:xfrm>
            <a:off x="914341" y="1219121"/>
            <a:ext cx="1471612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SCOPE</a:t>
            </a:r>
            <a:endParaRPr lang="en-US" sz="1800" dirty="0"/>
          </a:p>
        </p:txBody>
      </p:sp>
      <p:sp>
        <p:nvSpPr>
          <p:cNvPr id="6" name="Text 4"/>
          <p:cNvSpPr/>
          <p:nvPr/>
        </p:nvSpPr>
        <p:spPr>
          <a:xfrm>
            <a:off x="914341" y="1737178"/>
            <a:ext cx="14716124" cy="1760685"/>
          </a:xfrm>
          <a:prstGeom prst="rect">
            <a:avLst/>
          </a:prstGeom>
          <a:noFill/>
          <a:ln/>
        </p:spPr>
        <p:txBody>
          <a:bodyPr wrap="square" lIns="25400" tIns="25400" rIns="25400" bIns="25400" rtlCol="0" anchor="t">
            <a:normAutofit/>
          </a:bodyPr>
          <a:lstStyle/>
          <a:p>
            <a:pPr algn="l" indent="0" marL="0">
              <a:lnSpc>
                <a:spcPct val="102000"/>
              </a:lnSpc>
              <a:buNone/>
            </a:pPr>
            <a:r>
              <a:rPr lang="en-US" sz="6600" spc="-132" kern="0" dirty="0">
                <a:solidFill>
                  <a:srgbClr val="16241C"/>
                </a:solidFill>
                <a:latin typeface="Georgia" pitchFamily="34" charset="0"/>
                <a:ea typeface="Georgia" pitchFamily="34" charset="-122"/>
                <a:cs typeface="Georgia" pitchFamily="34" charset="-120"/>
              </a:rPr>
              <a:t>Twenty-five investigations, </a:t>
            </a:r>
            <a:pPr algn="l" indent="0" marL="0">
              <a:lnSpc>
                <a:spcPct val="102000"/>
              </a:lnSpc>
              <a:buNone/>
            </a:pPr>
            <a:r>
              <a:rPr lang="en-US" sz="6600" i="1" spc="-132" kern="0" dirty="0">
                <a:solidFill>
                  <a:srgbClr val="1F6F43"/>
                </a:solidFill>
                <a:latin typeface="Georgia" pitchFamily="34" charset="0"/>
                <a:ea typeface="Georgia" pitchFamily="34" charset="-122"/>
                <a:cs typeface="Georgia" pitchFamily="34" charset="-120"/>
              </a:rPr>
              <a:t>four risk tiers, </a:t>
            </a:r>
            <a:pPr algn="l" indent="0" marL="0">
              <a:lnSpc>
                <a:spcPct val="102000"/>
              </a:lnSpc>
              <a:buNone/>
            </a:pPr>
            <a:r>
              <a:rPr lang="en-US" sz="6600" spc="-132" kern="0" dirty="0">
                <a:solidFill>
                  <a:srgbClr val="16241C"/>
                </a:solidFill>
                <a:latin typeface="Georgia" pitchFamily="34" charset="0"/>
                <a:ea typeface="Georgia" pitchFamily="34" charset="-122"/>
                <a:cs typeface="Georgia" pitchFamily="34" charset="-120"/>
              </a:rPr>
              <a:t>one decision: when to kick off.</a:t>
            </a:r>
            <a:endParaRPr lang="en-US" sz="6600" dirty="0"/>
          </a:p>
        </p:txBody>
      </p:sp>
      <p:sp>
        <p:nvSpPr>
          <p:cNvPr id="7" name="Shape 5"/>
          <p:cNvSpPr/>
          <p:nvPr/>
        </p:nvSpPr>
        <p:spPr>
          <a:xfrm>
            <a:off x="914341" y="4069324"/>
            <a:ext cx="3914814" cy="4279742"/>
          </a:xfrm>
          <a:prstGeom prst="roundRect">
            <a:avLst>
              <a:gd name="adj" fmla="val 973"/>
            </a:avLst>
          </a:prstGeom>
          <a:solidFill>
            <a:srgbClr val="EFECE4"/>
          </a:solidFill>
          <a:ln w="6311">
            <a:solidFill>
              <a:srgbClr val="16241C">
                <a:alpha val="14000"/>
              </a:srgbClr>
            </a:solidFill>
            <a:prstDash val="solid"/>
          </a:ln>
        </p:spPr>
      </p:sp>
      <p:sp>
        <p:nvSpPr>
          <p:cNvPr id="8" name="Shape 6"/>
          <p:cNvSpPr/>
          <p:nvPr/>
        </p:nvSpPr>
        <p:spPr>
          <a:xfrm>
            <a:off x="1225432" y="4467974"/>
            <a:ext cx="209530" cy="209530"/>
          </a:xfrm>
          <a:prstGeom prst="ellipse">
            <a:avLst/>
          </a:prstGeom>
          <a:solidFill>
            <a:srgbClr val="B94A2A"/>
          </a:solidFill>
          <a:ln/>
        </p:spPr>
      </p:sp>
      <p:sp>
        <p:nvSpPr>
          <p:cNvPr id="9" name="Text 7"/>
          <p:cNvSpPr/>
          <p:nvPr/>
        </p:nvSpPr>
        <p:spPr>
          <a:xfrm>
            <a:off x="1568272" y="4418476"/>
            <a:ext cx="199648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80" kern="0" dirty="0">
                <a:solidFill>
                  <a:srgbClr val="16241C"/>
                </a:solidFill>
                <a:latin typeface="Courier New" pitchFamily="34" charset="0"/>
                <a:ea typeface="Courier New" pitchFamily="34" charset="-122"/>
                <a:cs typeface="Courier New" pitchFamily="34" charset="-120"/>
              </a:rPr>
              <a:t>P0 · BLOCKER</a:t>
            </a:r>
            <a:endParaRPr lang="en-US" sz="1800" dirty="0"/>
          </a:p>
        </p:txBody>
      </p:sp>
      <p:sp>
        <p:nvSpPr>
          <p:cNvPr id="10" name="Text 8"/>
          <p:cNvSpPr/>
          <p:nvPr/>
        </p:nvSpPr>
        <p:spPr>
          <a:xfrm>
            <a:off x="1225432" y="4936533"/>
            <a:ext cx="3391411" cy="998192"/>
          </a:xfrm>
          <a:prstGeom prst="rect">
            <a:avLst/>
          </a:prstGeom>
          <a:noFill/>
          <a:ln/>
        </p:spPr>
        <p:txBody>
          <a:bodyPr wrap="square" lIns="25400" tIns="25400" rIns="25400" bIns="25400" rtlCol="0" anchor="t">
            <a:normAutofit/>
          </a:bodyPr>
          <a:lstStyle/>
          <a:p>
            <a:pPr algn="l" indent="0" marL="0">
              <a:lnSpc>
                <a:spcPct val="90000"/>
              </a:lnSpc>
              <a:buNone/>
            </a:pPr>
            <a:r>
              <a:rPr lang="en-US" sz="8400" spc="-168" kern="0" dirty="0">
                <a:solidFill>
                  <a:srgbClr val="16241C"/>
                </a:solidFill>
                <a:latin typeface="Georgia" pitchFamily="34" charset="0"/>
                <a:ea typeface="Georgia" pitchFamily="34" charset="-122"/>
                <a:cs typeface="Georgia" pitchFamily="34" charset="-120"/>
              </a:rPr>
              <a:t>5</a:t>
            </a:r>
            <a:endParaRPr lang="en-US" sz="8400" dirty="0"/>
          </a:p>
        </p:txBody>
      </p:sp>
      <p:sp>
        <p:nvSpPr>
          <p:cNvPr id="11" name="Text 9"/>
          <p:cNvSpPr/>
          <p:nvPr/>
        </p:nvSpPr>
        <p:spPr>
          <a:xfrm>
            <a:off x="1225432" y="6106156"/>
            <a:ext cx="3391411" cy="792409"/>
          </a:xfrm>
          <a:prstGeom prst="rect">
            <a:avLst/>
          </a:prstGeom>
          <a:noFill/>
          <a:ln/>
        </p:spPr>
        <p:txBody>
          <a:bodyPr wrap="square" lIns="25400" tIns="25400" rIns="25400" bIns="25400" rtlCol="0" anchor="t">
            <a:normAutofit/>
          </a:bodyPr>
          <a:lstStyle/>
          <a:p>
            <a:pPr algn="l" indent="0" marL="0">
              <a:lnSpc>
                <a:spcPct val="110000"/>
              </a:lnSpc>
              <a:buNone/>
            </a:pPr>
            <a:r>
              <a:rPr lang="en-US" sz="2700" i="1" spc="-11" kern="0" dirty="0">
                <a:solidFill>
                  <a:srgbClr val="16241C"/>
                </a:solidFill>
                <a:latin typeface="Georgia" pitchFamily="34" charset="0"/>
                <a:ea typeface="Georgia" pitchFamily="34" charset="-122"/>
                <a:cs typeface="Georgia" pitchFamily="34" charset="-120"/>
              </a:rPr>
              <a:t>Resolve before any pilot user signs in</a:t>
            </a:r>
            <a:endParaRPr lang="en-US" sz="2700" dirty="0"/>
          </a:p>
        </p:txBody>
      </p:sp>
      <p:sp>
        <p:nvSpPr>
          <p:cNvPr id="12" name="Shape 10"/>
          <p:cNvSpPr/>
          <p:nvPr/>
        </p:nvSpPr>
        <p:spPr>
          <a:xfrm>
            <a:off x="1225432" y="7563994"/>
            <a:ext cx="3292632" cy="9525"/>
          </a:xfrm>
          <a:prstGeom prst="rect">
            <a:avLst/>
          </a:prstGeom>
          <a:solidFill>
            <a:srgbClr val="16241C">
              <a:alpha val="8000"/>
            </a:srgbClr>
          </a:solidFill>
          <a:ln/>
        </p:spPr>
      </p:sp>
      <p:sp>
        <p:nvSpPr>
          <p:cNvPr id="13" name="Text 11"/>
          <p:cNvSpPr/>
          <p:nvPr/>
        </p:nvSpPr>
        <p:spPr>
          <a:xfrm>
            <a:off x="1225432" y="7703654"/>
            <a:ext cx="3391411" cy="372422"/>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Arial" pitchFamily="34" charset="0"/>
                <a:ea typeface="Arial" pitchFamily="34" charset="-122"/>
                <a:cs typeface="Arial" pitchFamily="34" charset="-120"/>
              </a:rPr>
              <a:t>This week</a:t>
            </a:r>
            <a:endParaRPr lang="en-US" sz="1950" dirty="0"/>
          </a:p>
        </p:txBody>
      </p:sp>
      <p:sp>
        <p:nvSpPr>
          <p:cNvPr id="14" name="Shape 12"/>
          <p:cNvSpPr/>
          <p:nvPr/>
        </p:nvSpPr>
        <p:spPr>
          <a:xfrm>
            <a:off x="5095776" y="4069324"/>
            <a:ext cx="3914913" cy="4279742"/>
          </a:xfrm>
          <a:prstGeom prst="roundRect">
            <a:avLst>
              <a:gd name="adj" fmla="val 973"/>
            </a:avLst>
          </a:prstGeom>
          <a:solidFill>
            <a:srgbClr val="EFECE4"/>
          </a:solidFill>
          <a:ln w="6311">
            <a:solidFill>
              <a:srgbClr val="16241C">
                <a:alpha val="14000"/>
              </a:srgbClr>
            </a:solidFill>
            <a:prstDash val="solid"/>
          </a:ln>
        </p:spPr>
      </p:sp>
      <p:sp>
        <p:nvSpPr>
          <p:cNvPr id="15" name="Shape 13"/>
          <p:cNvSpPr/>
          <p:nvPr/>
        </p:nvSpPr>
        <p:spPr>
          <a:xfrm>
            <a:off x="5406867" y="4467974"/>
            <a:ext cx="209530" cy="209530"/>
          </a:xfrm>
          <a:prstGeom prst="ellipse">
            <a:avLst/>
          </a:prstGeom>
          <a:solidFill>
            <a:srgbClr val="C8923A"/>
          </a:solidFill>
          <a:ln/>
        </p:spPr>
      </p:sp>
      <p:sp>
        <p:nvSpPr>
          <p:cNvPr id="16" name="Text 14"/>
          <p:cNvSpPr/>
          <p:nvPr/>
        </p:nvSpPr>
        <p:spPr>
          <a:xfrm>
            <a:off x="5749708" y="4418476"/>
            <a:ext cx="23165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80" kern="0" dirty="0">
                <a:solidFill>
                  <a:srgbClr val="16241C"/>
                </a:solidFill>
                <a:latin typeface="Courier New" pitchFamily="34" charset="0"/>
                <a:ea typeface="Courier New" pitchFamily="34" charset="-122"/>
                <a:cs typeface="Courier New" pitchFamily="34" charset="-120"/>
              </a:rPr>
              <a:t>P1 · HARDENING</a:t>
            </a:r>
            <a:endParaRPr lang="en-US" sz="1800" dirty="0"/>
          </a:p>
        </p:txBody>
      </p:sp>
      <p:sp>
        <p:nvSpPr>
          <p:cNvPr id="17" name="Text 15"/>
          <p:cNvSpPr/>
          <p:nvPr/>
        </p:nvSpPr>
        <p:spPr>
          <a:xfrm>
            <a:off x="5406867" y="4936533"/>
            <a:ext cx="3391513" cy="998192"/>
          </a:xfrm>
          <a:prstGeom prst="rect">
            <a:avLst/>
          </a:prstGeom>
          <a:noFill/>
          <a:ln/>
        </p:spPr>
        <p:txBody>
          <a:bodyPr wrap="square" lIns="25400" tIns="25400" rIns="25400" bIns="25400" rtlCol="0" anchor="t">
            <a:normAutofit/>
          </a:bodyPr>
          <a:lstStyle/>
          <a:p>
            <a:pPr algn="l" indent="0" marL="0">
              <a:lnSpc>
                <a:spcPct val="90000"/>
              </a:lnSpc>
              <a:buNone/>
            </a:pPr>
            <a:r>
              <a:rPr lang="en-US" sz="8400" spc="-168" kern="0" dirty="0">
                <a:solidFill>
                  <a:srgbClr val="16241C"/>
                </a:solidFill>
                <a:latin typeface="Georgia" pitchFamily="34" charset="0"/>
                <a:ea typeface="Georgia" pitchFamily="34" charset="-122"/>
                <a:cs typeface="Georgia" pitchFamily="34" charset="-120"/>
              </a:rPr>
              <a:t>6</a:t>
            </a:r>
            <a:endParaRPr lang="en-US" sz="8400" dirty="0"/>
          </a:p>
        </p:txBody>
      </p:sp>
      <p:sp>
        <p:nvSpPr>
          <p:cNvPr id="18" name="Text 16"/>
          <p:cNvSpPr/>
          <p:nvPr/>
        </p:nvSpPr>
        <p:spPr>
          <a:xfrm>
            <a:off x="5406867" y="6106156"/>
            <a:ext cx="3391513" cy="792409"/>
          </a:xfrm>
          <a:prstGeom prst="rect">
            <a:avLst/>
          </a:prstGeom>
          <a:noFill/>
          <a:ln/>
        </p:spPr>
        <p:txBody>
          <a:bodyPr wrap="square" lIns="25400" tIns="25400" rIns="25400" bIns="25400" rtlCol="0" anchor="t">
            <a:normAutofit/>
          </a:bodyPr>
          <a:lstStyle/>
          <a:p>
            <a:pPr algn="l" indent="0" marL="0">
              <a:lnSpc>
                <a:spcPct val="110000"/>
              </a:lnSpc>
              <a:buNone/>
            </a:pPr>
            <a:r>
              <a:rPr lang="en-US" sz="2700" i="1" spc="-11" kern="0" dirty="0">
                <a:solidFill>
                  <a:srgbClr val="16241C"/>
                </a:solidFill>
                <a:latin typeface="Georgia" pitchFamily="34" charset="0"/>
                <a:ea typeface="Georgia" pitchFamily="34" charset="-122"/>
                <a:cs typeface="Georgia" pitchFamily="34" charset="-120"/>
              </a:rPr>
              <a:t>Close out in launch week one</a:t>
            </a:r>
            <a:endParaRPr lang="en-US" sz="2700" dirty="0"/>
          </a:p>
        </p:txBody>
      </p:sp>
      <p:sp>
        <p:nvSpPr>
          <p:cNvPr id="19" name="Shape 17"/>
          <p:cNvSpPr/>
          <p:nvPr/>
        </p:nvSpPr>
        <p:spPr>
          <a:xfrm>
            <a:off x="5406867" y="7563994"/>
            <a:ext cx="3292731" cy="9525"/>
          </a:xfrm>
          <a:prstGeom prst="rect">
            <a:avLst/>
          </a:prstGeom>
          <a:solidFill>
            <a:srgbClr val="16241C">
              <a:alpha val="8000"/>
            </a:srgbClr>
          </a:solidFill>
          <a:ln/>
        </p:spPr>
      </p:sp>
      <p:sp>
        <p:nvSpPr>
          <p:cNvPr id="20" name="Text 18"/>
          <p:cNvSpPr/>
          <p:nvPr/>
        </p:nvSpPr>
        <p:spPr>
          <a:xfrm>
            <a:off x="5406867" y="7703654"/>
            <a:ext cx="3391513" cy="372422"/>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Arial" pitchFamily="34" charset="0"/>
                <a:ea typeface="Arial" pitchFamily="34" charset="-122"/>
                <a:cs typeface="Arial" pitchFamily="34" charset="-120"/>
              </a:rPr>
              <a:t>Week 1</a:t>
            </a:r>
            <a:endParaRPr lang="en-US" sz="1950" dirty="0"/>
          </a:p>
        </p:txBody>
      </p:sp>
      <p:sp>
        <p:nvSpPr>
          <p:cNvPr id="21" name="Shape 19"/>
          <p:cNvSpPr/>
          <p:nvPr/>
        </p:nvSpPr>
        <p:spPr>
          <a:xfrm>
            <a:off x="9277310" y="4069324"/>
            <a:ext cx="3914814" cy="4279742"/>
          </a:xfrm>
          <a:prstGeom prst="roundRect">
            <a:avLst>
              <a:gd name="adj" fmla="val 973"/>
            </a:avLst>
          </a:prstGeom>
          <a:solidFill>
            <a:srgbClr val="EFECE4"/>
          </a:solidFill>
          <a:ln w="6311">
            <a:solidFill>
              <a:srgbClr val="16241C">
                <a:alpha val="14000"/>
              </a:srgbClr>
            </a:solidFill>
            <a:prstDash val="solid"/>
          </a:ln>
        </p:spPr>
      </p:sp>
      <p:sp>
        <p:nvSpPr>
          <p:cNvPr id="22" name="Shape 20"/>
          <p:cNvSpPr/>
          <p:nvPr/>
        </p:nvSpPr>
        <p:spPr>
          <a:xfrm>
            <a:off x="9588401" y="4467974"/>
            <a:ext cx="209530" cy="209530"/>
          </a:xfrm>
          <a:prstGeom prst="ellipse">
            <a:avLst/>
          </a:prstGeom>
          <a:solidFill>
            <a:srgbClr val="1F6F43"/>
          </a:solidFill>
          <a:ln/>
        </p:spPr>
      </p:sp>
      <p:sp>
        <p:nvSpPr>
          <p:cNvPr id="23" name="Text 21"/>
          <p:cNvSpPr/>
          <p:nvPr/>
        </p:nvSpPr>
        <p:spPr>
          <a:xfrm>
            <a:off x="9931241" y="4418476"/>
            <a:ext cx="167651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80" kern="0" dirty="0">
                <a:solidFill>
                  <a:srgbClr val="16241C"/>
                </a:solidFill>
                <a:latin typeface="Courier New" pitchFamily="34" charset="0"/>
                <a:ea typeface="Courier New" pitchFamily="34" charset="-122"/>
                <a:cs typeface="Courier New" pitchFamily="34" charset="-120"/>
              </a:rPr>
              <a:t>P2 · WATCH</a:t>
            </a:r>
            <a:endParaRPr lang="en-US" sz="1800" dirty="0"/>
          </a:p>
        </p:txBody>
      </p:sp>
      <p:sp>
        <p:nvSpPr>
          <p:cNvPr id="24" name="Text 22"/>
          <p:cNvSpPr/>
          <p:nvPr/>
        </p:nvSpPr>
        <p:spPr>
          <a:xfrm>
            <a:off x="9588401" y="4936533"/>
            <a:ext cx="3391411" cy="998192"/>
          </a:xfrm>
          <a:prstGeom prst="rect">
            <a:avLst/>
          </a:prstGeom>
          <a:noFill/>
          <a:ln/>
        </p:spPr>
        <p:txBody>
          <a:bodyPr wrap="square" lIns="25400" tIns="25400" rIns="25400" bIns="25400" rtlCol="0" anchor="t">
            <a:normAutofit/>
          </a:bodyPr>
          <a:lstStyle/>
          <a:p>
            <a:pPr algn="l" indent="0" marL="0">
              <a:lnSpc>
                <a:spcPct val="90000"/>
              </a:lnSpc>
              <a:buNone/>
            </a:pPr>
            <a:r>
              <a:rPr lang="en-US" sz="8400" spc="-168" kern="0" dirty="0">
                <a:solidFill>
                  <a:srgbClr val="16241C"/>
                </a:solidFill>
                <a:latin typeface="Georgia" pitchFamily="34" charset="0"/>
                <a:ea typeface="Georgia" pitchFamily="34" charset="-122"/>
                <a:cs typeface="Georgia" pitchFamily="34" charset="-120"/>
              </a:rPr>
              <a:t>7</a:t>
            </a:r>
            <a:endParaRPr lang="en-US" sz="8400" dirty="0"/>
          </a:p>
        </p:txBody>
      </p:sp>
      <p:sp>
        <p:nvSpPr>
          <p:cNvPr id="25" name="Text 23"/>
          <p:cNvSpPr/>
          <p:nvPr/>
        </p:nvSpPr>
        <p:spPr>
          <a:xfrm>
            <a:off x="9588401" y="6106156"/>
            <a:ext cx="3391411" cy="792409"/>
          </a:xfrm>
          <a:prstGeom prst="rect">
            <a:avLst/>
          </a:prstGeom>
          <a:noFill/>
          <a:ln/>
        </p:spPr>
        <p:txBody>
          <a:bodyPr wrap="square" lIns="25400" tIns="25400" rIns="25400" bIns="25400" rtlCol="0" anchor="t">
            <a:normAutofit/>
          </a:bodyPr>
          <a:lstStyle/>
          <a:p>
            <a:pPr algn="l" indent="0" marL="0">
              <a:lnSpc>
                <a:spcPct val="110000"/>
              </a:lnSpc>
              <a:buNone/>
            </a:pPr>
            <a:r>
              <a:rPr lang="en-US" sz="2700" i="1" spc="-11" kern="0" dirty="0">
                <a:solidFill>
                  <a:srgbClr val="16241C"/>
                </a:solidFill>
                <a:latin typeface="Georgia" pitchFamily="34" charset="0"/>
                <a:ea typeface="Georgia" pitchFamily="34" charset="-122"/>
                <a:cs typeface="Georgia" pitchFamily="34" charset="-120"/>
              </a:rPr>
              <a:t>Monitor and patch during the pilot</a:t>
            </a:r>
            <a:endParaRPr lang="en-US" sz="2700" dirty="0"/>
          </a:p>
        </p:txBody>
      </p:sp>
      <p:sp>
        <p:nvSpPr>
          <p:cNvPr id="26" name="Shape 24"/>
          <p:cNvSpPr/>
          <p:nvPr/>
        </p:nvSpPr>
        <p:spPr>
          <a:xfrm>
            <a:off x="9588401" y="7563994"/>
            <a:ext cx="3292632" cy="9525"/>
          </a:xfrm>
          <a:prstGeom prst="rect">
            <a:avLst/>
          </a:prstGeom>
          <a:solidFill>
            <a:srgbClr val="16241C">
              <a:alpha val="8000"/>
            </a:srgbClr>
          </a:solidFill>
          <a:ln/>
        </p:spPr>
      </p:sp>
      <p:sp>
        <p:nvSpPr>
          <p:cNvPr id="27" name="Text 25"/>
          <p:cNvSpPr/>
          <p:nvPr/>
        </p:nvSpPr>
        <p:spPr>
          <a:xfrm>
            <a:off x="9588401" y="7703654"/>
            <a:ext cx="3391411" cy="372422"/>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Arial" pitchFamily="34" charset="0"/>
                <a:ea typeface="Arial" pitchFamily="34" charset="-122"/>
                <a:cs typeface="Arial" pitchFamily="34" charset="-120"/>
              </a:rPr>
              <a:t>Weeks 2 – 4</a:t>
            </a:r>
            <a:endParaRPr lang="en-US" sz="1950" dirty="0"/>
          </a:p>
        </p:txBody>
      </p:sp>
      <p:sp>
        <p:nvSpPr>
          <p:cNvPr id="28" name="Shape 26"/>
          <p:cNvSpPr/>
          <p:nvPr/>
        </p:nvSpPr>
        <p:spPr>
          <a:xfrm>
            <a:off x="13458745" y="4069324"/>
            <a:ext cx="3914913" cy="4279742"/>
          </a:xfrm>
          <a:prstGeom prst="roundRect">
            <a:avLst>
              <a:gd name="adj" fmla="val 973"/>
            </a:avLst>
          </a:prstGeom>
          <a:solidFill>
            <a:srgbClr val="EFECE4"/>
          </a:solidFill>
          <a:ln w="6311">
            <a:solidFill>
              <a:srgbClr val="16241C">
                <a:alpha val="14000"/>
              </a:srgbClr>
            </a:solidFill>
            <a:prstDash val="solid"/>
          </a:ln>
        </p:spPr>
      </p:sp>
      <p:sp>
        <p:nvSpPr>
          <p:cNvPr id="29" name="Shape 27"/>
          <p:cNvSpPr/>
          <p:nvPr/>
        </p:nvSpPr>
        <p:spPr>
          <a:xfrm>
            <a:off x="13769836" y="4467974"/>
            <a:ext cx="209530" cy="209530"/>
          </a:xfrm>
          <a:prstGeom prst="ellipse">
            <a:avLst/>
          </a:prstGeom>
          <a:solidFill>
            <a:srgbClr val="4A6580"/>
          </a:solidFill>
          <a:ln/>
        </p:spPr>
      </p:sp>
      <p:sp>
        <p:nvSpPr>
          <p:cNvPr id="30" name="Text 28"/>
          <p:cNvSpPr/>
          <p:nvPr/>
        </p:nvSpPr>
        <p:spPr>
          <a:xfrm>
            <a:off x="14112677" y="4418476"/>
            <a:ext cx="23165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80" kern="0" dirty="0">
                <a:solidFill>
                  <a:srgbClr val="16241C"/>
                </a:solidFill>
                <a:latin typeface="Courier New" pitchFamily="34" charset="0"/>
                <a:ea typeface="Courier New" pitchFamily="34" charset="-122"/>
                <a:cs typeface="Courier New" pitchFamily="34" charset="-120"/>
              </a:rPr>
              <a:t>P3 · PRE-SCALE</a:t>
            </a:r>
            <a:endParaRPr lang="en-US" sz="1800" dirty="0"/>
          </a:p>
        </p:txBody>
      </p:sp>
      <p:sp>
        <p:nvSpPr>
          <p:cNvPr id="31" name="Text 29"/>
          <p:cNvSpPr/>
          <p:nvPr/>
        </p:nvSpPr>
        <p:spPr>
          <a:xfrm>
            <a:off x="13769836" y="4936533"/>
            <a:ext cx="3391513" cy="998192"/>
          </a:xfrm>
          <a:prstGeom prst="rect">
            <a:avLst/>
          </a:prstGeom>
          <a:noFill/>
          <a:ln/>
        </p:spPr>
        <p:txBody>
          <a:bodyPr wrap="square" lIns="25400" tIns="25400" rIns="25400" bIns="25400" rtlCol="0" anchor="t">
            <a:normAutofit/>
          </a:bodyPr>
          <a:lstStyle/>
          <a:p>
            <a:pPr algn="l" indent="0" marL="0">
              <a:lnSpc>
                <a:spcPct val="90000"/>
              </a:lnSpc>
              <a:buNone/>
            </a:pPr>
            <a:r>
              <a:rPr lang="en-US" sz="8400" spc="-168" kern="0" dirty="0">
                <a:solidFill>
                  <a:srgbClr val="16241C"/>
                </a:solidFill>
                <a:latin typeface="Georgia" pitchFamily="34" charset="0"/>
                <a:ea typeface="Georgia" pitchFamily="34" charset="-122"/>
                <a:cs typeface="Georgia" pitchFamily="34" charset="-120"/>
              </a:rPr>
              <a:t>7</a:t>
            </a:r>
            <a:endParaRPr lang="en-US" sz="8400" dirty="0"/>
          </a:p>
        </p:txBody>
      </p:sp>
      <p:sp>
        <p:nvSpPr>
          <p:cNvPr id="32" name="Text 30"/>
          <p:cNvSpPr/>
          <p:nvPr/>
        </p:nvSpPr>
        <p:spPr>
          <a:xfrm>
            <a:off x="13769836" y="6106156"/>
            <a:ext cx="3391513" cy="792409"/>
          </a:xfrm>
          <a:prstGeom prst="rect">
            <a:avLst/>
          </a:prstGeom>
          <a:noFill/>
          <a:ln/>
        </p:spPr>
        <p:txBody>
          <a:bodyPr wrap="square" lIns="25400" tIns="25400" rIns="25400" bIns="25400" rtlCol="0" anchor="t">
            <a:normAutofit/>
          </a:bodyPr>
          <a:lstStyle/>
          <a:p>
            <a:pPr algn="l" indent="0" marL="0">
              <a:lnSpc>
                <a:spcPct val="110000"/>
              </a:lnSpc>
              <a:buNone/>
            </a:pPr>
            <a:r>
              <a:rPr lang="en-US" sz="2700" i="1" spc="-11" kern="0" dirty="0">
                <a:solidFill>
                  <a:srgbClr val="16241C"/>
                </a:solidFill>
                <a:latin typeface="Georgia" pitchFamily="34" charset="0"/>
                <a:ea typeface="Georgia" pitchFamily="34" charset="-122"/>
                <a:cs typeface="Georgia" pitchFamily="34" charset="-120"/>
              </a:rPr>
              <a:t>Close before scaling beyond the pilot</a:t>
            </a:r>
            <a:endParaRPr lang="en-US" sz="2700" dirty="0"/>
          </a:p>
        </p:txBody>
      </p:sp>
      <p:sp>
        <p:nvSpPr>
          <p:cNvPr id="33" name="Shape 31"/>
          <p:cNvSpPr/>
          <p:nvPr/>
        </p:nvSpPr>
        <p:spPr>
          <a:xfrm>
            <a:off x="13769836" y="7563994"/>
            <a:ext cx="3292731" cy="9525"/>
          </a:xfrm>
          <a:prstGeom prst="rect">
            <a:avLst/>
          </a:prstGeom>
          <a:solidFill>
            <a:srgbClr val="16241C">
              <a:alpha val="8000"/>
            </a:srgbClr>
          </a:solidFill>
          <a:ln/>
        </p:spPr>
      </p:sp>
      <p:sp>
        <p:nvSpPr>
          <p:cNvPr id="34" name="Text 32"/>
          <p:cNvSpPr/>
          <p:nvPr/>
        </p:nvSpPr>
        <p:spPr>
          <a:xfrm>
            <a:off x="13769836" y="7703654"/>
            <a:ext cx="3391513" cy="372422"/>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Arial" pitchFamily="34" charset="0"/>
                <a:ea typeface="Arial" pitchFamily="34" charset="-122"/>
                <a:cs typeface="Arial" pitchFamily="34" charset="-120"/>
              </a:rPr>
              <a:t>Post-pilot</a:t>
            </a:r>
            <a:endParaRPr lang="en-US" sz="1950" dirty="0"/>
          </a:p>
        </p:txBody>
      </p:sp>
      <p:sp>
        <p:nvSpPr>
          <p:cNvPr id="35" name="Shape 33"/>
          <p:cNvSpPr/>
          <p:nvPr/>
        </p:nvSpPr>
        <p:spPr>
          <a:xfrm>
            <a:off x="914341" y="9381730"/>
            <a:ext cx="16459317" cy="9525"/>
          </a:xfrm>
          <a:prstGeom prst="rect">
            <a:avLst/>
          </a:prstGeom>
          <a:solidFill>
            <a:srgbClr val="16241C">
              <a:alpha val="14000"/>
            </a:srgbClr>
          </a:solidFill>
          <a:ln/>
        </p:spPr>
      </p:sp>
      <p:sp>
        <p:nvSpPr>
          <p:cNvPr id="36" name="Text 34"/>
          <p:cNvSpPr/>
          <p:nvPr/>
        </p:nvSpPr>
        <p:spPr>
          <a:xfrm>
            <a:off x="914341" y="9559412"/>
            <a:ext cx="271258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CATALOGUE OVERVIEW</a:t>
            </a:r>
            <a:endParaRPr lang="en-US" sz="1800" dirty="0"/>
          </a:p>
        </p:txBody>
      </p:sp>
      <p:sp>
        <p:nvSpPr>
          <p:cNvPr id="37" name="Text 35"/>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02 / 25</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4301205" y="419061"/>
            <a:ext cx="316462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ORIENTATION · 03 / 25</a:t>
            </a:r>
            <a:endParaRPr lang="en-US" sz="1800" dirty="0"/>
          </a:p>
        </p:txBody>
      </p:sp>
      <p:sp>
        <p:nvSpPr>
          <p:cNvPr id="5" name="Text 3"/>
          <p:cNvSpPr/>
          <p:nvPr/>
        </p:nvSpPr>
        <p:spPr>
          <a:xfrm>
            <a:off x="914341" y="2636926"/>
            <a:ext cx="762435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HOW TO READ THIS DECK</a:t>
            </a:r>
            <a:endParaRPr lang="en-US" sz="1800" dirty="0"/>
          </a:p>
        </p:txBody>
      </p:sp>
      <p:sp>
        <p:nvSpPr>
          <p:cNvPr id="6" name="Text 4"/>
          <p:cNvSpPr/>
          <p:nvPr/>
        </p:nvSpPr>
        <p:spPr>
          <a:xfrm>
            <a:off x="914341" y="3154984"/>
            <a:ext cx="7624354" cy="2628288"/>
          </a:xfrm>
          <a:prstGeom prst="rect">
            <a:avLst/>
          </a:prstGeom>
          <a:noFill/>
          <a:ln/>
        </p:spPr>
        <p:txBody>
          <a:bodyPr wrap="square" lIns="25400" tIns="25400" rIns="25400" bIns="25400" rtlCol="0" anchor="t">
            <a:normAutofit/>
          </a:bodyPr>
          <a:lstStyle/>
          <a:p>
            <a:pPr algn="l" indent="0" marL="0">
              <a:lnSpc>
                <a:spcPct val="102000"/>
              </a:lnSpc>
              <a:buNone/>
            </a:pPr>
            <a:r>
              <a:rPr lang="en-US" sz="6600" spc="-132" kern="0" dirty="0">
                <a:solidFill>
                  <a:srgbClr val="16241C"/>
                </a:solidFill>
                <a:latin typeface="Georgia" pitchFamily="34" charset="0"/>
                <a:ea typeface="Georgia" pitchFamily="34" charset="-122"/>
                <a:cs typeface="Georgia" pitchFamily="34" charset="-120"/>
              </a:rPr>
              <a:t>One item per slide for P0. </a:t>
            </a:r>
            <a:pPr algn="l" indent="0" marL="0">
              <a:lnSpc>
                <a:spcPct val="102000"/>
              </a:lnSpc>
              <a:buNone/>
            </a:pPr>
            <a:r>
              <a:rPr lang="en-US" sz="6600" i="1" spc="-132" kern="0" dirty="0">
                <a:solidFill>
                  <a:srgbClr val="1F6F43"/>
                </a:solidFill>
                <a:latin typeface="Georgia" pitchFamily="34" charset="0"/>
                <a:ea typeface="Georgia" pitchFamily="34" charset="-122"/>
                <a:cs typeface="Georgia" pitchFamily="34" charset="-120"/>
              </a:rPr>
              <a:t>Clusters by theme </a:t>
            </a:r>
            <a:pPr algn="l" indent="0" marL="0">
              <a:lnSpc>
                <a:spcPct val="102000"/>
              </a:lnSpc>
              <a:buNone/>
            </a:pPr>
            <a:r>
              <a:rPr lang="en-US" sz="6600" spc="-132" kern="0" dirty="0">
                <a:solidFill>
                  <a:srgbClr val="16241C"/>
                </a:solidFill>
                <a:latin typeface="Georgia" pitchFamily="34" charset="0"/>
                <a:ea typeface="Georgia" pitchFamily="34" charset="-122"/>
                <a:cs typeface="Georgia" pitchFamily="34" charset="-120"/>
              </a:rPr>
              <a:t>for P1 – P3.</a:t>
            </a:r>
            <a:endParaRPr lang="en-US" sz="6600" dirty="0"/>
          </a:p>
        </p:txBody>
      </p:sp>
      <p:sp>
        <p:nvSpPr>
          <p:cNvPr id="7" name="Text 5"/>
          <p:cNvSpPr/>
          <p:nvPr/>
        </p:nvSpPr>
        <p:spPr>
          <a:xfrm>
            <a:off x="914341" y="6011793"/>
            <a:ext cx="6278879" cy="2514501"/>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P0 is the only tier where every item gets its own slide — these are the launch-blocking ones. Lower tiers are grouped so the deck stays the right length for the time we have.</a:t>
            </a:r>
            <a:endParaRPr lang="en-US" sz="3000" dirty="0"/>
          </a:p>
        </p:txBody>
      </p:sp>
      <p:sp>
        <p:nvSpPr>
          <p:cNvPr id="8" name="Shape 6"/>
          <p:cNvSpPr/>
          <p:nvPr/>
        </p:nvSpPr>
        <p:spPr>
          <a:xfrm>
            <a:off x="9230967" y="2165902"/>
            <a:ext cx="8142691" cy="9525"/>
          </a:xfrm>
          <a:prstGeom prst="rect">
            <a:avLst/>
          </a:prstGeom>
          <a:solidFill>
            <a:srgbClr val="16241C">
              <a:alpha val="14000"/>
            </a:srgbClr>
          </a:solidFill>
          <a:ln/>
        </p:spPr>
      </p:sp>
      <p:sp>
        <p:nvSpPr>
          <p:cNvPr id="9" name="Shape 7"/>
          <p:cNvSpPr/>
          <p:nvPr/>
        </p:nvSpPr>
        <p:spPr>
          <a:xfrm>
            <a:off x="9230967" y="3862653"/>
            <a:ext cx="8142691" cy="9525"/>
          </a:xfrm>
          <a:prstGeom prst="rect">
            <a:avLst/>
          </a:prstGeom>
          <a:solidFill>
            <a:srgbClr val="16241C">
              <a:alpha val="14000"/>
            </a:srgbClr>
          </a:solidFill>
          <a:ln/>
        </p:spPr>
      </p:sp>
      <p:sp>
        <p:nvSpPr>
          <p:cNvPr id="10" name="Text 8"/>
          <p:cNvSpPr/>
          <p:nvPr/>
        </p:nvSpPr>
        <p:spPr>
          <a:xfrm>
            <a:off x="9230967" y="2520871"/>
            <a:ext cx="1981200" cy="655154"/>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EACH ITEM SHOWS</a:t>
            </a:r>
            <a:endParaRPr lang="en-US" sz="1800" dirty="0"/>
          </a:p>
        </p:txBody>
      </p:sp>
      <p:sp>
        <p:nvSpPr>
          <p:cNvPr id="11" name="Text 9"/>
          <p:cNvSpPr/>
          <p:nvPr/>
        </p:nvSpPr>
        <p:spPr>
          <a:xfrm>
            <a:off x="11478807" y="2438834"/>
            <a:ext cx="6071696" cy="1195299"/>
          </a:xfrm>
          <a:prstGeom prst="rect">
            <a:avLst/>
          </a:prstGeom>
          <a:noFill/>
          <a:ln/>
        </p:spPr>
        <p:txBody>
          <a:bodyPr wrap="square" lIns="25400" tIns="25400" rIns="25400" bIns="25400" rtlCol="0" anchor="t">
            <a:normAutofit/>
          </a:bodyPr>
          <a:lstStyle/>
          <a:p>
            <a:pPr algn="l" indent="0" marL="0">
              <a:lnSpc>
                <a:spcPct val="135000"/>
              </a:lnSpc>
              <a:buNone/>
            </a:pPr>
            <a:r>
              <a:rPr lang="en-US" sz="2250" spc="-11" kern="0" dirty="0">
                <a:solidFill>
                  <a:srgbClr val="16241C"/>
                </a:solidFill>
                <a:latin typeface="Arial" pitchFamily="34" charset="0"/>
                <a:ea typeface="Arial" pitchFamily="34" charset="-122"/>
                <a:cs typeface="Arial" pitchFamily="34" charset="-120"/>
              </a:rPr>
              <a:t>A short verdict-style title, the original investigation question, why it matters, and the proposed owner / window.</a:t>
            </a:r>
            <a:endParaRPr lang="en-US" sz="2250" dirty="0"/>
          </a:p>
        </p:txBody>
      </p:sp>
      <p:sp>
        <p:nvSpPr>
          <p:cNvPr id="12" name="Shape 10"/>
          <p:cNvSpPr/>
          <p:nvPr/>
        </p:nvSpPr>
        <p:spPr>
          <a:xfrm>
            <a:off x="9230967" y="5559405"/>
            <a:ext cx="8142691" cy="9525"/>
          </a:xfrm>
          <a:prstGeom prst="rect">
            <a:avLst/>
          </a:prstGeom>
          <a:solidFill>
            <a:srgbClr val="16241C">
              <a:alpha val="14000"/>
            </a:srgbClr>
          </a:solidFill>
          <a:ln/>
        </p:spPr>
      </p:sp>
      <p:sp>
        <p:nvSpPr>
          <p:cNvPr id="13" name="Text 11"/>
          <p:cNvSpPr/>
          <p:nvPr/>
        </p:nvSpPr>
        <p:spPr>
          <a:xfrm>
            <a:off x="9230967" y="4217623"/>
            <a:ext cx="198120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TIER BADGE</a:t>
            </a:r>
            <a:endParaRPr lang="en-US" sz="1800" dirty="0"/>
          </a:p>
        </p:txBody>
      </p:sp>
      <p:sp>
        <p:nvSpPr>
          <p:cNvPr id="14" name="Text 12"/>
          <p:cNvSpPr/>
          <p:nvPr/>
        </p:nvSpPr>
        <p:spPr>
          <a:xfrm>
            <a:off x="11478807" y="4135585"/>
            <a:ext cx="6071696" cy="1195299"/>
          </a:xfrm>
          <a:prstGeom prst="rect">
            <a:avLst/>
          </a:prstGeom>
          <a:noFill/>
          <a:ln/>
        </p:spPr>
        <p:txBody>
          <a:bodyPr wrap="square" lIns="25400" tIns="25400" rIns="25400" bIns="25400" rtlCol="0" anchor="t">
            <a:normAutofit/>
          </a:bodyPr>
          <a:lstStyle/>
          <a:p>
            <a:pPr algn="l" indent="0" marL="0">
              <a:lnSpc>
                <a:spcPct val="135000"/>
              </a:lnSpc>
              <a:buNone/>
            </a:pPr>
            <a:r>
              <a:rPr lang="en-US" sz="2250" spc="-11" kern="0" dirty="0">
                <a:solidFill>
                  <a:srgbClr val="16241C"/>
                </a:solidFill>
                <a:latin typeface="Arial" pitchFamily="34" charset="0"/>
                <a:ea typeface="Arial" pitchFamily="34" charset="-122"/>
                <a:cs typeface="Arial" pitchFamily="34" charset="-120"/>
              </a:rPr>
              <a:t>Colored chip in the top-left of every item slide — P0, P1, P2 or P3 — so you always know the urgency you're looking at.</a:t>
            </a:r>
            <a:endParaRPr lang="en-US" sz="2250" dirty="0"/>
          </a:p>
        </p:txBody>
      </p:sp>
      <p:sp>
        <p:nvSpPr>
          <p:cNvPr id="15" name="Shape 13"/>
          <p:cNvSpPr/>
          <p:nvPr/>
        </p:nvSpPr>
        <p:spPr>
          <a:xfrm>
            <a:off x="9230967" y="7256156"/>
            <a:ext cx="8142691" cy="9525"/>
          </a:xfrm>
          <a:prstGeom prst="rect">
            <a:avLst/>
          </a:prstGeom>
          <a:solidFill>
            <a:srgbClr val="16241C">
              <a:alpha val="14000"/>
            </a:srgbClr>
          </a:solidFill>
          <a:ln/>
        </p:spPr>
      </p:sp>
      <p:sp>
        <p:nvSpPr>
          <p:cNvPr id="16" name="Text 14"/>
          <p:cNvSpPr/>
          <p:nvPr/>
        </p:nvSpPr>
        <p:spPr>
          <a:xfrm>
            <a:off x="9230967" y="5914374"/>
            <a:ext cx="198120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NUMBERING</a:t>
            </a:r>
            <a:endParaRPr lang="en-US" sz="1800" dirty="0"/>
          </a:p>
        </p:txBody>
      </p:sp>
      <p:sp>
        <p:nvSpPr>
          <p:cNvPr id="17" name="Text 15"/>
          <p:cNvSpPr/>
          <p:nvPr/>
        </p:nvSpPr>
        <p:spPr>
          <a:xfrm>
            <a:off x="11478807" y="5832336"/>
            <a:ext cx="6071696" cy="1195299"/>
          </a:xfrm>
          <a:prstGeom prst="rect">
            <a:avLst/>
          </a:prstGeom>
          <a:noFill/>
          <a:ln/>
        </p:spPr>
        <p:txBody>
          <a:bodyPr wrap="square" lIns="25400" tIns="25400" rIns="25400" bIns="25400" rtlCol="0" anchor="t">
            <a:normAutofit/>
          </a:bodyPr>
          <a:lstStyle/>
          <a:p>
            <a:pPr algn="l" indent="0" marL="0">
              <a:lnSpc>
                <a:spcPct val="135000"/>
              </a:lnSpc>
              <a:buNone/>
            </a:pPr>
            <a:r>
              <a:rPr lang="en-US" sz="2250" spc="-11" kern="0" dirty="0">
                <a:solidFill>
                  <a:srgbClr val="16241C"/>
                </a:solidFill>
                <a:latin typeface="Arial" pitchFamily="34" charset="0"/>
                <a:ea typeface="Arial" pitchFamily="34" charset="-122"/>
                <a:cs typeface="Arial" pitchFamily="34" charset="-120"/>
              </a:rPr>
              <a:t>Item numbers match the source catalogue (#1 – #25). Use them in follow-up tickets so nothing slips between systems.</a:t>
            </a:r>
            <a:endParaRPr lang="en-US" sz="2250" dirty="0"/>
          </a:p>
        </p:txBody>
      </p:sp>
      <p:sp>
        <p:nvSpPr>
          <p:cNvPr id="18" name="Shape 16"/>
          <p:cNvSpPr/>
          <p:nvPr/>
        </p:nvSpPr>
        <p:spPr>
          <a:xfrm>
            <a:off x="9230967" y="8952907"/>
            <a:ext cx="8142691" cy="9525"/>
          </a:xfrm>
          <a:prstGeom prst="rect">
            <a:avLst/>
          </a:prstGeom>
          <a:solidFill>
            <a:srgbClr val="16241C">
              <a:alpha val="14000"/>
            </a:srgbClr>
          </a:solidFill>
          <a:ln/>
        </p:spPr>
      </p:sp>
      <p:sp>
        <p:nvSpPr>
          <p:cNvPr id="19" name="Text 17"/>
          <p:cNvSpPr/>
          <p:nvPr/>
        </p:nvSpPr>
        <p:spPr>
          <a:xfrm>
            <a:off x="9230967" y="7611125"/>
            <a:ext cx="198120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CLOSING</a:t>
            </a:r>
            <a:endParaRPr lang="en-US" sz="1800" dirty="0"/>
          </a:p>
        </p:txBody>
      </p:sp>
      <p:sp>
        <p:nvSpPr>
          <p:cNvPr id="20" name="Text 18"/>
          <p:cNvSpPr/>
          <p:nvPr/>
        </p:nvSpPr>
        <p:spPr>
          <a:xfrm>
            <a:off x="11478807" y="7529088"/>
            <a:ext cx="6071696" cy="1195299"/>
          </a:xfrm>
          <a:prstGeom prst="rect">
            <a:avLst/>
          </a:prstGeom>
          <a:noFill/>
          <a:ln/>
        </p:spPr>
        <p:txBody>
          <a:bodyPr wrap="square" lIns="25400" tIns="25400" rIns="25400" bIns="25400" rtlCol="0" anchor="t">
            <a:normAutofit/>
          </a:bodyPr>
          <a:lstStyle/>
          <a:p>
            <a:pPr algn="l" indent="0" marL="0">
              <a:lnSpc>
                <a:spcPct val="135000"/>
              </a:lnSpc>
              <a:buNone/>
            </a:pPr>
            <a:r>
              <a:rPr lang="en-US" sz="2250" spc="-11" kern="0" dirty="0">
                <a:solidFill>
                  <a:srgbClr val="16241C"/>
                </a:solidFill>
                <a:latin typeface="Arial" pitchFamily="34" charset="0"/>
                <a:ea typeface="Arial" pitchFamily="34" charset="-122"/>
                <a:cs typeface="Arial" pitchFamily="34" charset="-120"/>
              </a:rPr>
              <a:t>The last three slides collapse everything into a domain heatmap, this-week sequencing, and the conditions for green-lighting the pilot.</a:t>
            </a:r>
            <a:endParaRPr lang="en-US" sz="2250" dirty="0"/>
          </a:p>
        </p:txBody>
      </p:sp>
      <p:sp>
        <p:nvSpPr>
          <p:cNvPr id="21" name="Shape 19"/>
          <p:cNvSpPr/>
          <p:nvPr/>
        </p:nvSpPr>
        <p:spPr>
          <a:xfrm>
            <a:off x="914341" y="9381730"/>
            <a:ext cx="16459317" cy="9525"/>
          </a:xfrm>
          <a:prstGeom prst="rect">
            <a:avLst/>
          </a:prstGeom>
          <a:solidFill>
            <a:srgbClr val="16241C">
              <a:alpha val="14000"/>
            </a:srgbClr>
          </a:solidFill>
          <a:ln/>
        </p:spPr>
      </p:sp>
      <p:sp>
        <p:nvSpPr>
          <p:cNvPr id="22" name="Text 20"/>
          <p:cNvSpPr/>
          <p:nvPr/>
        </p:nvSpPr>
        <p:spPr>
          <a:xfrm>
            <a:off x="914341" y="9559412"/>
            <a:ext cx="316462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HOW TO READ THIS DECK</a:t>
            </a:r>
            <a:endParaRPr lang="en-US" sz="1800" dirty="0"/>
          </a:p>
        </p:txBody>
      </p:sp>
      <p:sp>
        <p:nvSpPr>
          <p:cNvPr id="23" name="Text 21"/>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03 / 25</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8287999" cy="10286999"/>
          </a:xfrm>
          <a:prstGeom prst="rect">
            <a:avLst/>
          </a:prstGeom>
          <a:solidFill>
            <a:srgbClr val="14201A"/>
          </a:solidFill>
          <a:ln/>
        </p:spPr>
      </p:sp>
      <p:pic>
        <p:nvPicPr>
          <p:cNvPr id="3" name="Image 0" descr="preencoded.png">    </p:cNvPr>
          <p:cNvPicPr>
            <a:picLocks noChangeAspect="1"/>
          </p:cNvPicPr>
          <p:nvPr/>
        </p:nvPicPr>
        <p:blipFill>
          <a:blip r:embed="rId1"/>
          <a:stretch>
            <a:fillRect/>
          </a:stretch>
        </p:blipFill>
        <p:spPr>
          <a:xfrm>
            <a:off x="0" y="0"/>
            <a:ext cx="18287999" cy="10286999"/>
          </a:xfrm>
          <a:prstGeom prst="rect">
            <a:avLst/>
          </a:prstGeom>
        </p:spPr>
      </p:pic>
      <p:sp>
        <p:nvSpPr>
          <p:cNvPr id="4" name="Shape 1"/>
          <p:cNvSpPr/>
          <p:nvPr/>
        </p:nvSpPr>
        <p:spPr>
          <a:xfrm>
            <a:off x="914341" y="925680"/>
            <a:ext cx="133311" cy="133311"/>
          </a:xfrm>
          <a:prstGeom prst="ellipse">
            <a:avLst/>
          </a:prstGeom>
          <a:solidFill>
            <a:srgbClr val="1F6F43"/>
          </a:solidFill>
          <a:ln/>
          <a:effectLst>
            <a:outerShdw sx="100000" sy="100000" kx="0" ky="0" algn="bl" rotWithShape="0" blurRad="101600" dist="50800" dir="16200000">
              <a:srgbClr val="1F6F43">
                <a:alpha val="22000"/>
              </a:srgbClr>
            </a:outerShdw>
          </a:effectLst>
        </p:spPr>
      </p:sp>
      <p:sp>
        <p:nvSpPr>
          <p:cNvPr id="5" name="Text 2"/>
          <p:cNvSpPr/>
          <p:nvPr/>
        </p:nvSpPr>
        <p:spPr>
          <a:xfrm>
            <a:off x="1180962" y="838121"/>
            <a:ext cx="203769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6F4EF"/>
                </a:solidFill>
                <a:latin typeface="Courier New" pitchFamily="34" charset="0"/>
                <a:ea typeface="Courier New" pitchFamily="34" charset="-122"/>
                <a:cs typeface="Courier New" pitchFamily="34" charset="-120"/>
              </a:rPr>
              <a:t>TRAK FOOTBALL</a:t>
            </a:r>
            <a:endParaRPr lang="en-US" sz="1800" dirty="0"/>
          </a:p>
        </p:txBody>
      </p:sp>
      <p:sp>
        <p:nvSpPr>
          <p:cNvPr id="6" name="Text 3"/>
          <p:cNvSpPr/>
          <p:nvPr/>
        </p:nvSpPr>
        <p:spPr>
          <a:xfrm>
            <a:off x="14506889" y="838121"/>
            <a:ext cx="295277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AEBCB3"/>
                </a:solidFill>
                <a:latin typeface="Courier New" pitchFamily="34" charset="0"/>
                <a:ea typeface="Courier New" pitchFamily="34" charset="-122"/>
                <a:cs typeface="Courier New" pitchFamily="34" charset="-120"/>
              </a:rPr>
              <a:t>P0 · SECTION OPENER</a:t>
            </a:r>
            <a:endParaRPr lang="en-US" sz="1800" dirty="0"/>
          </a:p>
        </p:txBody>
      </p:sp>
      <p:sp>
        <p:nvSpPr>
          <p:cNvPr id="7" name="Shape 4"/>
          <p:cNvSpPr/>
          <p:nvPr/>
        </p:nvSpPr>
        <p:spPr>
          <a:xfrm>
            <a:off x="914341" y="1993545"/>
            <a:ext cx="171371" cy="171371"/>
          </a:xfrm>
          <a:prstGeom prst="ellipse">
            <a:avLst/>
          </a:prstGeom>
          <a:solidFill>
            <a:srgbClr val="B94A2A"/>
          </a:solidFill>
          <a:ln/>
        </p:spPr>
      </p:sp>
      <p:sp>
        <p:nvSpPr>
          <p:cNvPr id="8" name="Text 5"/>
          <p:cNvSpPr/>
          <p:nvPr/>
        </p:nvSpPr>
        <p:spPr>
          <a:xfrm>
            <a:off x="1257083" y="1925016"/>
            <a:ext cx="474694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16" kern="0" dirty="0">
                <a:solidFill>
                  <a:srgbClr val="AEBCB3"/>
                </a:solidFill>
                <a:latin typeface="Courier New" pitchFamily="34" charset="0"/>
                <a:ea typeface="Courier New" pitchFamily="34" charset="-122"/>
                <a:cs typeface="Courier New" pitchFamily="34" charset="-120"/>
              </a:rPr>
              <a:t>TIER P0 · PRE-PILOT BLOCKERS</a:t>
            </a:r>
            <a:endParaRPr lang="en-US" sz="1800" dirty="0"/>
          </a:p>
        </p:txBody>
      </p:sp>
      <p:sp>
        <p:nvSpPr>
          <p:cNvPr id="9" name="Text 6"/>
          <p:cNvSpPr/>
          <p:nvPr/>
        </p:nvSpPr>
        <p:spPr>
          <a:xfrm>
            <a:off x="914341" y="2576384"/>
            <a:ext cx="15697199" cy="2903685"/>
          </a:xfrm>
          <a:prstGeom prst="rect">
            <a:avLst/>
          </a:prstGeom>
          <a:noFill/>
          <a:ln/>
        </p:spPr>
        <p:txBody>
          <a:bodyPr wrap="square" lIns="25400" tIns="25400" rIns="25400" bIns="25400" rtlCol="0" anchor="t">
            <a:normAutofit/>
          </a:bodyPr>
          <a:lstStyle/>
          <a:p>
            <a:pPr algn="l" indent="0" marL="0">
              <a:lnSpc>
                <a:spcPct val="96000"/>
              </a:lnSpc>
              <a:buNone/>
            </a:pPr>
            <a:r>
              <a:rPr lang="en-US" sz="11700" spc="-292" kern="0" dirty="0">
                <a:solidFill>
                  <a:srgbClr val="F6F4EF"/>
                </a:solidFill>
                <a:latin typeface="Georgia" pitchFamily="34" charset="0"/>
                <a:ea typeface="Georgia" pitchFamily="34" charset="-122"/>
                <a:cs typeface="Georgia" pitchFamily="34" charset="-120"/>
              </a:rPr>
              <a:t>Five things must clear </a:t>
            </a:r>
            <a:pPr algn="l" indent="0" marL="0">
              <a:lnSpc>
                <a:spcPct val="96000"/>
              </a:lnSpc>
              <a:buNone/>
            </a:pPr>
            <a:r>
              <a:rPr lang="en-US" sz="11700" i="1" spc="-292" kern="0" dirty="0">
                <a:solidFill>
                  <a:srgbClr val="5FB585"/>
                </a:solidFill>
                <a:latin typeface="Georgia" pitchFamily="34" charset="0"/>
                <a:ea typeface="Georgia" pitchFamily="34" charset="-122"/>
                <a:cs typeface="Georgia" pitchFamily="34" charset="-120"/>
              </a:rPr>
              <a:t>before any pilot user signs in.</a:t>
            </a:r>
            <a:endParaRPr lang="en-US" sz="11700" dirty="0"/>
          </a:p>
        </p:txBody>
      </p:sp>
      <p:sp>
        <p:nvSpPr>
          <p:cNvPr id="10" name="Text 7"/>
          <p:cNvSpPr/>
          <p:nvPr/>
        </p:nvSpPr>
        <p:spPr>
          <a:xfrm>
            <a:off x="914341" y="5784810"/>
            <a:ext cx="11576684" cy="2019221"/>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AEBCB3"/>
                </a:solidFill>
                <a:latin typeface="Arial" pitchFamily="34" charset="0"/>
                <a:ea typeface="Arial" pitchFamily="34" charset="-122"/>
                <a:cs typeface="Arial" pitchFamily="34" charset="-120"/>
              </a:rPr>
              <a:t>If one of these is still open on launch day, delay launch. These are not "would be nice" — they are the items that could expose user data, brick the app, or quietly degrade it to unusable inside the first week.</a:t>
            </a:r>
            <a:endParaRPr lang="en-US" sz="3000" dirty="0"/>
          </a:p>
        </p:txBody>
      </p:sp>
      <p:sp>
        <p:nvSpPr>
          <p:cNvPr id="11" name="Shape 8"/>
          <p:cNvSpPr/>
          <p:nvPr/>
        </p:nvSpPr>
        <p:spPr>
          <a:xfrm>
            <a:off x="914341" y="8493913"/>
            <a:ext cx="16459317" cy="9525"/>
          </a:xfrm>
          <a:prstGeom prst="rect">
            <a:avLst/>
          </a:prstGeom>
          <a:solidFill>
            <a:srgbClr val="FFFFFF">
              <a:alpha val="14000"/>
            </a:srgbClr>
          </a:solidFill>
          <a:ln/>
        </p:spPr>
      </p:sp>
      <p:sp>
        <p:nvSpPr>
          <p:cNvPr id="12" name="Text 9"/>
          <p:cNvSpPr/>
          <p:nvPr/>
        </p:nvSpPr>
        <p:spPr>
          <a:xfrm>
            <a:off x="914341" y="9190638"/>
            <a:ext cx="187431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7" kern="0" dirty="0">
                <a:solidFill>
                  <a:srgbClr val="AEBCB3"/>
                </a:solidFill>
                <a:latin typeface="Courier New" pitchFamily="34" charset="0"/>
                <a:ea typeface="Courier New" pitchFamily="34" charset="-122"/>
                <a:cs typeface="Courier New" pitchFamily="34" charset="-120"/>
              </a:rPr>
              <a:t>ITEMS 1 – 5</a:t>
            </a:r>
            <a:endParaRPr lang="en-US" sz="1950" dirty="0"/>
          </a:p>
        </p:txBody>
      </p:sp>
      <p:sp>
        <p:nvSpPr>
          <p:cNvPr id="13" name="Text 10"/>
          <p:cNvSpPr/>
          <p:nvPr/>
        </p:nvSpPr>
        <p:spPr>
          <a:xfrm>
            <a:off x="9094501" y="8728784"/>
            <a:ext cx="502261" cy="834315"/>
          </a:xfrm>
          <a:prstGeom prst="rect">
            <a:avLst/>
          </a:prstGeom>
          <a:noFill/>
          <a:ln/>
        </p:spPr>
        <p:txBody>
          <a:bodyPr wrap="square" lIns="25400" tIns="25400" rIns="25400" bIns="25400" rtlCol="0" anchor="t">
            <a:normAutofit/>
          </a:bodyPr>
          <a:lstStyle/>
          <a:p>
            <a:pPr algn="l" indent="0" marL="0">
              <a:lnSpc>
                <a:spcPct val="95000"/>
              </a:lnSpc>
              <a:buNone/>
            </a:pPr>
            <a:r>
              <a:rPr lang="en-US" sz="6600" spc="-132" kern="0" dirty="0">
                <a:solidFill>
                  <a:srgbClr val="F6F4EF"/>
                </a:solidFill>
                <a:latin typeface="Georgia" pitchFamily="34" charset="0"/>
                <a:ea typeface="Georgia" pitchFamily="34" charset="-122"/>
                <a:cs typeface="Georgia" pitchFamily="34" charset="-120"/>
              </a:rPr>
              <a:t>5</a:t>
            </a:r>
            <a:endParaRPr lang="en-US" sz="6600" dirty="0"/>
          </a:p>
        </p:txBody>
      </p:sp>
      <p:sp>
        <p:nvSpPr>
          <p:cNvPr id="14" name="Text 11"/>
          <p:cNvSpPr/>
          <p:nvPr/>
        </p:nvSpPr>
        <p:spPr>
          <a:xfrm>
            <a:off x="15902508" y="9190638"/>
            <a:ext cx="1547349"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7" kern="0" dirty="0">
                <a:solidFill>
                  <a:srgbClr val="AEBCB3"/>
                </a:solidFill>
                <a:latin typeface="Courier New" pitchFamily="34" charset="0"/>
                <a:ea typeface="Courier New" pitchFamily="34" charset="-122"/>
                <a:cs typeface="Courier New" pitchFamily="34" charset="-120"/>
              </a:rPr>
              <a:t>THIS WEEK</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3277021" y="419061"/>
            <a:ext cx="421953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ITEM 1 OF 25 · SECURITY</a:t>
            </a:r>
            <a:endParaRPr lang="en-US" sz="1800" dirty="0"/>
          </a:p>
        </p:txBody>
      </p:sp>
      <p:sp>
        <p:nvSpPr>
          <p:cNvPr id="5" name="Shape 3"/>
          <p:cNvSpPr/>
          <p:nvPr/>
        </p:nvSpPr>
        <p:spPr>
          <a:xfrm>
            <a:off x="914341" y="1371462"/>
            <a:ext cx="1782141" cy="517959"/>
          </a:xfrm>
          <a:prstGeom prst="roundRect">
            <a:avLst>
              <a:gd name="adj" fmla="val 50000"/>
            </a:avLst>
          </a:prstGeom>
          <a:solidFill>
            <a:srgbClr val="B94A2A"/>
          </a:solidFill>
          <a:ln/>
        </p:spPr>
      </p:sp>
      <p:sp>
        <p:nvSpPr>
          <p:cNvPr id="6" name="Text 4"/>
          <p:cNvSpPr/>
          <p:nvPr/>
        </p:nvSpPr>
        <p:spPr>
          <a:xfrm>
            <a:off x="1085712" y="1466712"/>
            <a:ext cx="36411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44" kern="0" dirty="0">
                <a:solidFill>
                  <a:srgbClr val="7C8A82"/>
                </a:solidFill>
                <a:latin typeface="Courier New" pitchFamily="34" charset="0"/>
                <a:ea typeface="Courier New" pitchFamily="34" charset="-122"/>
                <a:cs typeface="Courier New" pitchFamily="34" charset="-120"/>
              </a:rPr>
              <a:t>P0</a:t>
            </a:r>
            <a:endParaRPr lang="en-US" sz="1800" dirty="0"/>
          </a:p>
        </p:txBody>
      </p:sp>
      <p:sp>
        <p:nvSpPr>
          <p:cNvPr id="7" name="Text 5"/>
          <p:cNvSpPr/>
          <p:nvPr/>
        </p:nvSpPr>
        <p:spPr>
          <a:xfrm>
            <a:off x="1468881" y="1485643"/>
            <a:ext cx="113243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FF8F3"/>
                </a:solidFill>
                <a:latin typeface="Courier New" pitchFamily="34" charset="0"/>
                <a:ea typeface="Courier New" pitchFamily="34" charset="-122"/>
                <a:cs typeface="Courier New" pitchFamily="34" charset="-120"/>
              </a:rPr>
              <a:t>BLOCKER</a:t>
            </a:r>
            <a:endParaRPr lang="en-US" sz="1800" dirty="0"/>
          </a:p>
        </p:txBody>
      </p:sp>
      <p:sp>
        <p:nvSpPr>
          <p:cNvPr id="8" name="Shape 6"/>
          <p:cNvSpPr/>
          <p:nvPr/>
        </p:nvSpPr>
        <p:spPr>
          <a:xfrm>
            <a:off x="2867853" y="1544706"/>
            <a:ext cx="9525" cy="171371"/>
          </a:xfrm>
          <a:prstGeom prst="rect">
            <a:avLst/>
          </a:prstGeom>
          <a:solidFill>
            <a:srgbClr val="16241C">
              <a:alpha val="14000"/>
            </a:srgbClr>
          </a:solidFill>
          <a:ln/>
        </p:spPr>
      </p:sp>
      <p:sp>
        <p:nvSpPr>
          <p:cNvPr id="9" name="Text 7"/>
          <p:cNvSpPr/>
          <p:nvPr/>
        </p:nvSpPr>
        <p:spPr>
          <a:xfrm>
            <a:off x="3048690" y="1476178"/>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ITEM 01</a:t>
            </a:r>
            <a:endParaRPr lang="en-US" sz="1800" dirty="0"/>
          </a:p>
        </p:txBody>
      </p:sp>
      <p:sp>
        <p:nvSpPr>
          <p:cNvPr id="10" name="Shape 8"/>
          <p:cNvSpPr/>
          <p:nvPr/>
        </p:nvSpPr>
        <p:spPr>
          <a:xfrm>
            <a:off x="4308238" y="1544706"/>
            <a:ext cx="9525" cy="171371"/>
          </a:xfrm>
          <a:prstGeom prst="rect">
            <a:avLst/>
          </a:prstGeom>
          <a:solidFill>
            <a:srgbClr val="16241C">
              <a:alpha val="14000"/>
            </a:srgbClr>
          </a:solidFill>
          <a:ln/>
        </p:spPr>
      </p:sp>
      <p:sp>
        <p:nvSpPr>
          <p:cNvPr id="11" name="Text 9"/>
          <p:cNvSpPr/>
          <p:nvPr/>
        </p:nvSpPr>
        <p:spPr>
          <a:xfrm>
            <a:off x="4489075" y="1476178"/>
            <a:ext cx="131987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5A51"/>
                </a:solidFill>
                <a:latin typeface="Courier New" pitchFamily="34" charset="0"/>
                <a:ea typeface="Courier New" pitchFamily="34" charset="-122"/>
                <a:cs typeface="Courier New" pitchFamily="34" charset="-120"/>
              </a:rPr>
              <a:t>SECURITY</a:t>
            </a:r>
            <a:endParaRPr lang="en-US" sz="1800" dirty="0"/>
          </a:p>
        </p:txBody>
      </p:sp>
      <p:sp>
        <p:nvSpPr>
          <p:cNvPr id="12" name="Text 10"/>
          <p:cNvSpPr/>
          <p:nvPr/>
        </p:nvSpPr>
        <p:spPr>
          <a:xfrm>
            <a:off x="914341" y="2194201"/>
            <a:ext cx="8251186" cy="3162221"/>
          </a:xfrm>
          <a:prstGeom prst="rect">
            <a:avLst/>
          </a:prstGeom>
          <a:noFill/>
          <a:ln/>
        </p:spPr>
        <p:txBody>
          <a:bodyPr wrap="square" lIns="25400" tIns="25400" rIns="25400" bIns="25400" rtlCol="0" anchor="t">
            <a:normAutofit/>
          </a:bodyPr>
          <a:lstStyle/>
          <a:p>
            <a:pPr algn="l" indent="0" marL="0">
              <a:lnSpc>
                <a:spcPct val="100000"/>
              </a:lnSpc>
              <a:buNone/>
            </a:pPr>
            <a:r>
              <a:rPr lang="en-US" sz="6150" spc="-123" kern="0" dirty="0">
                <a:solidFill>
                  <a:srgbClr val="16241C"/>
                </a:solidFill>
                <a:latin typeface="Georgia" pitchFamily="34" charset="0"/>
                <a:ea typeface="Georgia" pitchFamily="34" charset="-122"/>
                <a:cs typeface="Georgia" pitchFamily="34" charset="-120"/>
              </a:rPr>
              <a:t>Confirm the Supabase key </a:t>
            </a:r>
            <a:pPr algn="l" indent="0" marL="0">
              <a:lnSpc>
                <a:spcPct val="100000"/>
              </a:lnSpc>
              <a:buNone/>
            </a:pPr>
            <a:r>
              <a:rPr lang="en-US" sz="6150" i="1" spc="-123" kern="0" dirty="0">
                <a:solidFill>
                  <a:srgbClr val="1F6F43"/>
                </a:solidFill>
                <a:latin typeface="Georgia" pitchFamily="34" charset="0"/>
                <a:ea typeface="Georgia" pitchFamily="34" charset="-122"/>
                <a:cs typeface="Georgia" pitchFamily="34" charset="-120"/>
              </a:rPr>
              <a:t>has not entered git history </a:t>
            </a:r>
            <a:pPr algn="l" indent="0" marL="0">
              <a:lnSpc>
                <a:spcPct val="100000"/>
              </a:lnSpc>
              <a:buNone/>
            </a:pPr>
            <a:r>
              <a:rPr lang="en-US" sz="6150" spc="-123" kern="0" dirty="0">
                <a:solidFill>
                  <a:srgbClr val="16241C"/>
                </a:solidFill>
                <a:latin typeface="Georgia" pitchFamily="34" charset="0"/>
                <a:ea typeface="Georgia" pitchFamily="34" charset="-122"/>
                <a:cs typeface="Georgia" pitchFamily="34" charset="-120"/>
              </a:rPr>
              <a:t>— and rotate it if it has.</a:t>
            </a:r>
            <a:endParaRPr lang="en-US" sz="6150" dirty="0"/>
          </a:p>
        </p:txBody>
      </p:sp>
      <p:sp>
        <p:nvSpPr>
          <p:cNvPr id="13" name="Text 11"/>
          <p:cNvSpPr/>
          <p:nvPr/>
        </p:nvSpPr>
        <p:spPr>
          <a:xfrm>
            <a:off x="914341" y="5623102"/>
            <a:ext cx="7456169" cy="2554337"/>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Run </a:t>
            </a:r>
            <a:pPr algn="l" indent="0" marL="0">
              <a:lnSpc>
                <a:spcPct val="130000"/>
              </a:lnSpc>
              <a:buNone/>
            </a:pPr>
            <a:r>
              <a:rPr lang="en-US" sz="2700" spc="-11" kern="0" dirty="0">
                <a:solidFill>
                  <a:srgbClr val="4A5A51"/>
                </a:solidFill>
                <a:highlight>
                  <a:srgbClr val="EFECE4"/>
                </a:highlight>
                <a:latin typeface="Courier New" pitchFamily="34" charset="0"/>
                <a:ea typeface="Courier New" pitchFamily="34" charset="-122"/>
                <a:cs typeface="Courier New" pitchFamily="34" charset="-120"/>
              </a:rPr>
              <a:t>git log --all --full-history -- .env </a:t>
            </a:r>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 A single historical commit makes the anon key permanently public on any clone or fork, no matter how many later commits scrub it.</a:t>
            </a:r>
            <a:endParaRPr lang="en-US" sz="3000" dirty="0"/>
          </a:p>
        </p:txBody>
      </p:sp>
      <p:sp>
        <p:nvSpPr>
          <p:cNvPr id="14" name="Shape 12"/>
          <p:cNvSpPr/>
          <p:nvPr/>
        </p:nvSpPr>
        <p:spPr>
          <a:xfrm>
            <a:off x="914341" y="8444119"/>
            <a:ext cx="8010860" cy="9525"/>
          </a:xfrm>
          <a:prstGeom prst="rect">
            <a:avLst/>
          </a:prstGeom>
          <a:solidFill>
            <a:srgbClr val="16241C">
              <a:alpha val="14000"/>
            </a:srgbClr>
          </a:solidFill>
          <a:ln/>
        </p:spPr>
      </p:sp>
      <p:sp>
        <p:nvSpPr>
          <p:cNvPr id="15" name="Text 13"/>
          <p:cNvSpPr/>
          <p:nvPr/>
        </p:nvSpPr>
        <p:spPr>
          <a:xfrm>
            <a:off x="914341" y="8621800"/>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OWNER</a:t>
            </a:r>
            <a:endParaRPr lang="en-US" sz="1800" dirty="0"/>
          </a:p>
        </p:txBody>
      </p:sp>
      <p:sp>
        <p:nvSpPr>
          <p:cNvPr id="16" name="Text 14"/>
          <p:cNvSpPr/>
          <p:nvPr/>
        </p:nvSpPr>
        <p:spPr>
          <a:xfrm>
            <a:off x="914341" y="8987419"/>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Backend lead</a:t>
            </a:r>
            <a:endParaRPr lang="en-US" sz="1950" dirty="0"/>
          </a:p>
        </p:txBody>
      </p:sp>
      <p:sp>
        <p:nvSpPr>
          <p:cNvPr id="17" name="Text 15"/>
          <p:cNvSpPr/>
          <p:nvPr/>
        </p:nvSpPr>
        <p:spPr>
          <a:xfrm>
            <a:off x="3660814" y="8621800"/>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EFFORT</a:t>
            </a:r>
            <a:endParaRPr lang="en-US" sz="1800" dirty="0"/>
          </a:p>
        </p:txBody>
      </p:sp>
      <p:sp>
        <p:nvSpPr>
          <p:cNvPr id="18" name="Text 16"/>
          <p:cNvSpPr/>
          <p:nvPr/>
        </p:nvSpPr>
        <p:spPr>
          <a:xfrm>
            <a:off x="3660814" y="8987419"/>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 2 hours</a:t>
            </a:r>
            <a:endParaRPr lang="en-US" sz="1950" dirty="0"/>
          </a:p>
        </p:txBody>
      </p:sp>
      <p:sp>
        <p:nvSpPr>
          <p:cNvPr id="19" name="Text 17"/>
          <p:cNvSpPr/>
          <p:nvPr/>
        </p:nvSpPr>
        <p:spPr>
          <a:xfrm>
            <a:off x="6407287" y="8621800"/>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DUE</a:t>
            </a:r>
            <a:endParaRPr lang="en-US" sz="1800" dirty="0"/>
          </a:p>
        </p:txBody>
      </p:sp>
      <p:sp>
        <p:nvSpPr>
          <p:cNvPr id="20" name="Text 18"/>
          <p:cNvSpPr/>
          <p:nvPr/>
        </p:nvSpPr>
        <p:spPr>
          <a:xfrm>
            <a:off x="6407287" y="8987419"/>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Before any deploy</a:t>
            </a:r>
            <a:endParaRPr lang="en-US" sz="1950" dirty="0"/>
          </a:p>
        </p:txBody>
      </p:sp>
      <p:sp>
        <p:nvSpPr>
          <p:cNvPr id="21" name="Shape 19"/>
          <p:cNvSpPr/>
          <p:nvPr/>
        </p:nvSpPr>
        <p:spPr>
          <a:xfrm>
            <a:off x="9763321" y="1371462"/>
            <a:ext cx="7610337" cy="8686878"/>
          </a:xfrm>
          <a:prstGeom prst="roundRect">
            <a:avLst>
              <a:gd name="adj" fmla="val 501"/>
            </a:avLst>
          </a:prstGeom>
          <a:solidFill>
            <a:srgbClr val="EFECE4"/>
          </a:solidFill>
          <a:ln w="6311">
            <a:solidFill>
              <a:srgbClr val="16241C">
                <a:alpha val="14000"/>
              </a:srgbClr>
            </a:solidFill>
            <a:prstDash val="solid"/>
          </a:ln>
        </p:spPr>
      </p:sp>
      <p:sp>
        <p:nvSpPr>
          <p:cNvPr id="22" name="Text 20"/>
          <p:cNvSpPr/>
          <p:nvPr/>
        </p:nvSpPr>
        <p:spPr>
          <a:xfrm>
            <a:off x="10150632" y="1758772"/>
            <a:ext cx="704078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80" kern="0" dirty="0">
                <a:solidFill>
                  <a:srgbClr val="7C8A82"/>
                </a:solidFill>
                <a:latin typeface="Courier New" pitchFamily="34" charset="0"/>
                <a:ea typeface="Courier New" pitchFamily="34" charset="-122"/>
                <a:cs typeface="Courier New" pitchFamily="34" charset="-120"/>
              </a:rPr>
              <a:t>HOW WE'LL RESOLVE IT</a:t>
            </a:r>
            <a:endParaRPr lang="en-US" sz="1800" dirty="0"/>
          </a:p>
        </p:txBody>
      </p:sp>
      <p:sp>
        <p:nvSpPr>
          <p:cNvPr id="23" name="Text 21"/>
          <p:cNvSpPr/>
          <p:nvPr/>
        </p:nvSpPr>
        <p:spPr>
          <a:xfrm>
            <a:off x="10683972" y="2365473"/>
            <a:ext cx="1691211"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Audit history of</a:t>
            </a:r>
            <a:endParaRPr lang="en-US" sz="1950" dirty="0"/>
          </a:p>
        </p:txBody>
      </p:sp>
      <p:sp>
        <p:nvSpPr>
          <p:cNvPr id="24" name="Shape 22"/>
          <p:cNvSpPr/>
          <p:nvPr/>
        </p:nvSpPr>
        <p:spPr>
          <a:xfrm>
            <a:off x="10150632" y="2875544"/>
            <a:ext cx="381000" cy="362660"/>
          </a:xfrm>
          <a:prstGeom prst="roundRect">
            <a:avLst>
              <a:gd name="adj" fmla="val 15759"/>
            </a:avLst>
          </a:prstGeom>
          <a:solidFill>
            <a:srgbClr val="EFECE4"/>
          </a:solidFill>
          <a:ln w="6311">
            <a:solidFill>
              <a:srgbClr val="16241C">
                <a:alpha val="8000"/>
              </a:srgbClr>
            </a:solidFill>
            <a:prstDash val="solid"/>
          </a:ln>
        </p:spPr>
      </p:sp>
      <p:sp>
        <p:nvSpPr>
          <p:cNvPr id="25" name="Text 23"/>
          <p:cNvSpPr/>
          <p:nvPr/>
        </p:nvSpPr>
        <p:spPr>
          <a:xfrm>
            <a:off x="10233142" y="2900905"/>
            <a:ext cx="292179" cy="350039"/>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16241C"/>
                </a:solidFill>
                <a:latin typeface="Courier New" pitchFamily="34" charset="0"/>
                <a:ea typeface="Courier New" pitchFamily="34" charset="-122"/>
                <a:cs typeface="Courier New" pitchFamily="34" charset="-120"/>
              </a:rPr>
              <a:t>.env</a:t>
            </a:r>
            <a:endParaRPr lang="en-US" sz="1755" dirty="0"/>
          </a:p>
        </p:txBody>
      </p:sp>
      <p:sp>
        <p:nvSpPr>
          <p:cNvPr id="26" name="Text 24"/>
          <p:cNvSpPr/>
          <p:nvPr/>
        </p:nvSpPr>
        <p:spPr>
          <a:xfrm>
            <a:off x="10683972" y="2881953"/>
            <a:ext cx="143645"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a:t>
            </a:r>
            <a:endParaRPr lang="en-US" sz="1950" dirty="0"/>
          </a:p>
        </p:txBody>
      </p:sp>
      <p:sp>
        <p:nvSpPr>
          <p:cNvPr id="27" name="Shape 25"/>
          <p:cNvSpPr/>
          <p:nvPr/>
        </p:nvSpPr>
        <p:spPr>
          <a:xfrm>
            <a:off x="10150632" y="3415688"/>
            <a:ext cx="381000" cy="362660"/>
          </a:xfrm>
          <a:prstGeom prst="roundRect">
            <a:avLst>
              <a:gd name="adj" fmla="val 15759"/>
            </a:avLst>
          </a:prstGeom>
          <a:solidFill>
            <a:srgbClr val="EFECE4"/>
          </a:solidFill>
          <a:ln w="6311">
            <a:solidFill>
              <a:srgbClr val="16241C">
                <a:alpha val="8000"/>
              </a:srgbClr>
            </a:solidFill>
            <a:prstDash val="solid"/>
          </a:ln>
        </p:spPr>
      </p:sp>
      <p:sp>
        <p:nvSpPr>
          <p:cNvPr id="28" name="Text 26"/>
          <p:cNvSpPr/>
          <p:nvPr/>
        </p:nvSpPr>
        <p:spPr>
          <a:xfrm>
            <a:off x="10233142" y="3441049"/>
            <a:ext cx="292179" cy="350039"/>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16241C"/>
                </a:solidFill>
                <a:latin typeface="Courier New" pitchFamily="34" charset="0"/>
                <a:ea typeface="Courier New" pitchFamily="34" charset="-122"/>
                <a:cs typeface="Courier New" pitchFamily="34" charset="-120"/>
              </a:rPr>
              <a:t>.env.local</a:t>
            </a:r>
            <a:endParaRPr lang="en-US" sz="1755" dirty="0"/>
          </a:p>
        </p:txBody>
      </p:sp>
      <p:sp>
        <p:nvSpPr>
          <p:cNvPr id="29" name="Text 27"/>
          <p:cNvSpPr/>
          <p:nvPr/>
        </p:nvSpPr>
        <p:spPr>
          <a:xfrm>
            <a:off x="10683972" y="3422098"/>
            <a:ext cx="3821622"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 and any committed config across</a:t>
            </a:r>
            <a:endParaRPr lang="en-US" sz="1950" dirty="0"/>
          </a:p>
        </p:txBody>
      </p:sp>
      <p:sp>
        <p:nvSpPr>
          <p:cNvPr id="30" name="Text 28"/>
          <p:cNvSpPr/>
          <p:nvPr/>
        </p:nvSpPr>
        <p:spPr>
          <a:xfrm>
            <a:off x="10150632" y="3930689"/>
            <a:ext cx="457200" cy="384786"/>
          </a:xfrm>
          <a:prstGeom prst="rect">
            <a:avLst/>
          </a:prstGeom>
          <a:noFill/>
          <a:ln/>
        </p:spPr>
        <p:txBody>
          <a:bodyPr wrap="square" lIns="25400" tIns="25400" rIns="25400" bIns="25400" rtlCol="0" anchor="t">
            <a:normAutofit/>
          </a:bodyPr>
          <a:lstStyle/>
          <a:p>
            <a:pPr algn="l" indent="0" marL="0">
              <a:lnSpc>
                <a:spcPct val="140000"/>
              </a:lnSpc>
              <a:buNone/>
            </a:pPr>
            <a:r>
              <a:rPr lang="en-US" sz="1950" i="1" spc="-11" kern="0" dirty="0">
                <a:solidFill>
                  <a:srgbClr val="16241C"/>
                </a:solidFill>
                <a:latin typeface="Arial" pitchFamily="34" charset="0"/>
                <a:ea typeface="Arial" pitchFamily="34" charset="-122"/>
                <a:cs typeface="Arial" pitchFamily="34" charset="-120"/>
              </a:rPr>
              <a:t>all</a:t>
            </a:r>
            <a:endParaRPr lang="en-US" sz="1950" dirty="0"/>
          </a:p>
        </p:txBody>
      </p:sp>
      <p:sp>
        <p:nvSpPr>
          <p:cNvPr id="31" name="Text 29"/>
          <p:cNvSpPr/>
          <p:nvPr/>
        </p:nvSpPr>
        <p:spPr>
          <a:xfrm>
            <a:off x="10683972" y="3962242"/>
            <a:ext cx="2156811"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branches and tags.</a:t>
            </a:r>
            <a:endParaRPr lang="en-US" sz="1950" dirty="0"/>
          </a:p>
        </p:txBody>
      </p:sp>
      <p:sp>
        <p:nvSpPr>
          <p:cNvPr id="32" name="Text 30"/>
          <p:cNvSpPr/>
          <p:nvPr/>
        </p:nvSpPr>
        <p:spPr>
          <a:xfrm>
            <a:off x="10150632" y="4429716"/>
            <a:ext cx="7040787"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If a key ever landed: rotate the anon and service keys in Supabase, redeploy.</a:t>
            </a:r>
            <a:endParaRPr lang="en-US" sz="1950" dirty="0"/>
          </a:p>
        </p:txBody>
      </p:sp>
      <p:sp>
        <p:nvSpPr>
          <p:cNvPr id="33" name="Text 31"/>
          <p:cNvSpPr/>
          <p:nvPr/>
        </p:nvSpPr>
        <p:spPr>
          <a:xfrm>
            <a:off x="10683972" y="5306982"/>
            <a:ext cx="512516" cy="315764"/>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Add</a:t>
            </a:r>
            <a:endParaRPr lang="en-US" sz="1950" dirty="0"/>
          </a:p>
        </p:txBody>
      </p:sp>
      <p:sp>
        <p:nvSpPr>
          <p:cNvPr id="34" name="Shape 32"/>
          <p:cNvSpPr/>
          <p:nvPr/>
        </p:nvSpPr>
        <p:spPr>
          <a:xfrm>
            <a:off x="10150632" y="5817053"/>
            <a:ext cx="381000" cy="362660"/>
          </a:xfrm>
          <a:prstGeom prst="roundRect">
            <a:avLst>
              <a:gd name="adj" fmla="val 15759"/>
            </a:avLst>
          </a:prstGeom>
          <a:solidFill>
            <a:srgbClr val="EFECE4"/>
          </a:solidFill>
          <a:ln w="6311">
            <a:solidFill>
              <a:srgbClr val="16241C">
                <a:alpha val="8000"/>
              </a:srgbClr>
            </a:solidFill>
            <a:prstDash val="solid"/>
          </a:ln>
        </p:spPr>
      </p:sp>
      <p:sp>
        <p:nvSpPr>
          <p:cNvPr id="35" name="Text 33"/>
          <p:cNvSpPr/>
          <p:nvPr/>
        </p:nvSpPr>
        <p:spPr>
          <a:xfrm>
            <a:off x="10233142" y="5842414"/>
            <a:ext cx="292179" cy="350039"/>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16241C"/>
                </a:solidFill>
                <a:latin typeface="Courier New" pitchFamily="34" charset="0"/>
                <a:ea typeface="Courier New" pitchFamily="34" charset="-122"/>
                <a:cs typeface="Courier New" pitchFamily="34" charset="-120"/>
              </a:rPr>
              <a:t>.env*</a:t>
            </a:r>
            <a:endParaRPr lang="en-US" sz="1755" dirty="0"/>
          </a:p>
        </p:txBody>
      </p:sp>
      <p:sp>
        <p:nvSpPr>
          <p:cNvPr id="36" name="Text 34"/>
          <p:cNvSpPr/>
          <p:nvPr/>
        </p:nvSpPr>
        <p:spPr>
          <a:xfrm>
            <a:off x="10683972" y="5823463"/>
            <a:ext cx="279913" cy="315764"/>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to</a:t>
            </a:r>
            <a:endParaRPr lang="en-US" sz="1950" dirty="0"/>
          </a:p>
        </p:txBody>
      </p:sp>
      <p:sp>
        <p:nvSpPr>
          <p:cNvPr id="37" name="Shape 35"/>
          <p:cNvSpPr/>
          <p:nvPr/>
        </p:nvSpPr>
        <p:spPr>
          <a:xfrm>
            <a:off x="10150632" y="6357197"/>
            <a:ext cx="381000" cy="362660"/>
          </a:xfrm>
          <a:prstGeom prst="roundRect">
            <a:avLst>
              <a:gd name="adj" fmla="val 15759"/>
            </a:avLst>
          </a:prstGeom>
          <a:solidFill>
            <a:srgbClr val="EFECE4"/>
          </a:solidFill>
          <a:ln w="6311">
            <a:solidFill>
              <a:srgbClr val="16241C">
                <a:alpha val="8000"/>
              </a:srgbClr>
            </a:solidFill>
            <a:prstDash val="solid"/>
          </a:ln>
        </p:spPr>
      </p:sp>
      <p:sp>
        <p:nvSpPr>
          <p:cNvPr id="38" name="Text 36"/>
          <p:cNvSpPr/>
          <p:nvPr/>
        </p:nvSpPr>
        <p:spPr>
          <a:xfrm>
            <a:off x="10233142" y="6382558"/>
            <a:ext cx="292179" cy="350039"/>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16241C"/>
                </a:solidFill>
                <a:latin typeface="Courier New" pitchFamily="34" charset="0"/>
                <a:ea typeface="Courier New" pitchFamily="34" charset="-122"/>
                <a:cs typeface="Courier New" pitchFamily="34" charset="-120"/>
              </a:rPr>
              <a:t>.gitignore</a:t>
            </a:r>
            <a:endParaRPr lang="en-US" sz="1755" dirty="0"/>
          </a:p>
        </p:txBody>
      </p:sp>
      <p:sp>
        <p:nvSpPr>
          <p:cNvPr id="39" name="Text 37"/>
          <p:cNvSpPr/>
          <p:nvPr/>
        </p:nvSpPr>
        <p:spPr>
          <a:xfrm>
            <a:off x="10683972" y="6363607"/>
            <a:ext cx="6151726" cy="315764"/>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if absent; install a pre-commit secret scanner (gitleaks).</a:t>
            </a:r>
            <a:endParaRPr lang="en-US" sz="1950" dirty="0"/>
          </a:p>
        </p:txBody>
      </p:sp>
      <p:sp>
        <p:nvSpPr>
          <p:cNvPr id="40" name="Text 38"/>
          <p:cNvSpPr/>
          <p:nvPr/>
        </p:nvSpPr>
        <p:spPr>
          <a:xfrm>
            <a:off x="10150632" y="6872199"/>
            <a:ext cx="7040787"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Document the rotation procedure so we can repeat it without ceremony.</a:t>
            </a:r>
            <a:endParaRPr lang="en-US" sz="1950" dirty="0"/>
          </a:p>
        </p:txBody>
      </p:sp>
      <p:sp>
        <p:nvSpPr>
          <p:cNvPr id="41" name="Shape 39"/>
          <p:cNvSpPr/>
          <p:nvPr/>
        </p:nvSpPr>
        <p:spPr>
          <a:xfrm>
            <a:off x="10150632" y="7908313"/>
            <a:ext cx="6835715" cy="9525"/>
          </a:xfrm>
          <a:prstGeom prst="rect">
            <a:avLst/>
          </a:prstGeom>
          <a:solidFill>
            <a:srgbClr val="16241C">
              <a:alpha val="14000"/>
            </a:srgbClr>
          </a:solidFill>
          <a:ln/>
        </p:spPr>
      </p:sp>
      <p:sp>
        <p:nvSpPr>
          <p:cNvPr id="42" name="Text 40"/>
          <p:cNvSpPr/>
          <p:nvPr/>
        </p:nvSpPr>
        <p:spPr>
          <a:xfrm>
            <a:off x="10150632" y="8257366"/>
            <a:ext cx="7040787" cy="737783"/>
          </a:xfrm>
          <a:prstGeom prst="rect">
            <a:avLst/>
          </a:prstGeom>
          <a:noFill/>
          <a:ln/>
        </p:spPr>
        <p:txBody>
          <a:bodyPr wrap="square" lIns="25400" tIns="25400" rIns="25400" bIns="25400" rtlCol="0" anchor="t">
            <a:normAutofit/>
          </a:bodyPr>
          <a:lstStyle/>
          <a:p>
            <a:pPr algn="l" indent="0" marL="0">
              <a:lnSpc>
                <a:spcPct val="140000"/>
              </a:lnSpc>
              <a:buNone/>
            </a:pPr>
            <a:r>
              <a:rPr lang="en-US" sz="1950" b="1" spc="-11" kern="0" dirty="0">
                <a:solidFill>
                  <a:srgbClr val="16241C"/>
                </a:solidFill>
                <a:latin typeface="Arial" pitchFamily="34" charset="0"/>
                <a:ea typeface="Arial" pitchFamily="34" charset="-122"/>
                <a:cs typeface="Arial" pitchFamily="34" charset="-120"/>
              </a:rPr>
              <a:t>Why now: </a:t>
            </a:r>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rotating a key after a pilot user has signed in is a recovery exercise. Doing it now is a five-line config change.</a:t>
            </a:r>
            <a:endParaRPr lang="en-US" sz="1950" dirty="0"/>
          </a:p>
        </p:txBody>
      </p:sp>
      <p:sp>
        <p:nvSpPr>
          <p:cNvPr id="43" name="Shape 41"/>
          <p:cNvSpPr/>
          <p:nvPr/>
        </p:nvSpPr>
        <p:spPr>
          <a:xfrm>
            <a:off x="914341" y="9381730"/>
            <a:ext cx="16459317" cy="9525"/>
          </a:xfrm>
          <a:prstGeom prst="rect">
            <a:avLst/>
          </a:prstGeom>
          <a:solidFill>
            <a:srgbClr val="16241C">
              <a:alpha val="14000"/>
            </a:srgbClr>
          </a:solidFill>
          <a:ln/>
        </p:spPr>
      </p:sp>
      <p:sp>
        <p:nvSpPr>
          <p:cNvPr id="44" name="Text 42"/>
          <p:cNvSpPr/>
          <p:nvPr/>
        </p:nvSpPr>
        <p:spPr>
          <a:xfrm>
            <a:off x="914341" y="9559412"/>
            <a:ext cx="542516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ITEM 1 — SECRETS IN GIT HISTORY</a:t>
            </a:r>
            <a:endParaRPr lang="en-US" sz="1800" dirty="0"/>
          </a:p>
        </p:txBody>
      </p:sp>
      <p:sp>
        <p:nvSpPr>
          <p:cNvPr id="45" name="Text 43"/>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04 / 25</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1082426" y="419061"/>
            <a:ext cx="647996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ITEM 2 OF 25 · IMPLEMENTATION FIDELITY</a:t>
            </a:r>
            <a:endParaRPr lang="en-US" sz="1800" dirty="0"/>
          </a:p>
        </p:txBody>
      </p:sp>
      <p:sp>
        <p:nvSpPr>
          <p:cNvPr id="5" name="Shape 3"/>
          <p:cNvSpPr/>
          <p:nvPr/>
        </p:nvSpPr>
        <p:spPr>
          <a:xfrm>
            <a:off x="914341" y="1371462"/>
            <a:ext cx="1782141" cy="517959"/>
          </a:xfrm>
          <a:prstGeom prst="roundRect">
            <a:avLst>
              <a:gd name="adj" fmla="val 50000"/>
            </a:avLst>
          </a:prstGeom>
          <a:solidFill>
            <a:srgbClr val="B94A2A"/>
          </a:solidFill>
          <a:ln/>
        </p:spPr>
      </p:sp>
      <p:sp>
        <p:nvSpPr>
          <p:cNvPr id="6" name="Text 4"/>
          <p:cNvSpPr/>
          <p:nvPr/>
        </p:nvSpPr>
        <p:spPr>
          <a:xfrm>
            <a:off x="1085712" y="1466712"/>
            <a:ext cx="36411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44" kern="0" dirty="0">
                <a:solidFill>
                  <a:srgbClr val="7C8A82"/>
                </a:solidFill>
                <a:latin typeface="Courier New" pitchFamily="34" charset="0"/>
                <a:ea typeface="Courier New" pitchFamily="34" charset="-122"/>
                <a:cs typeface="Courier New" pitchFamily="34" charset="-120"/>
              </a:rPr>
              <a:t>P0</a:t>
            </a:r>
            <a:endParaRPr lang="en-US" sz="1800" dirty="0"/>
          </a:p>
        </p:txBody>
      </p:sp>
      <p:sp>
        <p:nvSpPr>
          <p:cNvPr id="7" name="Text 5"/>
          <p:cNvSpPr/>
          <p:nvPr/>
        </p:nvSpPr>
        <p:spPr>
          <a:xfrm>
            <a:off x="1468881" y="1485643"/>
            <a:ext cx="113243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FF8F3"/>
                </a:solidFill>
                <a:latin typeface="Courier New" pitchFamily="34" charset="0"/>
                <a:ea typeface="Courier New" pitchFamily="34" charset="-122"/>
                <a:cs typeface="Courier New" pitchFamily="34" charset="-120"/>
              </a:rPr>
              <a:t>BLOCKER</a:t>
            </a:r>
            <a:endParaRPr lang="en-US" sz="1800" dirty="0"/>
          </a:p>
        </p:txBody>
      </p:sp>
      <p:sp>
        <p:nvSpPr>
          <p:cNvPr id="8" name="Shape 6"/>
          <p:cNvSpPr/>
          <p:nvPr/>
        </p:nvSpPr>
        <p:spPr>
          <a:xfrm>
            <a:off x="2867853" y="1544706"/>
            <a:ext cx="9525" cy="171371"/>
          </a:xfrm>
          <a:prstGeom prst="rect">
            <a:avLst/>
          </a:prstGeom>
          <a:solidFill>
            <a:srgbClr val="16241C">
              <a:alpha val="14000"/>
            </a:srgbClr>
          </a:solidFill>
          <a:ln/>
        </p:spPr>
      </p:sp>
      <p:sp>
        <p:nvSpPr>
          <p:cNvPr id="9" name="Text 7"/>
          <p:cNvSpPr/>
          <p:nvPr/>
        </p:nvSpPr>
        <p:spPr>
          <a:xfrm>
            <a:off x="3048690" y="1476178"/>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ITEM 02</a:t>
            </a:r>
            <a:endParaRPr lang="en-US" sz="1800" dirty="0"/>
          </a:p>
        </p:txBody>
      </p:sp>
      <p:sp>
        <p:nvSpPr>
          <p:cNvPr id="10" name="Shape 8"/>
          <p:cNvSpPr/>
          <p:nvPr/>
        </p:nvSpPr>
        <p:spPr>
          <a:xfrm>
            <a:off x="4308238" y="1544706"/>
            <a:ext cx="9525" cy="171371"/>
          </a:xfrm>
          <a:prstGeom prst="rect">
            <a:avLst/>
          </a:prstGeom>
          <a:solidFill>
            <a:srgbClr val="16241C">
              <a:alpha val="14000"/>
            </a:srgbClr>
          </a:solidFill>
          <a:ln/>
        </p:spPr>
      </p:sp>
      <p:sp>
        <p:nvSpPr>
          <p:cNvPr id="11" name="Text 9"/>
          <p:cNvSpPr/>
          <p:nvPr/>
        </p:nvSpPr>
        <p:spPr>
          <a:xfrm>
            <a:off x="4489075" y="1476178"/>
            <a:ext cx="368268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5A51"/>
                </a:solidFill>
                <a:latin typeface="Courier New" pitchFamily="34" charset="0"/>
                <a:ea typeface="Courier New" pitchFamily="34" charset="-122"/>
                <a:cs typeface="Courier New" pitchFamily="34" charset="-120"/>
              </a:rPr>
              <a:t>IMPLEMENTATION FIDELITY</a:t>
            </a:r>
            <a:endParaRPr lang="en-US" sz="1800" dirty="0"/>
          </a:p>
        </p:txBody>
      </p:sp>
      <p:sp>
        <p:nvSpPr>
          <p:cNvPr id="12" name="Text 10"/>
          <p:cNvSpPr/>
          <p:nvPr/>
        </p:nvSpPr>
        <p:spPr>
          <a:xfrm>
            <a:off x="914341" y="2194201"/>
            <a:ext cx="8251186" cy="2381191"/>
          </a:xfrm>
          <a:prstGeom prst="rect">
            <a:avLst/>
          </a:prstGeom>
          <a:noFill/>
          <a:ln/>
        </p:spPr>
        <p:txBody>
          <a:bodyPr wrap="square" lIns="25400" tIns="25400" rIns="25400" bIns="25400" rtlCol="0" anchor="t">
            <a:normAutofit/>
          </a:bodyPr>
          <a:lstStyle/>
          <a:p>
            <a:pPr algn="l" indent="0" marL="0">
              <a:lnSpc>
                <a:spcPct val="100000"/>
              </a:lnSpc>
              <a:buNone/>
            </a:pPr>
            <a:r>
              <a:rPr lang="en-US" sz="6150" spc="-123" kern="0" dirty="0">
                <a:solidFill>
                  <a:srgbClr val="16241C"/>
                </a:solidFill>
                <a:latin typeface="Georgia" pitchFamily="34" charset="0"/>
                <a:ea typeface="Georgia" pitchFamily="34" charset="-122"/>
                <a:cs typeface="Georgia" pitchFamily="34" charset="-120"/>
              </a:rPr>
              <a:t>Reconcile STATE.md against shipped code </a:t>
            </a:r>
            <a:pPr algn="l" indent="0" marL="0">
              <a:lnSpc>
                <a:spcPct val="100000"/>
              </a:lnSpc>
              <a:buNone/>
            </a:pPr>
            <a:r>
              <a:rPr lang="en-US" sz="6150" i="1" spc="-123" kern="0" dirty="0">
                <a:solidFill>
                  <a:srgbClr val="1F6F43"/>
                </a:solidFill>
                <a:latin typeface="Georgia" pitchFamily="34" charset="0"/>
                <a:ea typeface="Georgia" pitchFamily="34" charset="-122"/>
                <a:cs typeface="Georgia" pitchFamily="34" charset="-120"/>
              </a:rPr>
              <a:t>before trusting either.</a:t>
            </a:r>
            <a:endParaRPr lang="en-US" sz="6150" dirty="0"/>
          </a:p>
        </p:txBody>
      </p:sp>
      <p:sp>
        <p:nvSpPr>
          <p:cNvPr id="13" name="Text 11"/>
          <p:cNvSpPr/>
          <p:nvPr/>
        </p:nvSpPr>
        <p:spPr>
          <a:xfrm>
            <a:off x="914341" y="4842072"/>
            <a:ext cx="7456169" cy="3009781"/>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STATE.md lists all 31 tasks as "pending"; the most recent commit message says "all 6 milestones implemented." Until we know which is right, we cannot scope the pilot — and we cannot estimate the remaining work.</a:t>
            </a:r>
            <a:endParaRPr lang="en-US" sz="3000" dirty="0"/>
          </a:p>
        </p:txBody>
      </p:sp>
      <p:sp>
        <p:nvSpPr>
          <p:cNvPr id="14" name="Shape 12"/>
          <p:cNvSpPr/>
          <p:nvPr/>
        </p:nvSpPr>
        <p:spPr>
          <a:xfrm>
            <a:off x="914341" y="8118534"/>
            <a:ext cx="8010860" cy="9525"/>
          </a:xfrm>
          <a:prstGeom prst="rect">
            <a:avLst/>
          </a:prstGeom>
          <a:solidFill>
            <a:srgbClr val="16241C">
              <a:alpha val="14000"/>
            </a:srgbClr>
          </a:solidFill>
          <a:ln/>
        </p:spPr>
      </p:sp>
      <p:sp>
        <p:nvSpPr>
          <p:cNvPr id="15" name="Text 13"/>
          <p:cNvSpPr/>
          <p:nvPr/>
        </p:nvSpPr>
        <p:spPr>
          <a:xfrm>
            <a:off x="914341" y="8296215"/>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OWNER</a:t>
            </a:r>
            <a:endParaRPr lang="en-US" sz="1800" dirty="0"/>
          </a:p>
        </p:txBody>
      </p:sp>
      <p:sp>
        <p:nvSpPr>
          <p:cNvPr id="16" name="Text 14"/>
          <p:cNvSpPr/>
          <p:nvPr/>
        </p:nvSpPr>
        <p:spPr>
          <a:xfrm>
            <a:off x="914341" y="8661834"/>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Tech lead + PM</a:t>
            </a:r>
            <a:endParaRPr lang="en-US" sz="1950" dirty="0"/>
          </a:p>
        </p:txBody>
      </p:sp>
      <p:sp>
        <p:nvSpPr>
          <p:cNvPr id="17" name="Text 15"/>
          <p:cNvSpPr/>
          <p:nvPr/>
        </p:nvSpPr>
        <p:spPr>
          <a:xfrm>
            <a:off x="3660814" y="8296215"/>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EFFORT</a:t>
            </a:r>
            <a:endParaRPr lang="en-US" sz="1800" dirty="0"/>
          </a:p>
        </p:txBody>
      </p:sp>
      <p:sp>
        <p:nvSpPr>
          <p:cNvPr id="18" name="Text 16"/>
          <p:cNvSpPr/>
          <p:nvPr/>
        </p:nvSpPr>
        <p:spPr>
          <a:xfrm>
            <a:off x="3660814" y="8661834"/>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½ day pair</a:t>
            </a:r>
            <a:endParaRPr lang="en-US" sz="1950" dirty="0"/>
          </a:p>
        </p:txBody>
      </p:sp>
      <p:sp>
        <p:nvSpPr>
          <p:cNvPr id="19" name="Text 17"/>
          <p:cNvSpPr/>
          <p:nvPr/>
        </p:nvSpPr>
        <p:spPr>
          <a:xfrm>
            <a:off x="6407287" y="8296215"/>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DUE</a:t>
            </a:r>
            <a:endParaRPr lang="en-US" sz="1800" dirty="0"/>
          </a:p>
        </p:txBody>
      </p:sp>
      <p:sp>
        <p:nvSpPr>
          <p:cNvPr id="20" name="Text 18"/>
          <p:cNvSpPr/>
          <p:nvPr/>
        </p:nvSpPr>
        <p:spPr>
          <a:xfrm>
            <a:off x="6407287" y="8661834"/>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This week</a:t>
            </a:r>
            <a:endParaRPr lang="en-US" sz="1950" dirty="0"/>
          </a:p>
        </p:txBody>
      </p:sp>
      <p:sp>
        <p:nvSpPr>
          <p:cNvPr id="21" name="Shape 19"/>
          <p:cNvSpPr/>
          <p:nvPr/>
        </p:nvSpPr>
        <p:spPr>
          <a:xfrm>
            <a:off x="9763321" y="1371462"/>
            <a:ext cx="7610337" cy="9244278"/>
          </a:xfrm>
          <a:prstGeom prst="roundRect">
            <a:avLst>
              <a:gd name="adj" fmla="val 501"/>
            </a:avLst>
          </a:prstGeom>
          <a:solidFill>
            <a:srgbClr val="EFECE4"/>
          </a:solidFill>
          <a:ln w="6311">
            <a:solidFill>
              <a:srgbClr val="16241C">
                <a:alpha val="14000"/>
              </a:srgbClr>
            </a:solidFill>
            <a:prstDash val="solid"/>
          </a:ln>
        </p:spPr>
      </p:sp>
      <p:sp>
        <p:nvSpPr>
          <p:cNvPr id="22" name="Text 20"/>
          <p:cNvSpPr/>
          <p:nvPr/>
        </p:nvSpPr>
        <p:spPr>
          <a:xfrm>
            <a:off x="10150632" y="1758772"/>
            <a:ext cx="704078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80" kern="0" dirty="0">
                <a:solidFill>
                  <a:srgbClr val="7C8A82"/>
                </a:solidFill>
                <a:latin typeface="Courier New" pitchFamily="34" charset="0"/>
                <a:ea typeface="Courier New" pitchFamily="34" charset="-122"/>
                <a:cs typeface="Courier New" pitchFamily="34" charset="-120"/>
              </a:rPr>
              <a:t>HOW WE'LL RESOLVE IT</a:t>
            </a:r>
            <a:endParaRPr lang="en-US" sz="1800" dirty="0"/>
          </a:p>
        </p:txBody>
      </p:sp>
      <p:sp>
        <p:nvSpPr>
          <p:cNvPr id="23" name="Text 21"/>
          <p:cNvSpPr/>
          <p:nvPr/>
        </p:nvSpPr>
        <p:spPr>
          <a:xfrm>
            <a:off x="10683972" y="2365473"/>
            <a:ext cx="6364495" cy="662451"/>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Pair walk the 31 task list against the running app, tagging each as</a:t>
            </a:r>
            <a:endParaRPr lang="en-US" sz="1950" dirty="0"/>
          </a:p>
        </p:txBody>
      </p:sp>
      <p:sp>
        <p:nvSpPr>
          <p:cNvPr id="24" name="Text 22"/>
          <p:cNvSpPr/>
          <p:nvPr/>
        </p:nvSpPr>
        <p:spPr>
          <a:xfrm>
            <a:off x="10150632" y="3179634"/>
            <a:ext cx="457200" cy="2811591"/>
          </a:xfrm>
          <a:prstGeom prst="rect">
            <a:avLst/>
          </a:prstGeom>
          <a:noFill/>
          <a:ln/>
        </p:spPr>
        <p:txBody>
          <a:bodyPr wrap="square" lIns="25400" tIns="25400" rIns="25400" bIns="25400" rtlCol="0" anchor="t">
            <a:normAutofit/>
          </a:bodyPr>
          <a:lstStyle/>
          <a:p>
            <a:pPr algn="l" indent="0" marL="0">
              <a:lnSpc>
                <a:spcPct val="140000"/>
              </a:lnSpc>
              <a:buNone/>
            </a:pPr>
            <a:r>
              <a:rPr lang="en-US" sz="1950" i="1" spc="-11" kern="0" dirty="0">
                <a:solidFill>
                  <a:srgbClr val="16241C"/>
                </a:solidFill>
                <a:latin typeface="Arial" pitchFamily="34" charset="0"/>
                <a:ea typeface="Arial" pitchFamily="34" charset="-122"/>
                <a:cs typeface="Arial" pitchFamily="34" charset="-120"/>
              </a:rPr>
              <a:t>done · partial · broken · not started</a:t>
            </a:r>
            <a:endParaRPr lang="en-US" sz="1950" dirty="0"/>
          </a:p>
        </p:txBody>
      </p:sp>
      <p:sp>
        <p:nvSpPr>
          <p:cNvPr id="25" name="Text 23"/>
          <p:cNvSpPr/>
          <p:nvPr/>
        </p:nvSpPr>
        <p:spPr>
          <a:xfrm>
            <a:off x="10683972" y="3211187"/>
            <a:ext cx="143645"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a:t>
            </a:r>
            <a:endParaRPr lang="en-US" sz="1950" dirty="0"/>
          </a:p>
        </p:txBody>
      </p:sp>
      <p:sp>
        <p:nvSpPr>
          <p:cNvPr id="26" name="Text 24"/>
          <p:cNvSpPr/>
          <p:nvPr/>
        </p:nvSpPr>
        <p:spPr>
          <a:xfrm>
            <a:off x="10150632" y="6105465"/>
            <a:ext cx="7040787"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Re-write STATE.md so it reflects reality — once. Then keep it current per merge.</a:t>
            </a:r>
            <a:endParaRPr lang="en-US" sz="1950" dirty="0"/>
          </a:p>
        </p:txBody>
      </p:sp>
      <p:sp>
        <p:nvSpPr>
          <p:cNvPr id="27" name="Text 25"/>
          <p:cNvSpPr/>
          <p:nvPr/>
        </p:nvSpPr>
        <p:spPr>
          <a:xfrm>
            <a:off x="10150632" y="6951179"/>
            <a:ext cx="7040787"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Promote any "partial" task back into the backlog with explicit acceptance criteria.</a:t>
            </a:r>
            <a:endParaRPr lang="en-US" sz="1950" dirty="0"/>
          </a:p>
        </p:txBody>
      </p:sp>
      <p:sp>
        <p:nvSpPr>
          <p:cNvPr id="28" name="Text 26"/>
          <p:cNvSpPr/>
          <p:nvPr/>
        </p:nvSpPr>
        <p:spPr>
          <a:xfrm>
            <a:off x="10150632" y="7796892"/>
            <a:ext cx="7040787"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Flag anything that's drifted into "implemented but not specified" — those are tomorrow's bugs.</a:t>
            </a:r>
            <a:endParaRPr lang="en-US" sz="1950" dirty="0"/>
          </a:p>
        </p:txBody>
      </p:sp>
      <p:sp>
        <p:nvSpPr>
          <p:cNvPr id="29" name="Shape 27"/>
          <p:cNvSpPr/>
          <p:nvPr/>
        </p:nvSpPr>
        <p:spPr>
          <a:xfrm>
            <a:off x="10150632" y="8833007"/>
            <a:ext cx="6835715" cy="9525"/>
          </a:xfrm>
          <a:prstGeom prst="rect">
            <a:avLst/>
          </a:prstGeom>
          <a:solidFill>
            <a:srgbClr val="16241C">
              <a:alpha val="14000"/>
            </a:srgbClr>
          </a:solidFill>
          <a:ln/>
        </p:spPr>
      </p:sp>
      <p:sp>
        <p:nvSpPr>
          <p:cNvPr id="30" name="Text 28"/>
          <p:cNvSpPr/>
          <p:nvPr/>
        </p:nvSpPr>
        <p:spPr>
          <a:xfrm>
            <a:off x="10150632" y="9182060"/>
            <a:ext cx="7040787" cy="1084469"/>
          </a:xfrm>
          <a:prstGeom prst="rect">
            <a:avLst/>
          </a:prstGeom>
          <a:noFill/>
          <a:ln/>
        </p:spPr>
        <p:txBody>
          <a:bodyPr wrap="square" lIns="25400" tIns="25400" rIns="25400" bIns="25400" rtlCol="0" anchor="t">
            <a:normAutofit/>
          </a:bodyPr>
          <a:lstStyle/>
          <a:p>
            <a:pPr algn="l" indent="0" marL="0">
              <a:lnSpc>
                <a:spcPct val="140000"/>
              </a:lnSpc>
              <a:buNone/>
            </a:pPr>
            <a:r>
              <a:rPr lang="en-US" sz="1950" b="1" spc="-11" kern="0" dirty="0">
                <a:solidFill>
                  <a:srgbClr val="16241C"/>
                </a:solidFill>
                <a:latin typeface="Arial" pitchFamily="34" charset="0"/>
                <a:ea typeface="Arial" pitchFamily="34" charset="-122"/>
                <a:cs typeface="Arial" pitchFamily="34" charset="-120"/>
              </a:rPr>
              <a:t>Why now: </a:t>
            </a:r>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you can't run a pilot on code you </a:t>
            </a:r>
            <a:pPr algn="l" indent="0" marL="0">
              <a:lnSpc>
                <a:spcPct val="140000"/>
              </a:lnSpc>
              <a:buNone/>
            </a:pPr>
            <a:r>
              <a:rPr lang="en-US" sz="1950" i="1" spc="-11" kern="0" dirty="0">
                <a:solidFill>
                  <a:srgbClr val="16241C"/>
                </a:solidFill>
                <a:latin typeface="Arial" pitchFamily="34" charset="0"/>
                <a:ea typeface="Arial" pitchFamily="34" charset="-122"/>
                <a:cs typeface="Arial" pitchFamily="34" charset="-120"/>
              </a:rPr>
              <a:t>believe </a:t>
            </a:r>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is complete. The cost of finding out mid-pilot is a stakeholder conversation we don't want to have.</a:t>
            </a:r>
            <a:endParaRPr lang="en-US" sz="1950" dirty="0"/>
          </a:p>
        </p:txBody>
      </p:sp>
      <p:sp>
        <p:nvSpPr>
          <p:cNvPr id="31" name="Shape 29"/>
          <p:cNvSpPr/>
          <p:nvPr/>
        </p:nvSpPr>
        <p:spPr>
          <a:xfrm>
            <a:off x="914341" y="9381730"/>
            <a:ext cx="16459317" cy="9525"/>
          </a:xfrm>
          <a:prstGeom prst="rect">
            <a:avLst/>
          </a:prstGeom>
          <a:solidFill>
            <a:srgbClr val="16241C">
              <a:alpha val="14000"/>
            </a:srgbClr>
          </a:solidFill>
          <a:ln/>
        </p:spPr>
      </p:sp>
      <p:sp>
        <p:nvSpPr>
          <p:cNvPr id="32" name="Text 30"/>
          <p:cNvSpPr/>
          <p:nvPr/>
        </p:nvSpPr>
        <p:spPr>
          <a:xfrm>
            <a:off x="914341" y="9559412"/>
            <a:ext cx="557577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ITEM 2 — STATE.MD VS ACTUAL CODE</a:t>
            </a:r>
            <a:endParaRPr lang="en-US" sz="1800" dirty="0"/>
          </a:p>
        </p:txBody>
      </p:sp>
      <p:sp>
        <p:nvSpPr>
          <p:cNvPr id="33" name="Text 31"/>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05 / 25</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3277021" y="419061"/>
            <a:ext cx="421953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ITEM 3 OF 25 · SECURITY</a:t>
            </a:r>
            <a:endParaRPr lang="en-US" sz="1800" dirty="0"/>
          </a:p>
        </p:txBody>
      </p:sp>
      <p:sp>
        <p:nvSpPr>
          <p:cNvPr id="5" name="Shape 3"/>
          <p:cNvSpPr/>
          <p:nvPr/>
        </p:nvSpPr>
        <p:spPr>
          <a:xfrm>
            <a:off x="914341" y="1371462"/>
            <a:ext cx="1782141" cy="517959"/>
          </a:xfrm>
          <a:prstGeom prst="roundRect">
            <a:avLst>
              <a:gd name="adj" fmla="val 50000"/>
            </a:avLst>
          </a:prstGeom>
          <a:solidFill>
            <a:srgbClr val="B94A2A"/>
          </a:solidFill>
          <a:ln/>
        </p:spPr>
      </p:sp>
      <p:sp>
        <p:nvSpPr>
          <p:cNvPr id="6" name="Text 4"/>
          <p:cNvSpPr/>
          <p:nvPr/>
        </p:nvSpPr>
        <p:spPr>
          <a:xfrm>
            <a:off x="1085712" y="1466712"/>
            <a:ext cx="36411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44" kern="0" dirty="0">
                <a:solidFill>
                  <a:srgbClr val="7C8A82"/>
                </a:solidFill>
                <a:latin typeface="Courier New" pitchFamily="34" charset="0"/>
                <a:ea typeface="Courier New" pitchFamily="34" charset="-122"/>
                <a:cs typeface="Courier New" pitchFamily="34" charset="-120"/>
              </a:rPr>
              <a:t>P0</a:t>
            </a:r>
            <a:endParaRPr lang="en-US" sz="1800" dirty="0"/>
          </a:p>
        </p:txBody>
      </p:sp>
      <p:sp>
        <p:nvSpPr>
          <p:cNvPr id="7" name="Text 5"/>
          <p:cNvSpPr/>
          <p:nvPr/>
        </p:nvSpPr>
        <p:spPr>
          <a:xfrm>
            <a:off x="1468881" y="1485643"/>
            <a:ext cx="113243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FF8F3"/>
                </a:solidFill>
                <a:latin typeface="Courier New" pitchFamily="34" charset="0"/>
                <a:ea typeface="Courier New" pitchFamily="34" charset="-122"/>
                <a:cs typeface="Courier New" pitchFamily="34" charset="-120"/>
              </a:rPr>
              <a:t>BLOCKER</a:t>
            </a:r>
            <a:endParaRPr lang="en-US" sz="1800" dirty="0"/>
          </a:p>
        </p:txBody>
      </p:sp>
      <p:sp>
        <p:nvSpPr>
          <p:cNvPr id="8" name="Shape 6"/>
          <p:cNvSpPr/>
          <p:nvPr/>
        </p:nvSpPr>
        <p:spPr>
          <a:xfrm>
            <a:off x="2867853" y="1544706"/>
            <a:ext cx="9525" cy="171371"/>
          </a:xfrm>
          <a:prstGeom prst="rect">
            <a:avLst/>
          </a:prstGeom>
          <a:solidFill>
            <a:srgbClr val="16241C">
              <a:alpha val="14000"/>
            </a:srgbClr>
          </a:solidFill>
          <a:ln/>
        </p:spPr>
      </p:sp>
      <p:sp>
        <p:nvSpPr>
          <p:cNvPr id="9" name="Text 7"/>
          <p:cNvSpPr/>
          <p:nvPr/>
        </p:nvSpPr>
        <p:spPr>
          <a:xfrm>
            <a:off x="3048690" y="1476178"/>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ITEM 03</a:t>
            </a:r>
            <a:endParaRPr lang="en-US" sz="1800" dirty="0"/>
          </a:p>
        </p:txBody>
      </p:sp>
      <p:sp>
        <p:nvSpPr>
          <p:cNvPr id="10" name="Shape 8"/>
          <p:cNvSpPr/>
          <p:nvPr/>
        </p:nvSpPr>
        <p:spPr>
          <a:xfrm>
            <a:off x="4308238" y="1544706"/>
            <a:ext cx="9525" cy="171371"/>
          </a:xfrm>
          <a:prstGeom prst="rect">
            <a:avLst/>
          </a:prstGeom>
          <a:solidFill>
            <a:srgbClr val="16241C">
              <a:alpha val="14000"/>
            </a:srgbClr>
          </a:solidFill>
          <a:ln/>
        </p:spPr>
      </p:sp>
      <p:sp>
        <p:nvSpPr>
          <p:cNvPr id="11" name="Text 9"/>
          <p:cNvSpPr/>
          <p:nvPr/>
        </p:nvSpPr>
        <p:spPr>
          <a:xfrm>
            <a:off x="4489075" y="1476178"/>
            <a:ext cx="368268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5A51"/>
                </a:solidFill>
                <a:latin typeface="Courier New" pitchFamily="34" charset="0"/>
                <a:ea typeface="Courier New" pitchFamily="34" charset="-122"/>
                <a:cs typeface="Courier New" pitchFamily="34" charset="-120"/>
              </a:rPr>
              <a:t>SECURITY · MULTI-TENANT</a:t>
            </a:r>
            <a:endParaRPr lang="en-US" sz="1800" dirty="0"/>
          </a:p>
        </p:txBody>
      </p:sp>
      <p:sp>
        <p:nvSpPr>
          <p:cNvPr id="12" name="Text 10"/>
          <p:cNvSpPr/>
          <p:nvPr/>
        </p:nvSpPr>
        <p:spPr>
          <a:xfrm>
            <a:off x="914341" y="2194201"/>
            <a:ext cx="8251186" cy="2381191"/>
          </a:xfrm>
          <a:prstGeom prst="rect">
            <a:avLst/>
          </a:prstGeom>
          <a:noFill/>
          <a:ln/>
        </p:spPr>
        <p:txBody>
          <a:bodyPr wrap="square" lIns="25400" tIns="25400" rIns="25400" bIns="25400" rtlCol="0" anchor="t">
            <a:normAutofit/>
          </a:bodyPr>
          <a:lstStyle/>
          <a:p>
            <a:pPr algn="l" indent="0" marL="0">
              <a:lnSpc>
                <a:spcPct val="100000"/>
              </a:lnSpc>
              <a:buNone/>
            </a:pPr>
            <a:r>
              <a:rPr lang="en-US" sz="6150" spc="-123" kern="0" dirty="0">
                <a:solidFill>
                  <a:srgbClr val="16241C"/>
                </a:solidFill>
                <a:latin typeface="Georgia" pitchFamily="34" charset="0"/>
                <a:ea typeface="Georgia" pitchFamily="34" charset="-122"/>
                <a:cs typeface="Georgia" pitchFamily="34" charset="-120"/>
              </a:rPr>
              <a:t>Break tenant isolation in the browser </a:t>
            </a:r>
            <a:pPr algn="l" indent="0" marL="0">
              <a:lnSpc>
                <a:spcPct val="100000"/>
              </a:lnSpc>
              <a:buNone/>
            </a:pPr>
            <a:r>
              <a:rPr lang="en-US" sz="6150" i="1" spc="-123" kern="0" dirty="0">
                <a:solidFill>
                  <a:srgbClr val="1F6F43"/>
                </a:solidFill>
                <a:latin typeface="Georgia" pitchFamily="34" charset="0"/>
                <a:ea typeface="Georgia" pitchFamily="34" charset="-122"/>
                <a:cs typeface="Georgia" pitchFamily="34" charset="-120"/>
              </a:rPr>
              <a:t>before a pilot user does.</a:t>
            </a:r>
            <a:endParaRPr lang="en-US" sz="6150" dirty="0"/>
          </a:p>
        </p:txBody>
      </p:sp>
      <p:sp>
        <p:nvSpPr>
          <p:cNvPr id="13" name="Text 11"/>
          <p:cNvSpPr/>
          <p:nvPr/>
        </p:nvSpPr>
        <p:spPr>
          <a:xfrm>
            <a:off x="914341" y="4842072"/>
            <a:ext cx="7456169" cy="3009781"/>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RLS policies exist on paper but have never been adversarially tested. Sign in as Player A, open the browser console, and try to read Player B's matches with the Supabase client directly. If anything comes back, the policy is wrong.</a:t>
            </a:r>
            <a:endParaRPr lang="en-US" sz="3000" dirty="0"/>
          </a:p>
        </p:txBody>
      </p:sp>
      <p:sp>
        <p:nvSpPr>
          <p:cNvPr id="14" name="Shape 12"/>
          <p:cNvSpPr/>
          <p:nvPr/>
        </p:nvSpPr>
        <p:spPr>
          <a:xfrm>
            <a:off x="914341" y="8118534"/>
            <a:ext cx="8010860" cy="9525"/>
          </a:xfrm>
          <a:prstGeom prst="rect">
            <a:avLst/>
          </a:prstGeom>
          <a:solidFill>
            <a:srgbClr val="16241C">
              <a:alpha val="14000"/>
            </a:srgbClr>
          </a:solidFill>
          <a:ln/>
        </p:spPr>
      </p:sp>
      <p:sp>
        <p:nvSpPr>
          <p:cNvPr id="15" name="Text 13"/>
          <p:cNvSpPr/>
          <p:nvPr/>
        </p:nvSpPr>
        <p:spPr>
          <a:xfrm>
            <a:off x="914341" y="8296215"/>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OWNER</a:t>
            </a:r>
            <a:endParaRPr lang="en-US" sz="1800" dirty="0"/>
          </a:p>
        </p:txBody>
      </p:sp>
      <p:sp>
        <p:nvSpPr>
          <p:cNvPr id="16" name="Text 14"/>
          <p:cNvSpPr/>
          <p:nvPr/>
        </p:nvSpPr>
        <p:spPr>
          <a:xfrm>
            <a:off x="914341" y="8661834"/>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Security reviewer</a:t>
            </a:r>
            <a:endParaRPr lang="en-US" sz="1950" dirty="0"/>
          </a:p>
        </p:txBody>
      </p:sp>
      <p:sp>
        <p:nvSpPr>
          <p:cNvPr id="17" name="Text 15"/>
          <p:cNvSpPr/>
          <p:nvPr/>
        </p:nvSpPr>
        <p:spPr>
          <a:xfrm>
            <a:off x="3660814" y="8296215"/>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EFFORT</a:t>
            </a:r>
            <a:endParaRPr lang="en-US" sz="1800" dirty="0"/>
          </a:p>
        </p:txBody>
      </p:sp>
      <p:sp>
        <p:nvSpPr>
          <p:cNvPr id="18" name="Text 16"/>
          <p:cNvSpPr/>
          <p:nvPr/>
        </p:nvSpPr>
        <p:spPr>
          <a:xfrm>
            <a:off x="3660814" y="8661834"/>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 3 hours</a:t>
            </a:r>
            <a:endParaRPr lang="en-US" sz="1950" dirty="0"/>
          </a:p>
        </p:txBody>
      </p:sp>
      <p:sp>
        <p:nvSpPr>
          <p:cNvPr id="19" name="Text 17"/>
          <p:cNvSpPr/>
          <p:nvPr/>
        </p:nvSpPr>
        <p:spPr>
          <a:xfrm>
            <a:off x="6407287" y="8296215"/>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DUE</a:t>
            </a:r>
            <a:endParaRPr lang="en-US" sz="1800" dirty="0"/>
          </a:p>
        </p:txBody>
      </p:sp>
      <p:sp>
        <p:nvSpPr>
          <p:cNvPr id="20" name="Text 18"/>
          <p:cNvSpPr/>
          <p:nvPr/>
        </p:nvSpPr>
        <p:spPr>
          <a:xfrm>
            <a:off x="6407287" y="8661834"/>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This week</a:t>
            </a:r>
            <a:endParaRPr lang="en-US" sz="1950" dirty="0"/>
          </a:p>
        </p:txBody>
      </p:sp>
      <p:sp>
        <p:nvSpPr>
          <p:cNvPr id="21" name="Shape 19"/>
          <p:cNvSpPr/>
          <p:nvPr/>
        </p:nvSpPr>
        <p:spPr>
          <a:xfrm>
            <a:off x="9763321" y="1371462"/>
            <a:ext cx="7610337" cy="8686878"/>
          </a:xfrm>
          <a:prstGeom prst="roundRect">
            <a:avLst>
              <a:gd name="adj" fmla="val 501"/>
            </a:avLst>
          </a:prstGeom>
          <a:solidFill>
            <a:srgbClr val="EFECE4"/>
          </a:solidFill>
          <a:ln w="6311">
            <a:solidFill>
              <a:srgbClr val="16241C">
                <a:alpha val="14000"/>
              </a:srgbClr>
            </a:solidFill>
            <a:prstDash val="solid"/>
          </a:ln>
        </p:spPr>
      </p:sp>
      <p:sp>
        <p:nvSpPr>
          <p:cNvPr id="22" name="Text 20"/>
          <p:cNvSpPr/>
          <p:nvPr/>
        </p:nvSpPr>
        <p:spPr>
          <a:xfrm>
            <a:off x="10150632" y="1758772"/>
            <a:ext cx="704078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80" kern="0" dirty="0">
                <a:solidFill>
                  <a:srgbClr val="7C8A82"/>
                </a:solidFill>
                <a:latin typeface="Courier New" pitchFamily="34" charset="0"/>
                <a:ea typeface="Courier New" pitchFamily="34" charset="-122"/>
                <a:cs typeface="Courier New" pitchFamily="34" charset="-120"/>
              </a:rPr>
              <a:t>HOW WE'LL RESOLVE IT</a:t>
            </a:r>
            <a:endParaRPr lang="en-US" sz="1800" dirty="0"/>
          </a:p>
        </p:txBody>
      </p:sp>
      <p:sp>
        <p:nvSpPr>
          <p:cNvPr id="23" name="Text 21"/>
          <p:cNvSpPr/>
          <p:nvPr/>
        </p:nvSpPr>
        <p:spPr>
          <a:xfrm>
            <a:off x="10150632" y="2333921"/>
            <a:ext cx="7040787"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Seed two players, two coaches, two clubs into a staging project.</a:t>
            </a:r>
            <a:endParaRPr lang="en-US" sz="1950" dirty="0"/>
          </a:p>
        </p:txBody>
      </p:sp>
      <p:sp>
        <p:nvSpPr>
          <p:cNvPr id="24" name="Text 22"/>
          <p:cNvSpPr/>
          <p:nvPr/>
        </p:nvSpPr>
        <p:spPr>
          <a:xfrm>
            <a:off x="10683972" y="3211187"/>
            <a:ext cx="5963027"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Run the manual cross-tenant probe in the browser for</a:t>
            </a:r>
            <a:endParaRPr lang="en-US" sz="1950" dirty="0"/>
          </a:p>
        </p:txBody>
      </p:sp>
      <p:sp>
        <p:nvSpPr>
          <p:cNvPr id="25" name="Text 23"/>
          <p:cNvSpPr/>
          <p:nvPr/>
        </p:nvSpPr>
        <p:spPr>
          <a:xfrm>
            <a:off x="10150632" y="3696114"/>
            <a:ext cx="457200" cy="384786"/>
          </a:xfrm>
          <a:prstGeom prst="rect">
            <a:avLst/>
          </a:prstGeom>
          <a:noFill/>
          <a:ln/>
        </p:spPr>
        <p:txBody>
          <a:bodyPr wrap="square" lIns="25400" tIns="25400" rIns="25400" bIns="25400" rtlCol="0" anchor="t">
            <a:normAutofit/>
          </a:bodyPr>
          <a:lstStyle/>
          <a:p>
            <a:pPr algn="l" indent="0" marL="0">
              <a:lnSpc>
                <a:spcPct val="140000"/>
              </a:lnSpc>
              <a:buNone/>
            </a:pPr>
            <a:r>
              <a:rPr lang="en-US" sz="1950" i="1" spc="-11" kern="0" dirty="0">
                <a:solidFill>
                  <a:srgbClr val="16241C"/>
                </a:solidFill>
                <a:latin typeface="Arial" pitchFamily="34" charset="0"/>
                <a:ea typeface="Arial" pitchFamily="34" charset="-122"/>
                <a:cs typeface="Arial" pitchFamily="34" charset="-120"/>
              </a:rPr>
              <a:t>every</a:t>
            </a:r>
            <a:endParaRPr lang="en-US" sz="1950" dirty="0"/>
          </a:p>
        </p:txBody>
      </p:sp>
      <p:sp>
        <p:nvSpPr>
          <p:cNvPr id="26" name="Text 24"/>
          <p:cNvSpPr/>
          <p:nvPr/>
        </p:nvSpPr>
        <p:spPr>
          <a:xfrm>
            <a:off x="10683972" y="3727667"/>
            <a:ext cx="6046408" cy="662451"/>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table: matches, assessments, squad_players, profiles, invites.</a:t>
            </a:r>
            <a:endParaRPr lang="en-US" sz="1950" dirty="0"/>
          </a:p>
        </p:txBody>
      </p:sp>
      <p:sp>
        <p:nvSpPr>
          <p:cNvPr id="27" name="Text 25"/>
          <p:cNvSpPr/>
          <p:nvPr/>
        </p:nvSpPr>
        <p:spPr>
          <a:xfrm>
            <a:off x="10150632" y="4541827"/>
            <a:ext cx="7040787"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For every leak, tighten the policy and re-run. Codify each probe as a test fixture.</a:t>
            </a:r>
            <a:endParaRPr lang="en-US" sz="1950" dirty="0"/>
          </a:p>
        </p:txBody>
      </p:sp>
      <p:sp>
        <p:nvSpPr>
          <p:cNvPr id="28" name="Text 26"/>
          <p:cNvSpPr/>
          <p:nvPr/>
        </p:nvSpPr>
        <p:spPr>
          <a:xfrm>
            <a:off x="10150632" y="5387541"/>
            <a:ext cx="7040787"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Keep a "tenant isolation" checklist alongside every future schema change.</a:t>
            </a:r>
            <a:endParaRPr lang="en-US" sz="1950" dirty="0"/>
          </a:p>
        </p:txBody>
      </p:sp>
      <p:sp>
        <p:nvSpPr>
          <p:cNvPr id="29" name="Shape 27"/>
          <p:cNvSpPr/>
          <p:nvPr/>
        </p:nvSpPr>
        <p:spPr>
          <a:xfrm>
            <a:off x="10150632" y="6423656"/>
            <a:ext cx="6835715" cy="9525"/>
          </a:xfrm>
          <a:prstGeom prst="rect">
            <a:avLst/>
          </a:prstGeom>
          <a:solidFill>
            <a:srgbClr val="16241C">
              <a:alpha val="14000"/>
            </a:srgbClr>
          </a:solidFill>
          <a:ln/>
        </p:spPr>
      </p:sp>
      <p:sp>
        <p:nvSpPr>
          <p:cNvPr id="30" name="Text 28"/>
          <p:cNvSpPr/>
          <p:nvPr/>
        </p:nvSpPr>
        <p:spPr>
          <a:xfrm>
            <a:off x="10150632" y="6772708"/>
            <a:ext cx="7040787" cy="737783"/>
          </a:xfrm>
          <a:prstGeom prst="rect">
            <a:avLst/>
          </a:prstGeom>
          <a:noFill/>
          <a:ln/>
        </p:spPr>
        <p:txBody>
          <a:bodyPr wrap="square" lIns="25400" tIns="25400" rIns="25400" bIns="25400" rtlCol="0" anchor="t">
            <a:normAutofit/>
          </a:bodyPr>
          <a:lstStyle/>
          <a:p>
            <a:pPr algn="l" indent="0" marL="0">
              <a:lnSpc>
                <a:spcPct val="140000"/>
              </a:lnSpc>
              <a:buNone/>
            </a:pPr>
            <a:r>
              <a:rPr lang="en-US" sz="1950" b="1" spc="-11" kern="0" dirty="0">
                <a:solidFill>
                  <a:srgbClr val="16241C"/>
                </a:solidFill>
                <a:latin typeface="Arial" pitchFamily="34" charset="0"/>
                <a:ea typeface="Arial" pitchFamily="34" charset="-122"/>
                <a:cs typeface="Arial" pitchFamily="34" charset="-120"/>
              </a:rPr>
              <a:t>Why now: </a:t>
            </a:r>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RLS is the only thing standing between Player A and Player B's data. We've never confirmed it actually does.</a:t>
            </a:r>
            <a:endParaRPr lang="en-US" sz="1950" dirty="0"/>
          </a:p>
        </p:txBody>
      </p:sp>
      <p:sp>
        <p:nvSpPr>
          <p:cNvPr id="31" name="Shape 29"/>
          <p:cNvSpPr/>
          <p:nvPr/>
        </p:nvSpPr>
        <p:spPr>
          <a:xfrm>
            <a:off x="914341" y="9381730"/>
            <a:ext cx="16459317" cy="9525"/>
          </a:xfrm>
          <a:prstGeom prst="rect">
            <a:avLst/>
          </a:prstGeom>
          <a:solidFill>
            <a:srgbClr val="16241C">
              <a:alpha val="14000"/>
            </a:srgbClr>
          </a:solidFill>
          <a:ln/>
        </p:spPr>
      </p:sp>
      <p:sp>
        <p:nvSpPr>
          <p:cNvPr id="32" name="Text 30"/>
          <p:cNvSpPr/>
          <p:nvPr/>
        </p:nvSpPr>
        <p:spPr>
          <a:xfrm>
            <a:off x="914341" y="9559412"/>
            <a:ext cx="406882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ITEM 3 — RLS ISOLATION</a:t>
            </a:r>
            <a:endParaRPr lang="en-US" sz="1800" dirty="0"/>
          </a:p>
        </p:txBody>
      </p:sp>
      <p:sp>
        <p:nvSpPr>
          <p:cNvPr id="33" name="Text 31"/>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06 / 25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2399163" y="419061"/>
            <a:ext cx="512373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ITEM 4 OF 25 · ERROR HANDLING</a:t>
            </a:r>
            <a:endParaRPr lang="en-US" sz="1800" dirty="0"/>
          </a:p>
        </p:txBody>
      </p:sp>
      <p:sp>
        <p:nvSpPr>
          <p:cNvPr id="5" name="Shape 3"/>
          <p:cNvSpPr/>
          <p:nvPr/>
        </p:nvSpPr>
        <p:spPr>
          <a:xfrm>
            <a:off x="914341" y="1371462"/>
            <a:ext cx="1782141" cy="517959"/>
          </a:xfrm>
          <a:prstGeom prst="roundRect">
            <a:avLst>
              <a:gd name="adj" fmla="val 50000"/>
            </a:avLst>
          </a:prstGeom>
          <a:solidFill>
            <a:srgbClr val="B94A2A"/>
          </a:solidFill>
          <a:ln/>
        </p:spPr>
      </p:sp>
      <p:sp>
        <p:nvSpPr>
          <p:cNvPr id="6" name="Text 4"/>
          <p:cNvSpPr/>
          <p:nvPr/>
        </p:nvSpPr>
        <p:spPr>
          <a:xfrm>
            <a:off x="1085712" y="1466712"/>
            <a:ext cx="36411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44" kern="0" dirty="0">
                <a:solidFill>
                  <a:srgbClr val="7C8A82"/>
                </a:solidFill>
                <a:latin typeface="Courier New" pitchFamily="34" charset="0"/>
                <a:ea typeface="Courier New" pitchFamily="34" charset="-122"/>
                <a:cs typeface="Courier New" pitchFamily="34" charset="-120"/>
              </a:rPr>
              <a:t>P0</a:t>
            </a:r>
            <a:endParaRPr lang="en-US" sz="1800" dirty="0"/>
          </a:p>
        </p:txBody>
      </p:sp>
      <p:sp>
        <p:nvSpPr>
          <p:cNvPr id="7" name="Text 5"/>
          <p:cNvSpPr/>
          <p:nvPr/>
        </p:nvSpPr>
        <p:spPr>
          <a:xfrm>
            <a:off x="1468881" y="1485643"/>
            <a:ext cx="113243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FF8F3"/>
                </a:solidFill>
                <a:latin typeface="Courier New" pitchFamily="34" charset="0"/>
                <a:ea typeface="Courier New" pitchFamily="34" charset="-122"/>
                <a:cs typeface="Courier New" pitchFamily="34" charset="-120"/>
              </a:rPr>
              <a:t>BLOCKER</a:t>
            </a:r>
            <a:endParaRPr lang="en-US" sz="1800" dirty="0"/>
          </a:p>
        </p:txBody>
      </p:sp>
      <p:sp>
        <p:nvSpPr>
          <p:cNvPr id="8" name="Shape 6"/>
          <p:cNvSpPr/>
          <p:nvPr/>
        </p:nvSpPr>
        <p:spPr>
          <a:xfrm>
            <a:off x="2867853" y="1544706"/>
            <a:ext cx="9525" cy="171371"/>
          </a:xfrm>
          <a:prstGeom prst="rect">
            <a:avLst/>
          </a:prstGeom>
          <a:solidFill>
            <a:srgbClr val="16241C">
              <a:alpha val="14000"/>
            </a:srgbClr>
          </a:solidFill>
          <a:ln/>
        </p:spPr>
      </p:sp>
      <p:sp>
        <p:nvSpPr>
          <p:cNvPr id="9" name="Text 7"/>
          <p:cNvSpPr/>
          <p:nvPr/>
        </p:nvSpPr>
        <p:spPr>
          <a:xfrm>
            <a:off x="3048690" y="1476178"/>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ITEM 04</a:t>
            </a:r>
            <a:endParaRPr lang="en-US" sz="1800" dirty="0"/>
          </a:p>
        </p:txBody>
      </p:sp>
      <p:sp>
        <p:nvSpPr>
          <p:cNvPr id="10" name="Shape 8"/>
          <p:cNvSpPr/>
          <p:nvPr/>
        </p:nvSpPr>
        <p:spPr>
          <a:xfrm>
            <a:off x="4308238" y="1544706"/>
            <a:ext cx="9525" cy="171371"/>
          </a:xfrm>
          <a:prstGeom prst="rect">
            <a:avLst/>
          </a:prstGeom>
          <a:solidFill>
            <a:srgbClr val="16241C">
              <a:alpha val="14000"/>
            </a:srgbClr>
          </a:solidFill>
          <a:ln/>
        </p:spPr>
      </p:sp>
      <p:sp>
        <p:nvSpPr>
          <p:cNvPr id="11" name="Text 9"/>
          <p:cNvSpPr/>
          <p:nvPr/>
        </p:nvSpPr>
        <p:spPr>
          <a:xfrm>
            <a:off x="4489075" y="1476178"/>
            <a:ext cx="225255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5A51"/>
                </a:solidFill>
                <a:latin typeface="Courier New" pitchFamily="34" charset="0"/>
                <a:ea typeface="Courier New" pitchFamily="34" charset="-122"/>
                <a:cs typeface="Courier New" pitchFamily="34" charset="-120"/>
              </a:rPr>
              <a:t>ERROR HANDLING</a:t>
            </a:r>
            <a:endParaRPr lang="en-US" sz="1800" dirty="0"/>
          </a:p>
        </p:txBody>
      </p:sp>
      <p:sp>
        <p:nvSpPr>
          <p:cNvPr id="12" name="Text 10"/>
          <p:cNvSpPr/>
          <p:nvPr/>
        </p:nvSpPr>
        <p:spPr>
          <a:xfrm>
            <a:off x="914341" y="2194201"/>
            <a:ext cx="8251186" cy="2381191"/>
          </a:xfrm>
          <a:prstGeom prst="rect">
            <a:avLst/>
          </a:prstGeom>
          <a:noFill/>
          <a:ln/>
        </p:spPr>
        <p:txBody>
          <a:bodyPr wrap="square" lIns="25400" tIns="25400" rIns="25400" bIns="25400" rtlCol="0" anchor="t">
            <a:normAutofit/>
          </a:bodyPr>
          <a:lstStyle/>
          <a:p>
            <a:pPr algn="l" indent="0" marL="0">
              <a:lnSpc>
                <a:spcPct val="100000"/>
              </a:lnSpc>
              <a:buNone/>
            </a:pPr>
            <a:r>
              <a:rPr lang="en-US" sz="6150" spc="-123" kern="0" dirty="0">
                <a:solidFill>
                  <a:srgbClr val="16241C"/>
                </a:solidFill>
                <a:latin typeface="Georgia" pitchFamily="34" charset="0"/>
                <a:ea typeface="Georgia" pitchFamily="34" charset="-122"/>
                <a:cs typeface="Georgia" pitchFamily="34" charset="-120"/>
              </a:rPr>
              <a:t>Wrap the app in an error boundary </a:t>
            </a:r>
            <a:pPr algn="l" indent="0" marL="0">
              <a:lnSpc>
                <a:spcPct val="100000"/>
              </a:lnSpc>
              <a:buNone/>
            </a:pPr>
            <a:r>
              <a:rPr lang="en-US" sz="6150" i="1" spc="-123" kern="0" dirty="0">
                <a:solidFill>
                  <a:srgbClr val="1F6F43"/>
                </a:solidFill>
                <a:latin typeface="Georgia" pitchFamily="34" charset="0"/>
                <a:ea typeface="Georgia" pitchFamily="34" charset="-122"/>
                <a:cs typeface="Georgia" pitchFamily="34" charset="-120"/>
              </a:rPr>
              <a:t>before a single bad input lands.</a:t>
            </a:r>
            <a:endParaRPr lang="en-US" sz="6150" dirty="0"/>
          </a:p>
        </p:txBody>
      </p:sp>
      <p:sp>
        <p:nvSpPr>
          <p:cNvPr id="13" name="Text 11"/>
          <p:cNvSpPr/>
          <p:nvPr/>
        </p:nvSpPr>
        <p:spPr>
          <a:xfrm>
            <a:off x="914341" y="4842072"/>
            <a:ext cx="7456169" cy="2514501"/>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There is no React error boundary anywhere in the tree. The first unhandled exception from a pilot user blanks the entire screen — and we will hear about it from them, not from logs.</a:t>
            </a:r>
            <a:endParaRPr lang="en-US" sz="3000" dirty="0"/>
          </a:p>
        </p:txBody>
      </p:sp>
      <p:sp>
        <p:nvSpPr>
          <p:cNvPr id="14" name="Shape 12"/>
          <p:cNvSpPr/>
          <p:nvPr/>
        </p:nvSpPr>
        <p:spPr>
          <a:xfrm>
            <a:off x="914341" y="7623253"/>
            <a:ext cx="8010860" cy="9525"/>
          </a:xfrm>
          <a:prstGeom prst="rect">
            <a:avLst/>
          </a:prstGeom>
          <a:solidFill>
            <a:srgbClr val="16241C">
              <a:alpha val="14000"/>
            </a:srgbClr>
          </a:solidFill>
          <a:ln/>
        </p:spPr>
      </p:sp>
      <p:sp>
        <p:nvSpPr>
          <p:cNvPr id="15" name="Text 13"/>
          <p:cNvSpPr/>
          <p:nvPr/>
        </p:nvSpPr>
        <p:spPr>
          <a:xfrm>
            <a:off x="914341" y="7800935"/>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OWNER</a:t>
            </a:r>
            <a:endParaRPr lang="en-US" sz="1800" dirty="0"/>
          </a:p>
        </p:txBody>
      </p:sp>
      <p:sp>
        <p:nvSpPr>
          <p:cNvPr id="16" name="Text 14"/>
          <p:cNvSpPr/>
          <p:nvPr/>
        </p:nvSpPr>
        <p:spPr>
          <a:xfrm>
            <a:off x="914341" y="8166553"/>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Frontend lead</a:t>
            </a:r>
            <a:endParaRPr lang="en-US" sz="1950" dirty="0"/>
          </a:p>
        </p:txBody>
      </p:sp>
      <p:sp>
        <p:nvSpPr>
          <p:cNvPr id="17" name="Text 15"/>
          <p:cNvSpPr/>
          <p:nvPr/>
        </p:nvSpPr>
        <p:spPr>
          <a:xfrm>
            <a:off x="3660814" y="7800935"/>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EFFORT</a:t>
            </a:r>
            <a:endParaRPr lang="en-US" sz="1800" dirty="0"/>
          </a:p>
        </p:txBody>
      </p:sp>
      <p:sp>
        <p:nvSpPr>
          <p:cNvPr id="18" name="Text 16"/>
          <p:cNvSpPr/>
          <p:nvPr/>
        </p:nvSpPr>
        <p:spPr>
          <a:xfrm>
            <a:off x="3660814" y="8166553"/>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 4 hours</a:t>
            </a:r>
            <a:endParaRPr lang="en-US" sz="1950" dirty="0"/>
          </a:p>
        </p:txBody>
      </p:sp>
      <p:sp>
        <p:nvSpPr>
          <p:cNvPr id="19" name="Text 17"/>
          <p:cNvSpPr/>
          <p:nvPr/>
        </p:nvSpPr>
        <p:spPr>
          <a:xfrm>
            <a:off x="6407287" y="7800935"/>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DUE</a:t>
            </a:r>
            <a:endParaRPr lang="en-US" sz="1800" dirty="0"/>
          </a:p>
        </p:txBody>
      </p:sp>
      <p:sp>
        <p:nvSpPr>
          <p:cNvPr id="20" name="Text 18"/>
          <p:cNvSpPr/>
          <p:nvPr/>
        </p:nvSpPr>
        <p:spPr>
          <a:xfrm>
            <a:off x="6407287" y="8166553"/>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This week</a:t>
            </a:r>
            <a:endParaRPr lang="en-US" sz="1950" dirty="0"/>
          </a:p>
        </p:txBody>
      </p:sp>
      <p:sp>
        <p:nvSpPr>
          <p:cNvPr id="21" name="Shape 19"/>
          <p:cNvSpPr/>
          <p:nvPr/>
        </p:nvSpPr>
        <p:spPr>
          <a:xfrm>
            <a:off x="9763321" y="1371462"/>
            <a:ext cx="7610337" cy="8686878"/>
          </a:xfrm>
          <a:prstGeom prst="roundRect">
            <a:avLst>
              <a:gd name="adj" fmla="val 501"/>
            </a:avLst>
          </a:prstGeom>
          <a:solidFill>
            <a:srgbClr val="EFECE4"/>
          </a:solidFill>
          <a:ln w="6311">
            <a:solidFill>
              <a:srgbClr val="16241C">
                <a:alpha val="14000"/>
              </a:srgbClr>
            </a:solidFill>
            <a:prstDash val="solid"/>
          </a:ln>
        </p:spPr>
      </p:sp>
      <p:sp>
        <p:nvSpPr>
          <p:cNvPr id="22" name="Text 20"/>
          <p:cNvSpPr/>
          <p:nvPr/>
        </p:nvSpPr>
        <p:spPr>
          <a:xfrm>
            <a:off x="10150632" y="1758772"/>
            <a:ext cx="704078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80" kern="0" dirty="0">
                <a:solidFill>
                  <a:srgbClr val="7C8A82"/>
                </a:solidFill>
                <a:latin typeface="Courier New" pitchFamily="34" charset="0"/>
                <a:ea typeface="Courier New" pitchFamily="34" charset="-122"/>
                <a:cs typeface="Courier New" pitchFamily="34" charset="-120"/>
              </a:rPr>
              <a:t>HOW WE'LL RESOLVE IT</a:t>
            </a:r>
            <a:endParaRPr lang="en-US" sz="1800" dirty="0"/>
          </a:p>
        </p:txBody>
      </p:sp>
      <p:sp>
        <p:nvSpPr>
          <p:cNvPr id="23" name="Text 21"/>
          <p:cNvSpPr/>
          <p:nvPr/>
        </p:nvSpPr>
        <p:spPr>
          <a:xfrm>
            <a:off x="9977277" y="2333921"/>
            <a:ext cx="7085270" cy="3615299"/>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Add a global error boundary at the router root with a graceful "something broke, here's how to get back" screen.</a:t>
            </a:r>
            <a:endParaRPr lang="en-US" sz="1950" dirty="0"/>
          </a:p>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Add per-route boundaries for the three role homes so one screen's crash doesn't take the app with it.</a:t>
            </a:r>
            <a:endParaRPr lang="en-US" sz="1950" dirty="0"/>
          </a:p>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Wire boundary errors into the logging sink (see P3 item 21) the moment that exists.</a:t>
            </a:r>
            <a:endParaRPr lang="en-US" sz="1950" dirty="0"/>
          </a:p>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Trigger a synthetic error in dev to confirm the fallback actually renders.</a:t>
            </a:r>
            <a:endParaRPr lang="en-US" sz="1950" dirty="0"/>
          </a:p>
        </p:txBody>
      </p:sp>
      <p:sp>
        <p:nvSpPr>
          <p:cNvPr id="24" name="Shape 22"/>
          <p:cNvSpPr/>
          <p:nvPr/>
        </p:nvSpPr>
        <p:spPr>
          <a:xfrm>
            <a:off x="10150632" y="6253862"/>
            <a:ext cx="6835715" cy="9525"/>
          </a:xfrm>
          <a:prstGeom prst="rect">
            <a:avLst/>
          </a:prstGeom>
          <a:solidFill>
            <a:srgbClr val="16241C">
              <a:alpha val="14000"/>
            </a:srgbClr>
          </a:solidFill>
          <a:ln/>
        </p:spPr>
      </p:sp>
      <p:sp>
        <p:nvSpPr>
          <p:cNvPr id="25" name="Text 23"/>
          <p:cNvSpPr/>
          <p:nvPr/>
        </p:nvSpPr>
        <p:spPr>
          <a:xfrm>
            <a:off x="10150632" y="6602915"/>
            <a:ext cx="7040787" cy="737783"/>
          </a:xfrm>
          <a:prstGeom prst="rect">
            <a:avLst/>
          </a:prstGeom>
          <a:noFill/>
          <a:ln/>
        </p:spPr>
        <p:txBody>
          <a:bodyPr wrap="square" lIns="25400" tIns="25400" rIns="25400" bIns="25400" rtlCol="0" anchor="t">
            <a:normAutofit/>
          </a:bodyPr>
          <a:lstStyle/>
          <a:p>
            <a:pPr algn="l" indent="0" marL="0">
              <a:lnSpc>
                <a:spcPct val="140000"/>
              </a:lnSpc>
              <a:buNone/>
            </a:pPr>
            <a:r>
              <a:rPr lang="en-US" sz="1950" b="1" spc="-11" kern="0" dirty="0">
                <a:solidFill>
                  <a:srgbClr val="16241C"/>
                </a:solidFill>
                <a:latin typeface="Arial" pitchFamily="34" charset="0"/>
                <a:ea typeface="Arial" pitchFamily="34" charset="-122"/>
                <a:cs typeface="Arial" pitchFamily="34" charset="-120"/>
              </a:rPr>
              <a:t>Why now: </a:t>
            </a:r>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one corrupt match record from a pilot user shouldn't end their session — or our trial.</a:t>
            </a:r>
            <a:endParaRPr lang="en-US" sz="1950" dirty="0"/>
          </a:p>
        </p:txBody>
      </p:sp>
      <p:sp>
        <p:nvSpPr>
          <p:cNvPr id="26" name="Shape 24"/>
          <p:cNvSpPr/>
          <p:nvPr/>
        </p:nvSpPr>
        <p:spPr>
          <a:xfrm>
            <a:off x="914341" y="9381730"/>
            <a:ext cx="16459317" cy="9525"/>
          </a:xfrm>
          <a:prstGeom prst="rect">
            <a:avLst/>
          </a:prstGeom>
          <a:solidFill>
            <a:srgbClr val="16241C">
              <a:alpha val="14000"/>
            </a:srgbClr>
          </a:solidFill>
          <a:ln/>
        </p:spPr>
      </p:sp>
      <p:sp>
        <p:nvSpPr>
          <p:cNvPr id="27" name="Text 25"/>
          <p:cNvSpPr/>
          <p:nvPr/>
        </p:nvSpPr>
        <p:spPr>
          <a:xfrm>
            <a:off x="914341" y="9559412"/>
            <a:ext cx="421953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ITEM 4 — ERROR BOUNDARY</a:t>
            </a:r>
            <a:endParaRPr lang="en-US" sz="1800" dirty="0"/>
          </a:p>
        </p:txBody>
      </p:sp>
      <p:sp>
        <p:nvSpPr>
          <p:cNvPr id="28" name="Text 26"/>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07 / 25</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3277021" y="419061"/>
            <a:ext cx="421953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ITEM 5 OF 25 · DATABASE</a:t>
            </a:r>
            <a:endParaRPr lang="en-US" sz="1800" dirty="0"/>
          </a:p>
        </p:txBody>
      </p:sp>
      <p:sp>
        <p:nvSpPr>
          <p:cNvPr id="5" name="Shape 3"/>
          <p:cNvSpPr/>
          <p:nvPr/>
        </p:nvSpPr>
        <p:spPr>
          <a:xfrm>
            <a:off x="914341" y="1371462"/>
            <a:ext cx="1782141" cy="517959"/>
          </a:xfrm>
          <a:prstGeom prst="roundRect">
            <a:avLst>
              <a:gd name="adj" fmla="val 50000"/>
            </a:avLst>
          </a:prstGeom>
          <a:solidFill>
            <a:srgbClr val="B94A2A"/>
          </a:solidFill>
          <a:ln/>
        </p:spPr>
      </p:sp>
      <p:sp>
        <p:nvSpPr>
          <p:cNvPr id="6" name="Text 4"/>
          <p:cNvSpPr/>
          <p:nvPr/>
        </p:nvSpPr>
        <p:spPr>
          <a:xfrm>
            <a:off x="1085712" y="1466712"/>
            <a:ext cx="36411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44" kern="0" dirty="0">
                <a:solidFill>
                  <a:srgbClr val="7C8A82"/>
                </a:solidFill>
                <a:latin typeface="Courier New" pitchFamily="34" charset="0"/>
                <a:ea typeface="Courier New" pitchFamily="34" charset="-122"/>
                <a:cs typeface="Courier New" pitchFamily="34" charset="-120"/>
              </a:rPr>
              <a:t>P0</a:t>
            </a:r>
            <a:endParaRPr lang="en-US" sz="1800" dirty="0"/>
          </a:p>
        </p:txBody>
      </p:sp>
      <p:sp>
        <p:nvSpPr>
          <p:cNvPr id="7" name="Text 5"/>
          <p:cNvSpPr/>
          <p:nvPr/>
        </p:nvSpPr>
        <p:spPr>
          <a:xfrm>
            <a:off x="1468881" y="1485643"/>
            <a:ext cx="113243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FF8F3"/>
                </a:solidFill>
                <a:latin typeface="Courier New" pitchFamily="34" charset="0"/>
                <a:ea typeface="Courier New" pitchFamily="34" charset="-122"/>
                <a:cs typeface="Courier New" pitchFamily="34" charset="-120"/>
              </a:rPr>
              <a:t>BLOCKER</a:t>
            </a:r>
            <a:endParaRPr lang="en-US" sz="1800" dirty="0"/>
          </a:p>
        </p:txBody>
      </p:sp>
      <p:sp>
        <p:nvSpPr>
          <p:cNvPr id="8" name="Shape 6"/>
          <p:cNvSpPr/>
          <p:nvPr/>
        </p:nvSpPr>
        <p:spPr>
          <a:xfrm>
            <a:off x="2867853" y="1544706"/>
            <a:ext cx="9525" cy="171371"/>
          </a:xfrm>
          <a:prstGeom prst="rect">
            <a:avLst/>
          </a:prstGeom>
          <a:solidFill>
            <a:srgbClr val="16241C">
              <a:alpha val="14000"/>
            </a:srgbClr>
          </a:solidFill>
          <a:ln/>
        </p:spPr>
      </p:sp>
      <p:sp>
        <p:nvSpPr>
          <p:cNvPr id="9" name="Text 7"/>
          <p:cNvSpPr/>
          <p:nvPr/>
        </p:nvSpPr>
        <p:spPr>
          <a:xfrm>
            <a:off x="3048690" y="1476178"/>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ITEM 05</a:t>
            </a:r>
            <a:endParaRPr lang="en-US" sz="1800" dirty="0"/>
          </a:p>
        </p:txBody>
      </p:sp>
      <p:sp>
        <p:nvSpPr>
          <p:cNvPr id="10" name="Shape 8"/>
          <p:cNvSpPr/>
          <p:nvPr/>
        </p:nvSpPr>
        <p:spPr>
          <a:xfrm>
            <a:off x="4308238" y="1544706"/>
            <a:ext cx="9525" cy="171371"/>
          </a:xfrm>
          <a:prstGeom prst="rect">
            <a:avLst/>
          </a:prstGeom>
          <a:solidFill>
            <a:srgbClr val="16241C">
              <a:alpha val="14000"/>
            </a:srgbClr>
          </a:solidFill>
          <a:ln/>
        </p:spPr>
      </p:sp>
      <p:sp>
        <p:nvSpPr>
          <p:cNvPr id="11" name="Text 9"/>
          <p:cNvSpPr/>
          <p:nvPr/>
        </p:nvSpPr>
        <p:spPr>
          <a:xfrm>
            <a:off x="4489075" y="1476178"/>
            <a:ext cx="352262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5A51"/>
                </a:solidFill>
                <a:latin typeface="Courier New" pitchFamily="34" charset="0"/>
                <a:ea typeface="Courier New" pitchFamily="34" charset="-122"/>
                <a:cs typeface="Courier New" pitchFamily="34" charset="-120"/>
              </a:rPr>
              <a:t>DATABASE · PERFORMANCE</a:t>
            </a:r>
            <a:endParaRPr lang="en-US" sz="1800" dirty="0"/>
          </a:p>
        </p:txBody>
      </p:sp>
      <p:sp>
        <p:nvSpPr>
          <p:cNvPr id="12" name="Text 10"/>
          <p:cNvSpPr/>
          <p:nvPr/>
        </p:nvSpPr>
        <p:spPr>
          <a:xfrm>
            <a:off x="914341" y="2194201"/>
            <a:ext cx="8251186" cy="1600160"/>
          </a:xfrm>
          <a:prstGeom prst="rect">
            <a:avLst/>
          </a:prstGeom>
          <a:noFill/>
          <a:ln/>
        </p:spPr>
        <p:txBody>
          <a:bodyPr wrap="square" lIns="25400" tIns="25400" rIns="25400" bIns="25400" rtlCol="0" anchor="t">
            <a:normAutofit/>
          </a:bodyPr>
          <a:lstStyle/>
          <a:p>
            <a:pPr algn="l" indent="0" marL="0">
              <a:lnSpc>
                <a:spcPct val="100000"/>
              </a:lnSpc>
              <a:buNone/>
            </a:pPr>
            <a:r>
              <a:rPr lang="en-US" sz="6150" spc="-123" kern="0" dirty="0">
                <a:solidFill>
                  <a:srgbClr val="16241C"/>
                </a:solidFill>
                <a:latin typeface="Georgia" pitchFamily="34" charset="0"/>
                <a:ea typeface="Georgia" pitchFamily="34" charset="-122"/>
                <a:cs typeface="Georgia" pitchFamily="34" charset="-120"/>
              </a:rPr>
              <a:t>Add indexes </a:t>
            </a:r>
            <a:pPr algn="l" indent="0" marL="0">
              <a:lnSpc>
                <a:spcPct val="100000"/>
              </a:lnSpc>
              <a:buNone/>
            </a:pPr>
            <a:r>
              <a:rPr lang="en-US" sz="6150" i="1" spc="-123" kern="0" dirty="0">
                <a:solidFill>
                  <a:srgbClr val="1F6F43"/>
                </a:solidFill>
                <a:latin typeface="Georgia" pitchFamily="34" charset="0"/>
                <a:ea typeface="Georgia" pitchFamily="34" charset="-122"/>
                <a:cs typeface="Georgia" pitchFamily="34" charset="-120"/>
              </a:rPr>
              <a:t>before thirty users hit a full table scan.</a:t>
            </a:r>
            <a:endParaRPr lang="en-US" sz="6150" dirty="0"/>
          </a:p>
        </p:txBody>
      </p:sp>
      <p:sp>
        <p:nvSpPr>
          <p:cNvPr id="13" name="Text 11"/>
          <p:cNvSpPr/>
          <p:nvPr/>
        </p:nvSpPr>
        <p:spPr>
          <a:xfrm>
            <a:off x="914341" y="4061042"/>
            <a:ext cx="7456169" cy="3069534"/>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Open Supabase Studio and inspect indexes on </a:t>
            </a:r>
            <a:pPr algn="l" indent="0" marL="0">
              <a:lnSpc>
                <a:spcPct val="130000"/>
              </a:lnSpc>
              <a:buNone/>
            </a:pPr>
            <a:r>
              <a:rPr lang="en-US" sz="2700" spc="-11" kern="0" dirty="0">
                <a:solidFill>
                  <a:srgbClr val="4A5A51"/>
                </a:solidFill>
                <a:highlight>
                  <a:srgbClr val="EFECE4"/>
                </a:highlight>
                <a:latin typeface="Courier New" pitchFamily="34" charset="0"/>
                <a:ea typeface="Courier New" pitchFamily="34" charset="-122"/>
                <a:cs typeface="Courier New" pitchFamily="34" charset="-120"/>
              </a:rPr>
              <a:t>matches</a:t>
            </a:r>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 </a:t>
            </a:r>
            <a:pPr algn="l" indent="0" marL="0">
              <a:lnSpc>
                <a:spcPct val="130000"/>
              </a:lnSpc>
              <a:buNone/>
            </a:pPr>
            <a:r>
              <a:rPr lang="en-US" sz="2700" spc="-11" kern="0" dirty="0">
                <a:solidFill>
                  <a:srgbClr val="4A5A51"/>
                </a:solidFill>
                <a:highlight>
                  <a:srgbClr val="EFECE4"/>
                </a:highlight>
                <a:latin typeface="Courier New" pitchFamily="34" charset="0"/>
                <a:ea typeface="Courier New" pitchFamily="34" charset="-122"/>
                <a:cs typeface="Courier New" pitchFamily="34" charset="-120"/>
              </a:rPr>
              <a:t>coach_assessments</a:t>
            </a:r>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 and </a:t>
            </a:r>
            <a:pPr algn="l" indent="0" marL="0">
              <a:lnSpc>
                <a:spcPct val="130000"/>
              </a:lnSpc>
              <a:buNone/>
            </a:pPr>
            <a:r>
              <a:rPr lang="en-US" sz="2700" spc="-11" kern="0" dirty="0">
                <a:solidFill>
                  <a:srgbClr val="4A5A51"/>
                </a:solidFill>
                <a:highlight>
                  <a:srgbClr val="EFECE4"/>
                </a:highlight>
                <a:latin typeface="Courier New" pitchFamily="34" charset="0"/>
                <a:ea typeface="Courier New" pitchFamily="34" charset="-122"/>
                <a:cs typeface="Courier New" pitchFamily="34" charset="-120"/>
              </a:rPr>
              <a:t>squad_players </a:t>
            </a:r>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 Expectation: none exist beyond primary keys. Every list view is currently a full table scan.</a:t>
            </a:r>
            <a:endParaRPr lang="en-US" sz="3000" dirty="0"/>
          </a:p>
        </p:txBody>
      </p:sp>
      <p:sp>
        <p:nvSpPr>
          <p:cNvPr id="14" name="Shape 12"/>
          <p:cNvSpPr/>
          <p:nvPr/>
        </p:nvSpPr>
        <p:spPr>
          <a:xfrm>
            <a:off x="914341" y="7397257"/>
            <a:ext cx="8010860" cy="9525"/>
          </a:xfrm>
          <a:prstGeom prst="rect">
            <a:avLst/>
          </a:prstGeom>
          <a:solidFill>
            <a:srgbClr val="16241C">
              <a:alpha val="14000"/>
            </a:srgbClr>
          </a:solidFill>
          <a:ln/>
        </p:spPr>
      </p:sp>
      <p:sp>
        <p:nvSpPr>
          <p:cNvPr id="15" name="Text 13"/>
          <p:cNvSpPr/>
          <p:nvPr/>
        </p:nvSpPr>
        <p:spPr>
          <a:xfrm>
            <a:off x="914341" y="7574938"/>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OWNER</a:t>
            </a:r>
            <a:endParaRPr lang="en-US" sz="1800" dirty="0"/>
          </a:p>
        </p:txBody>
      </p:sp>
      <p:sp>
        <p:nvSpPr>
          <p:cNvPr id="16" name="Text 14"/>
          <p:cNvSpPr/>
          <p:nvPr/>
        </p:nvSpPr>
        <p:spPr>
          <a:xfrm>
            <a:off x="914341" y="7940556"/>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Backend lead</a:t>
            </a:r>
            <a:endParaRPr lang="en-US" sz="1950" dirty="0"/>
          </a:p>
        </p:txBody>
      </p:sp>
      <p:sp>
        <p:nvSpPr>
          <p:cNvPr id="17" name="Text 15"/>
          <p:cNvSpPr/>
          <p:nvPr/>
        </p:nvSpPr>
        <p:spPr>
          <a:xfrm>
            <a:off x="3660814" y="7574938"/>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EFFORT</a:t>
            </a:r>
            <a:endParaRPr lang="en-US" sz="1800" dirty="0"/>
          </a:p>
        </p:txBody>
      </p:sp>
      <p:sp>
        <p:nvSpPr>
          <p:cNvPr id="18" name="Text 16"/>
          <p:cNvSpPr/>
          <p:nvPr/>
        </p:nvSpPr>
        <p:spPr>
          <a:xfrm>
            <a:off x="3660814" y="7940556"/>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½ day with migrations</a:t>
            </a:r>
            <a:endParaRPr lang="en-US" sz="1950" dirty="0"/>
          </a:p>
        </p:txBody>
      </p:sp>
      <p:sp>
        <p:nvSpPr>
          <p:cNvPr id="19" name="Text 17"/>
          <p:cNvSpPr/>
          <p:nvPr/>
        </p:nvSpPr>
        <p:spPr>
          <a:xfrm>
            <a:off x="6407287" y="7574938"/>
            <a:ext cx="25941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DUE</a:t>
            </a:r>
            <a:endParaRPr lang="en-US" sz="1800" dirty="0"/>
          </a:p>
        </p:txBody>
      </p:sp>
      <p:sp>
        <p:nvSpPr>
          <p:cNvPr id="20" name="Text 18"/>
          <p:cNvSpPr/>
          <p:nvPr/>
        </p:nvSpPr>
        <p:spPr>
          <a:xfrm>
            <a:off x="6407287" y="7940556"/>
            <a:ext cx="2594113"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This week</a:t>
            </a:r>
            <a:endParaRPr lang="en-US" sz="1950" dirty="0"/>
          </a:p>
        </p:txBody>
      </p:sp>
      <p:sp>
        <p:nvSpPr>
          <p:cNvPr id="21" name="Shape 19"/>
          <p:cNvSpPr/>
          <p:nvPr/>
        </p:nvSpPr>
        <p:spPr>
          <a:xfrm>
            <a:off x="9763321" y="1371462"/>
            <a:ext cx="7610337" cy="8686878"/>
          </a:xfrm>
          <a:prstGeom prst="roundRect">
            <a:avLst>
              <a:gd name="adj" fmla="val 501"/>
            </a:avLst>
          </a:prstGeom>
          <a:solidFill>
            <a:srgbClr val="EFECE4"/>
          </a:solidFill>
          <a:ln w="6311">
            <a:solidFill>
              <a:srgbClr val="16241C">
                <a:alpha val="14000"/>
              </a:srgbClr>
            </a:solidFill>
            <a:prstDash val="solid"/>
          </a:ln>
        </p:spPr>
      </p:sp>
      <p:sp>
        <p:nvSpPr>
          <p:cNvPr id="22" name="Text 20"/>
          <p:cNvSpPr/>
          <p:nvPr/>
        </p:nvSpPr>
        <p:spPr>
          <a:xfrm>
            <a:off x="10150632" y="1758772"/>
            <a:ext cx="704078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80" kern="0" dirty="0">
                <a:solidFill>
                  <a:srgbClr val="7C8A82"/>
                </a:solidFill>
                <a:latin typeface="Courier New" pitchFamily="34" charset="0"/>
                <a:ea typeface="Courier New" pitchFamily="34" charset="-122"/>
                <a:cs typeface="Courier New" pitchFamily="34" charset="-120"/>
              </a:rPr>
              <a:t>HOW WE'LL RESOLVE IT</a:t>
            </a:r>
            <a:endParaRPr lang="en-US" sz="1800" dirty="0"/>
          </a:p>
        </p:txBody>
      </p:sp>
      <p:sp>
        <p:nvSpPr>
          <p:cNvPr id="23" name="Text 21"/>
          <p:cNvSpPr/>
          <p:nvPr/>
        </p:nvSpPr>
        <p:spPr>
          <a:xfrm>
            <a:off x="10683972" y="2365473"/>
            <a:ext cx="2996037"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Add a foreign-key index on</a:t>
            </a:r>
            <a:endParaRPr lang="en-US" sz="1950" dirty="0"/>
          </a:p>
        </p:txBody>
      </p:sp>
      <p:sp>
        <p:nvSpPr>
          <p:cNvPr id="24" name="Shape 22"/>
          <p:cNvSpPr/>
          <p:nvPr/>
        </p:nvSpPr>
        <p:spPr>
          <a:xfrm>
            <a:off x="10150632" y="2875544"/>
            <a:ext cx="381000" cy="362660"/>
          </a:xfrm>
          <a:prstGeom prst="roundRect">
            <a:avLst>
              <a:gd name="adj" fmla="val 15759"/>
            </a:avLst>
          </a:prstGeom>
          <a:solidFill>
            <a:srgbClr val="EFECE4"/>
          </a:solidFill>
          <a:ln w="6311">
            <a:solidFill>
              <a:srgbClr val="16241C">
                <a:alpha val="8000"/>
              </a:srgbClr>
            </a:solidFill>
            <a:prstDash val="solid"/>
          </a:ln>
        </p:spPr>
      </p:sp>
      <p:sp>
        <p:nvSpPr>
          <p:cNvPr id="25" name="Text 23"/>
          <p:cNvSpPr/>
          <p:nvPr/>
        </p:nvSpPr>
        <p:spPr>
          <a:xfrm>
            <a:off x="10233142" y="2900905"/>
            <a:ext cx="292179" cy="350039"/>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16241C"/>
                </a:solidFill>
                <a:latin typeface="Courier New" pitchFamily="34" charset="0"/>
                <a:ea typeface="Courier New" pitchFamily="34" charset="-122"/>
                <a:cs typeface="Courier New" pitchFamily="34" charset="-120"/>
              </a:rPr>
              <a:t>matches.player_id</a:t>
            </a:r>
            <a:endParaRPr lang="en-US" sz="1755" dirty="0"/>
          </a:p>
        </p:txBody>
      </p:sp>
      <p:sp>
        <p:nvSpPr>
          <p:cNvPr id="26" name="Text 24"/>
          <p:cNvSpPr/>
          <p:nvPr/>
        </p:nvSpPr>
        <p:spPr>
          <a:xfrm>
            <a:off x="10683972" y="2881953"/>
            <a:ext cx="485105"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and</a:t>
            </a:r>
            <a:endParaRPr lang="en-US" sz="1950" dirty="0"/>
          </a:p>
        </p:txBody>
      </p:sp>
      <p:sp>
        <p:nvSpPr>
          <p:cNvPr id="27" name="Shape 25"/>
          <p:cNvSpPr/>
          <p:nvPr/>
        </p:nvSpPr>
        <p:spPr>
          <a:xfrm>
            <a:off x="10150632" y="3415688"/>
            <a:ext cx="381000" cy="362660"/>
          </a:xfrm>
          <a:prstGeom prst="roundRect">
            <a:avLst>
              <a:gd name="adj" fmla="val 15759"/>
            </a:avLst>
          </a:prstGeom>
          <a:solidFill>
            <a:srgbClr val="EFECE4"/>
          </a:solidFill>
          <a:ln w="6311">
            <a:solidFill>
              <a:srgbClr val="16241C">
                <a:alpha val="8000"/>
              </a:srgbClr>
            </a:solidFill>
            <a:prstDash val="solid"/>
          </a:ln>
        </p:spPr>
      </p:sp>
      <p:sp>
        <p:nvSpPr>
          <p:cNvPr id="28" name="Text 26"/>
          <p:cNvSpPr/>
          <p:nvPr/>
        </p:nvSpPr>
        <p:spPr>
          <a:xfrm>
            <a:off x="10233142" y="3441049"/>
            <a:ext cx="292179" cy="350039"/>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16241C"/>
                </a:solidFill>
                <a:latin typeface="Courier New" pitchFamily="34" charset="0"/>
                <a:ea typeface="Courier New" pitchFamily="34" charset="-122"/>
                <a:cs typeface="Courier New" pitchFamily="34" charset="-120"/>
              </a:rPr>
              <a:t>matches.created_at</a:t>
            </a:r>
            <a:endParaRPr lang="en-US" sz="1755" dirty="0"/>
          </a:p>
        </p:txBody>
      </p:sp>
      <p:sp>
        <p:nvSpPr>
          <p:cNvPr id="29" name="Text 27"/>
          <p:cNvSpPr/>
          <p:nvPr/>
        </p:nvSpPr>
        <p:spPr>
          <a:xfrm>
            <a:off x="10683972" y="3422098"/>
            <a:ext cx="2084536"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for history queries.</a:t>
            </a:r>
            <a:endParaRPr lang="en-US" sz="1950" dirty="0"/>
          </a:p>
        </p:txBody>
      </p:sp>
      <p:sp>
        <p:nvSpPr>
          <p:cNvPr id="30" name="Text 28"/>
          <p:cNvSpPr/>
          <p:nvPr/>
        </p:nvSpPr>
        <p:spPr>
          <a:xfrm>
            <a:off x="10683972" y="3962242"/>
            <a:ext cx="674915"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Index</a:t>
            </a:r>
            <a:endParaRPr lang="en-US" sz="1950" dirty="0"/>
          </a:p>
        </p:txBody>
      </p:sp>
      <p:sp>
        <p:nvSpPr>
          <p:cNvPr id="31" name="Shape 29"/>
          <p:cNvSpPr/>
          <p:nvPr/>
        </p:nvSpPr>
        <p:spPr>
          <a:xfrm>
            <a:off x="10150632" y="4472312"/>
            <a:ext cx="381000" cy="362660"/>
          </a:xfrm>
          <a:prstGeom prst="roundRect">
            <a:avLst>
              <a:gd name="adj" fmla="val 15759"/>
            </a:avLst>
          </a:prstGeom>
          <a:solidFill>
            <a:srgbClr val="EFECE4"/>
          </a:solidFill>
          <a:ln w="6311">
            <a:solidFill>
              <a:srgbClr val="16241C">
                <a:alpha val="8000"/>
              </a:srgbClr>
            </a:solidFill>
            <a:prstDash val="solid"/>
          </a:ln>
        </p:spPr>
      </p:sp>
      <p:sp>
        <p:nvSpPr>
          <p:cNvPr id="32" name="Text 30"/>
          <p:cNvSpPr/>
          <p:nvPr/>
        </p:nvSpPr>
        <p:spPr>
          <a:xfrm>
            <a:off x="10233142" y="4497673"/>
            <a:ext cx="292179" cy="350039"/>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16241C"/>
                </a:solidFill>
                <a:latin typeface="Courier New" pitchFamily="34" charset="0"/>
                <a:ea typeface="Courier New" pitchFamily="34" charset="-122"/>
                <a:cs typeface="Courier New" pitchFamily="34" charset="-120"/>
              </a:rPr>
              <a:t>coach_assessments.player_id</a:t>
            </a:r>
            <a:endParaRPr lang="en-US" sz="1755" dirty="0"/>
          </a:p>
        </p:txBody>
      </p:sp>
      <p:sp>
        <p:nvSpPr>
          <p:cNvPr id="33" name="Text 31"/>
          <p:cNvSpPr/>
          <p:nvPr/>
        </p:nvSpPr>
        <p:spPr>
          <a:xfrm>
            <a:off x="10683972" y="4478722"/>
            <a:ext cx="1742484"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 composite on</a:t>
            </a:r>
            <a:endParaRPr lang="en-US" sz="1950" dirty="0"/>
          </a:p>
        </p:txBody>
      </p:sp>
      <p:sp>
        <p:nvSpPr>
          <p:cNvPr id="34" name="Shape 32"/>
          <p:cNvSpPr/>
          <p:nvPr/>
        </p:nvSpPr>
        <p:spPr>
          <a:xfrm>
            <a:off x="10150632" y="5012457"/>
            <a:ext cx="381000" cy="674638"/>
          </a:xfrm>
          <a:prstGeom prst="roundRect">
            <a:avLst>
              <a:gd name="adj" fmla="val 15000"/>
            </a:avLst>
          </a:prstGeom>
          <a:solidFill>
            <a:srgbClr val="EFECE4"/>
          </a:solidFill>
          <a:ln w="6311">
            <a:solidFill>
              <a:srgbClr val="16241C">
                <a:alpha val="8000"/>
              </a:srgbClr>
            </a:solidFill>
            <a:prstDash val="solid"/>
          </a:ln>
        </p:spPr>
      </p:sp>
      <p:sp>
        <p:nvSpPr>
          <p:cNvPr id="35" name="Text 33"/>
          <p:cNvSpPr/>
          <p:nvPr/>
        </p:nvSpPr>
        <p:spPr>
          <a:xfrm>
            <a:off x="10233142" y="5037817"/>
            <a:ext cx="292179" cy="662017"/>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16241C"/>
                </a:solidFill>
                <a:latin typeface="Courier New" pitchFamily="34" charset="0"/>
                <a:ea typeface="Courier New" pitchFamily="34" charset="-122"/>
                <a:cs typeface="Courier New" pitchFamily="34" charset="-120"/>
              </a:rPr>
              <a:t>(coach_id, created_at)</a:t>
            </a:r>
            <a:endParaRPr lang="en-US" sz="1755" dirty="0"/>
          </a:p>
        </p:txBody>
      </p:sp>
      <p:sp>
        <p:nvSpPr>
          <p:cNvPr id="36" name="Text 34"/>
          <p:cNvSpPr/>
          <p:nvPr/>
        </p:nvSpPr>
        <p:spPr>
          <a:xfrm>
            <a:off x="10683972" y="5018866"/>
            <a:ext cx="143645" cy="315764"/>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a:t>
            </a:r>
            <a:endParaRPr lang="en-US" sz="1950" dirty="0"/>
          </a:p>
        </p:txBody>
      </p:sp>
      <p:sp>
        <p:nvSpPr>
          <p:cNvPr id="37" name="Text 35"/>
          <p:cNvSpPr/>
          <p:nvPr/>
        </p:nvSpPr>
        <p:spPr>
          <a:xfrm>
            <a:off x="10683972" y="5870989"/>
            <a:ext cx="674915" cy="315764"/>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Index</a:t>
            </a:r>
            <a:endParaRPr lang="en-US" sz="1950" dirty="0"/>
          </a:p>
        </p:txBody>
      </p:sp>
      <p:sp>
        <p:nvSpPr>
          <p:cNvPr id="38" name="Shape 36"/>
          <p:cNvSpPr/>
          <p:nvPr/>
        </p:nvSpPr>
        <p:spPr>
          <a:xfrm>
            <a:off x="10150632" y="6381059"/>
            <a:ext cx="381000" cy="362660"/>
          </a:xfrm>
          <a:prstGeom prst="roundRect">
            <a:avLst>
              <a:gd name="adj" fmla="val 15759"/>
            </a:avLst>
          </a:prstGeom>
          <a:solidFill>
            <a:srgbClr val="EFECE4"/>
          </a:solidFill>
          <a:ln w="6311">
            <a:solidFill>
              <a:srgbClr val="16241C">
                <a:alpha val="8000"/>
              </a:srgbClr>
            </a:solidFill>
            <a:prstDash val="solid"/>
          </a:ln>
        </p:spPr>
      </p:sp>
      <p:sp>
        <p:nvSpPr>
          <p:cNvPr id="39" name="Text 37"/>
          <p:cNvSpPr/>
          <p:nvPr/>
        </p:nvSpPr>
        <p:spPr>
          <a:xfrm>
            <a:off x="10233142" y="6406420"/>
            <a:ext cx="292179" cy="350039"/>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16241C"/>
                </a:solidFill>
                <a:latin typeface="Courier New" pitchFamily="34" charset="0"/>
                <a:ea typeface="Courier New" pitchFamily="34" charset="-122"/>
                <a:cs typeface="Courier New" pitchFamily="34" charset="-120"/>
              </a:rPr>
              <a:t>squad_players.squad_id</a:t>
            </a:r>
            <a:endParaRPr lang="en-US" sz="1755" dirty="0"/>
          </a:p>
        </p:txBody>
      </p:sp>
      <p:sp>
        <p:nvSpPr>
          <p:cNvPr id="40" name="Text 38"/>
          <p:cNvSpPr/>
          <p:nvPr/>
        </p:nvSpPr>
        <p:spPr>
          <a:xfrm>
            <a:off x="10683972" y="6387468"/>
            <a:ext cx="485105"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and</a:t>
            </a:r>
            <a:endParaRPr lang="en-US" sz="1950" dirty="0"/>
          </a:p>
        </p:txBody>
      </p:sp>
      <p:sp>
        <p:nvSpPr>
          <p:cNvPr id="41" name="Shape 39"/>
          <p:cNvSpPr/>
          <p:nvPr/>
        </p:nvSpPr>
        <p:spPr>
          <a:xfrm>
            <a:off x="10150632" y="6921204"/>
            <a:ext cx="381000" cy="362660"/>
          </a:xfrm>
          <a:prstGeom prst="roundRect">
            <a:avLst>
              <a:gd name="adj" fmla="val 15759"/>
            </a:avLst>
          </a:prstGeom>
          <a:solidFill>
            <a:srgbClr val="EFECE4"/>
          </a:solidFill>
          <a:ln w="6311">
            <a:solidFill>
              <a:srgbClr val="16241C">
                <a:alpha val="8000"/>
              </a:srgbClr>
            </a:solidFill>
            <a:prstDash val="solid"/>
          </a:ln>
        </p:spPr>
      </p:sp>
      <p:sp>
        <p:nvSpPr>
          <p:cNvPr id="42" name="Text 40"/>
          <p:cNvSpPr/>
          <p:nvPr/>
        </p:nvSpPr>
        <p:spPr>
          <a:xfrm>
            <a:off x="10233142" y="6946564"/>
            <a:ext cx="292179" cy="350039"/>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16241C"/>
                </a:solidFill>
                <a:latin typeface="Courier New" pitchFamily="34" charset="0"/>
                <a:ea typeface="Courier New" pitchFamily="34" charset="-122"/>
                <a:cs typeface="Courier New" pitchFamily="34" charset="-120"/>
              </a:rPr>
              <a:t>squad_players.player_id</a:t>
            </a:r>
            <a:endParaRPr lang="en-US" sz="1755" dirty="0"/>
          </a:p>
        </p:txBody>
      </p:sp>
      <p:sp>
        <p:nvSpPr>
          <p:cNvPr id="43" name="Text 41"/>
          <p:cNvSpPr/>
          <p:nvPr/>
        </p:nvSpPr>
        <p:spPr>
          <a:xfrm>
            <a:off x="10683972" y="6927613"/>
            <a:ext cx="3051286" cy="315765"/>
          </a:xfrm>
          <a:prstGeom prst="rect">
            <a:avLst/>
          </a:prstGeom>
          <a:noFill/>
          <a:ln/>
        </p:spPr>
        <p:txBody>
          <a:bodyPr wrap="square" lIns="0" tIns="0" rIns="0" bIns="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 both sides of the lookup.</a:t>
            </a:r>
            <a:endParaRPr lang="en-US" sz="1950" dirty="0"/>
          </a:p>
        </p:txBody>
      </p:sp>
      <p:sp>
        <p:nvSpPr>
          <p:cNvPr id="44" name="Text 42"/>
          <p:cNvSpPr/>
          <p:nvPr/>
        </p:nvSpPr>
        <p:spPr>
          <a:xfrm>
            <a:off x="10150632" y="7436204"/>
            <a:ext cx="7040787"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Re-run the worst three queries with EXPLAIN; confirm we're hitting indexes, not seq scans.</a:t>
            </a:r>
            <a:endParaRPr lang="en-US" sz="1950" dirty="0"/>
          </a:p>
        </p:txBody>
      </p:sp>
      <p:sp>
        <p:nvSpPr>
          <p:cNvPr id="45" name="Shape 43"/>
          <p:cNvSpPr/>
          <p:nvPr/>
        </p:nvSpPr>
        <p:spPr>
          <a:xfrm>
            <a:off x="10150632" y="8472319"/>
            <a:ext cx="6835715" cy="9525"/>
          </a:xfrm>
          <a:prstGeom prst="rect">
            <a:avLst/>
          </a:prstGeom>
          <a:solidFill>
            <a:srgbClr val="16241C">
              <a:alpha val="14000"/>
            </a:srgbClr>
          </a:solidFill>
          <a:ln/>
        </p:spPr>
      </p:sp>
      <p:sp>
        <p:nvSpPr>
          <p:cNvPr id="46" name="Text 44"/>
          <p:cNvSpPr/>
          <p:nvPr/>
        </p:nvSpPr>
        <p:spPr>
          <a:xfrm>
            <a:off x="10150632" y="8821372"/>
            <a:ext cx="7040787" cy="737783"/>
          </a:xfrm>
          <a:prstGeom prst="rect">
            <a:avLst/>
          </a:prstGeom>
          <a:noFill/>
          <a:ln/>
        </p:spPr>
        <p:txBody>
          <a:bodyPr wrap="square" lIns="25400" tIns="25400" rIns="25400" bIns="25400" rtlCol="0" anchor="t">
            <a:normAutofit/>
          </a:bodyPr>
          <a:lstStyle/>
          <a:p>
            <a:pPr algn="l" indent="0" marL="0">
              <a:lnSpc>
                <a:spcPct val="140000"/>
              </a:lnSpc>
              <a:buNone/>
            </a:pPr>
            <a:r>
              <a:rPr lang="en-US" sz="1950" b="1" spc="-11" kern="0" dirty="0">
                <a:solidFill>
                  <a:srgbClr val="16241C"/>
                </a:solidFill>
                <a:latin typeface="Arial" pitchFamily="34" charset="0"/>
                <a:ea typeface="Arial" pitchFamily="34" charset="-122"/>
                <a:cs typeface="Arial" pitchFamily="34" charset="-120"/>
              </a:rPr>
              <a:t>Why now: </a:t>
            </a:r>
            <a:pPr algn="l" indent="0" marL="0">
              <a:lnSpc>
                <a:spcPct val="140000"/>
              </a:lnSpc>
              <a:buNone/>
            </a:pPr>
            <a:r>
              <a:rPr lang="en-US" sz="1950" spc="-11" kern="0" dirty="0">
                <a:solidFill>
                  <a:srgbClr val="16241C"/>
                </a:solidFill>
                <a:latin typeface="Arial" pitchFamily="34" charset="0"/>
                <a:ea typeface="Arial" pitchFamily="34" charset="-122"/>
                <a:cs typeface="Arial" pitchFamily="34" charset="-120"/>
              </a:rPr>
              <a:t>indexes are cheap before there's data. They become a planned-migration conversation later.</a:t>
            </a:r>
            <a:endParaRPr lang="en-US" sz="1950" dirty="0"/>
          </a:p>
        </p:txBody>
      </p:sp>
      <p:sp>
        <p:nvSpPr>
          <p:cNvPr id="47" name="Shape 45"/>
          <p:cNvSpPr/>
          <p:nvPr/>
        </p:nvSpPr>
        <p:spPr>
          <a:xfrm>
            <a:off x="914341" y="9381730"/>
            <a:ext cx="16459317" cy="9525"/>
          </a:xfrm>
          <a:prstGeom prst="rect">
            <a:avLst/>
          </a:prstGeom>
          <a:solidFill>
            <a:srgbClr val="16241C">
              <a:alpha val="14000"/>
            </a:srgbClr>
          </a:solidFill>
          <a:ln/>
        </p:spPr>
      </p:sp>
      <p:sp>
        <p:nvSpPr>
          <p:cNvPr id="48" name="Text 46"/>
          <p:cNvSpPr/>
          <p:nvPr/>
        </p:nvSpPr>
        <p:spPr>
          <a:xfrm>
            <a:off x="914341" y="9559412"/>
            <a:ext cx="452096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ITEM 5 — DATABASE INDEXES</a:t>
            </a:r>
            <a:endParaRPr lang="en-US" sz="1800" dirty="0"/>
          </a:p>
        </p:txBody>
      </p:sp>
      <p:sp>
        <p:nvSpPr>
          <p:cNvPr id="49" name="Text 47"/>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08 / 25</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4447432" y="419061"/>
            <a:ext cx="301401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RECAP · 09 / 25</a:t>
            </a:r>
            <a:endParaRPr lang="en-US" sz="1800" dirty="0"/>
          </a:p>
        </p:txBody>
      </p:sp>
      <p:sp>
        <p:nvSpPr>
          <p:cNvPr id="5" name="Text 3"/>
          <p:cNvSpPr/>
          <p:nvPr/>
        </p:nvSpPr>
        <p:spPr>
          <a:xfrm>
            <a:off x="914341" y="1219121"/>
            <a:ext cx="1471612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P0 · RECAP</a:t>
            </a:r>
            <a:endParaRPr lang="en-US" sz="1800" dirty="0"/>
          </a:p>
        </p:txBody>
      </p:sp>
      <p:sp>
        <p:nvSpPr>
          <p:cNvPr id="6" name="Text 4"/>
          <p:cNvSpPr/>
          <p:nvPr/>
        </p:nvSpPr>
        <p:spPr>
          <a:xfrm>
            <a:off x="914341" y="1737178"/>
            <a:ext cx="14716124" cy="1598780"/>
          </a:xfrm>
          <a:prstGeom prst="rect">
            <a:avLst/>
          </a:prstGeom>
          <a:noFill/>
          <a:ln/>
        </p:spPr>
        <p:txBody>
          <a:bodyPr wrap="square" lIns="25400" tIns="25400" rIns="25400" bIns="25400" rtlCol="0" anchor="t">
            <a:normAutofit/>
          </a:bodyPr>
          <a:lstStyle/>
          <a:p>
            <a:pPr algn="l" indent="0" marL="0">
              <a:lnSpc>
                <a:spcPct val="102000"/>
              </a:lnSpc>
              <a:buNone/>
            </a:pPr>
            <a:r>
              <a:rPr lang="en-US" sz="6000" spc="-120" kern="0" dirty="0">
                <a:solidFill>
                  <a:srgbClr val="16241C"/>
                </a:solidFill>
                <a:latin typeface="Georgia" pitchFamily="34" charset="0"/>
                <a:ea typeface="Georgia" pitchFamily="34" charset="-122"/>
                <a:cs typeface="Georgia" pitchFamily="34" charset="-120"/>
              </a:rPr>
              <a:t>Five items, four owners, </a:t>
            </a:r>
            <a:pPr algn="l" indent="0" marL="0">
              <a:lnSpc>
                <a:spcPct val="102000"/>
              </a:lnSpc>
              <a:buNone/>
            </a:pPr>
            <a:r>
              <a:rPr lang="en-US" sz="6000" i="1" spc="-120" kern="0" dirty="0">
                <a:solidFill>
                  <a:srgbClr val="1F6F43"/>
                </a:solidFill>
                <a:latin typeface="Georgia" pitchFamily="34" charset="0"/>
                <a:ea typeface="Georgia" pitchFamily="34" charset="-122"/>
                <a:cs typeface="Georgia" pitchFamily="34" charset="-120"/>
              </a:rPr>
              <a:t>one week </a:t>
            </a:r>
            <a:pPr algn="l" indent="0" marL="0">
              <a:lnSpc>
                <a:spcPct val="102000"/>
              </a:lnSpc>
              <a:buNone/>
            </a:pPr>
            <a:r>
              <a:rPr lang="en-US" sz="6000" spc="-120" kern="0" dirty="0">
                <a:solidFill>
                  <a:srgbClr val="16241C"/>
                </a:solidFill>
                <a:latin typeface="Georgia" pitchFamily="34" charset="0"/>
                <a:ea typeface="Georgia" pitchFamily="34" charset="-122"/>
                <a:cs typeface="Georgia" pitchFamily="34" charset="-120"/>
              </a:rPr>
              <a:t>to settle them all.</a:t>
            </a:r>
            <a:endParaRPr lang="en-US" sz="6000" dirty="0"/>
          </a:p>
        </p:txBody>
      </p:sp>
      <p:sp>
        <p:nvSpPr>
          <p:cNvPr id="7" name="Shape 5"/>
          <p:cNvSpPr/>
          <p:nvPr/>
        </p:nvSpPr>
        <p:spPr>
          <a:xfrm>
            <a:off x="914341" y="3831199"/>
            <a:ext cx="16459317" cy="9525"/>
          </a:xfrm>
          <a:prstGeom prst="rect">
            <a:avLst/>
          </a:prstGeom>
          <a:solidFill>
            <a:srgbClr val="16241C"/>
          </a:solidFill>
          <a:ln/>
        </p:spPr>
      </p:sp>
      <p:sp>
        <p:nvSpPr>
          <p:cNvPr id="8" name="Shape 6"/>
          <p:cNvSpPr/>
          <p:nvPr/>
        </p:nvSpPr>
        <p:spPr>
          <a:xfrm>
            <a:off x="914341" y="4488779"/>
            <a:ext cx="16459317" cy="9525"/>
          </a:xfrm>
          <a:prstGeom prst="rect">
            <a:avLst/>
          </a:prstGeom>
          <a:solidFill>
            <a:srgbClr val="16241C">
              <a:alpha val="14000"/>
            </a:srgbClr>
          </a:solidFill>
          <a:ln/>
        </p:spPr>
      </p:sp>
      <p:sp>
        <p:nvSpPr>
          <p:cNvPr id="9" name="Text 7"/>
          <p:cNvSpPr/>
          <p:nvPr/>
        </p:nvSpPr>
        <p:spPr>
          <a:xfrm>
            <a:off x="1028621" y="4008881"/>
            <a:ext cx="83820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a:t>
            </a:r>
            <a:endParaRPr lang="en-US" sz="1800" dirty="0"/>
          </a:p>
        </p:txBody>
      </p:sp>
      <p:sp>
        <p:nvSpPr>
          <p:cNvPr id="10" name="Text 8"/>
          <p:cNvSpPr/>
          <p:nvPr/>
        </p:nvSpPr>
        <p:spPr>
          <a:xfrm>
            <a:off x="2019182" y="4008881"/>
            <a:ext cx="383645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INVESTIGATION</a:t>
            </a:r>
            <a:endParaRPr lang="en-US" sz="1800" dirty="0"/>
          </a:p>
        </p:txBody>
      </p:sp>
      <p:sp>
        <p:nvSpPr>
          <p:cNvPr id="11" name="Text 9"/>
          <p:cNvSpPr/>
          <p:nvPr/>
        </p:nvSpPr>
        <p:spPr>
          <a:xfrm>
            <a:off x="5972451" y="4008881"/>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DOMAIN</a:t>
            </a:r>
            <a:endParaRPr lang="en-US" sz="1800" dirty="0"/>
          </a:p>
        </p:txBody>
      </p:sp>
      <p:sp>
        <p:nvSpPr>
          <p:cNvPr id="12" name="Text 10"/>
          <p:cNvSpPr/>
          <p:nvPr/>
        </p:nvSpPr>
        <p:spPr>
          <a:xfrm>
            <a:off x="9066202" y="4008881"/>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OWNER</a:t>
            </a:r>
            <a:endParaRPr lang="en-US" sz="1800" dirty="0"/>
          </a:p>
        </p:txBody>
      </p:sp>
      <p:sp>
        <p:nvSpPr>
          <p:cNvPr id="13" name="Text 11"/>
          <p:cNvSpPr/>
          <p:nvPr/>
        </p:nvSpPr>
        <p:spPr>
          <a:xfrm>
            <a:off x="12159953" y="4008881"/>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EFFORT</a:t>
            </a:r>
            <a:endParaRPr lang="en-US" sz="1800" dirty="0"/>
          </a:p>
        </p:txBody>
      </p:sp>
      <p:sp>
        <p:nvSpPr>
          <p:cNvPr id="14" name="Text 12"/>
          <p:cNvSpPr/>
          <p:nvPr/>
        </p:nvSpPr>
        <p:spPr>
          <a:xfrm>
            <a:off x="15253705" y="4008881"/>
            <a:ext cx="208177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STATUS</a:t>
            </a:r>
            <a:endParaRPr lang="en-US" sz="1800" dirty="0"/>
          </a:p>
        </p:txBody>
      </p:sp>
      <p:sp>
        <p:nvSpPr>
          <p:cNvPr id="15" name="Shape 13"/>
          <p:cNvSpPr/>
          <p:nvPr/>
        </p:nvSpPr>
        <p:spPr>
          <a:xfrm>
            <a:off x="914341" y="7880606"/>
            <a:ext cx="16459317" cy="9525"/>
          </a:xfrm>
          <a:prstGeom prst="rect">
            <a:avLst/>
          </a:prstGeom>
          <a:solidFill>
            <a:srgbClr val="16241C">
              <a:alpha val="14000"/>
            </a:srgbClr>
          </a:solidFill>
          <a:ln/>
        </p:spPr>
      </p:sp>
      <p:sp>
        <p:nvSpPr>
          <p:cNvPr id="16" name="Text 14"/>
          <p:cNvSpPr/>
          <p:nvPr/>
        </p:nvSpPr>
        <p:spPr>
          <a:xfrm>
            <a:off x="1028621" y="5994932"/>
            <a:ext cx="838200" cy="423833"/>
          </a:xfrm>
          <a:prstGeom prst="rect">
            <a:avLst/>
          </a:prstGeom>
          <a:noFill/>
          <a:ln/>
        </p:spPr>
        <p:txBody>
          <a:bodyPr wrap="square" lIns="25400" tIns="25400" rIns="25400" bIns="25400" rtlCol="0" anchor="t">
            <a:normAutofit/>
          </a:bodyPr>
          <a:lstStyle/>
          <a:p>
            <a:pPr algn="l" indent="0" marL="0">
              <a:lnSpc>
                <a:spcPct val="135000"/>
              </a:lnSpc>
              <a:buNone/>
            </a:pPr>
            <a:r>
              <a:rPr lang="en-US" sz="2250" b="1" spc="-11" kern="0" dirty="0">
                <a:solidFill>
                  <a:srgbClr val="B94A2A"/>
                </a:solidFill>
                <a:latin typeface="Courier New" pitchFamily="34" charset="0"/>
                <a:ea typeface="Courier New" pitchFamily="34" charset="-122"/>
                <a:cs typeface="Courier New" pitchFamily="34" charset="-120"/>
              </a:rPr>
              <a:t>01</a:t>
            </a:r>
            <a:endParaRPr lang="en-US" sz="2250" dirty="0"/>
          </a:p>
        </p:txBody>
      </p:sp>
      <p:sp>
        <p:nvSpPr>
          <p:cNvPr id="17" name="Text 15"/>
          <p:cNvSpPr/>
          <p:nvPr/>
        </p:nvSpPr>
        <p:spPr>
          <a:xfrm>
            <a:off x="2019182" y="4685649"/>
            <a:ext cx="3836450" cy="3004496"/>
          </a:xfrm>
          <a:prstGeom prst="rect">
            <a:avLst/>
          </a:prstGeom>
          <a:noFill/>
          <a:ln/>
        </p:spPr>
        <p:txBody>
          <a:bodyPr wrap="square" lIns="25400" tIns="25400" rIns="25400" bIns="25400" rtlCol="0" anchor="t">
            <a:normAutofit/>
          </a:bodyPr>
          <a:lstStyle/>
          <a:p>
            <a:pPr algn="l" indent="0" marL="0">
              <a:lnSpc>
                <a:spcPct val="115000"/>
              </a:lnSpc>
              <a:buNone/>
            </a:pPr>
            <a:r>
              <a:rPr lang="en-US" sz="2550" i="1" spc="-11" kern="0" dirty="0">
                <a:solidFill>
                  <a:srgbClr val="16241C"/>
                </a:solidFill>
                <a:latin typeface="Georgia" pitchFamily="34" charset="0"/>
                <a:ea typeface="Georgia" pitchFamily="34" charset="-122"/>
                <a:cs typeface="Georgia" pitchFamily="34" charset="-120"/>
              </a:rPr>
              <a:t>Audit git history for leaked Supabase keys</a:t>
            </a:r>
            <a:endParaRPr lang="en-US" sz="2550" dirty="0"/>
          </a:p>
        </p:txBody>
      </p:sp>
      <p:sp>
        <p:nvSpPr>
          <p:cNvPr id="18" name="Text 16"/>
          <p:cNvSpPr/>
          <p:nvPr/>
        </p:nvSpPr>
        <p:spPr>
          <a:xfrm>
            <a:off x="5972451" y="6033584"/>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Security</a:t>
            </a:r>
            <a:endParaRPr lang="en-US" sz="1800" dirty="0"/>
          </a:p>
        </p:txBody>
      </p:sp>
      <p:sp>
        <p:nvSpPr>
          <p:cNvPr id="19" name="Text 17"/>
          <p:cNvSpPr/>
          <p:nvPr/>
        </p:nvSpPr>
        <p:spPr>
          <a:xfrm>
            <a:off x="9066202" y="6033584"/>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Backend lead</a:t>
            </a:r>
            <a:endParaRPr lang="en-US" sz="1800" dirty="0"/>
          </a:p>
        </p:txBody>
      </p:sp>
      <p:sp>
        <p:nvSpPr>
          <p:cNvPr id="20" name="Text 18"/>
          <p:cNvSpPr/>
          <p:nvPr/>
        </p:nvSpPr>
        <p:spPr>
          <a:xfrm>
            <a:off x="12159953" y="6033584"/>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 2h</a:t>
            </a:r>
            <a:endParaRPr lang="en-US" sz="1800" dirty="0"/>
          </a:p>
        </p:txBody>
      </p:sp>
      <p:sp>
        <p:nvSpPr>
          <p:cNvPr id="21" name="Text 19"/>
          <p:cNvSpPr/>
          <p:nvPr/>
        </p:nvSpPr>
        <p:spPr>
          <a:xfrm>
            <a:off x="15253705" y="6033584"/>
            <a:ext cx="208177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Open</a:t>
            </a:r>
            <a:endParaRPr lang="en-US" sz="1800" dirty="0"/>
          </a:p>
        </p:txBody>
      </p:sp>
      <p:sp>
        <p:nvSpPr>
          <p:cNvPr id="22" name="Shape 20"/>
          <p:cNvSpPr/>
          <p:nvPr/>
        </p:nvSpPr>
        <p:spPr>
          <a:xfrm>
            <a:off x="914341" y="10900109"/>
            <a:ext cx="16459317" cy="9525"/>
          </a:xfrm>
          <a:prstGeom prst="rect">
            <a:avLst/>
          </a:prstGeom>
          <a:solidFill>
            <a:srgbClr val="16241C">
              <a:alpha val="14000"/>
            </a:srgbClr>
          </a:solidFill>
          <a:ln/>
        </p:spPr>
      </p:sp>
      <p:sp>
        <p:nvSpPr>
          <p:cNvPr id="23" name="Text 21"/>
          <p:cNvSpPr/>
          <p:nvPr/>
        </p:nvSpPr>
        <p:spPr>
          <a:xfrm>
            <a:off x="1028621" y="9200597"/>
            <a:ext cx="838200" cy="423833"/>
          </a:xfrm>
          <a:prstGeom prst="rect">
            <a:avLst/>
          </a:prstGeom>
          <a:noFill/>
          <a:ln/>
        </p:spPr>
        <p:txBody>
          <a:bodyPr wrap="square" lIns="25400" tIns="25400" rIns="25400" bIns="25400" rtlCol="0" anchor="t">
            <a:normAutofit/>
          </a:bodyPr>
          <a:lstStyle/>
          <a:p>
            <a:pPr algn="l" indent="0" marL="0">
              <a:lnSpc>
                <a:spcPct val="135000"/>
              </a:lnSpc>
              <a:buNone/>
            </a:pPr>
            <a:r>
              <a:rPr lang="en-US" sz="2250" b="1" spc="-11" kern="0" dirty="0">
                <a:solidFill>
                  <a:srgbClr val="B94A2A"/>
                </a:solidFill>
                <a:latin typeface="Courier New" pitchFamily="34" charset="0"/>
                <a:ea typeface="Courier New" pitchFamily="34" charset="-122"/>
                <a:cs typeface="Courier New" pitchFamily="34" charset="-120"/>
              </a:rPr>
              <a:t>02</a:t>
            </a:r>
            <a:endParaRPr lang="en-US" sz="2250" dirty="0"/>
          </a:p>
        </p:txBody>
      </p:sp>
      <p:sp>
        <p:nvSpPr>
          <p:cNvPr id="24" name="Text 22"/>
          <p:cNvSpPr/>
          <p:nvPr/>
        </p:nvSpPr>
        <p:spPr>
          <a:xfrm>
            <a:off x="2019182" y="8077476"/>
            <a:ext cx="3836450" cy="2632173"/>
          </a:xfrm>
          <a:prstGeom prst="rect">
            <a:avLst/>
          </a:prstGeom>
          <a:noFill/>
          <a:ln/>
        </p:spPr>
        <p:txBody>
          <a:bodyPr wrap="square" lIns="25400" tIns="25400" rIns="25400" bIns="25400" rtlCol="0" anchor="t">
            <a:normAutofit/>
          </a:bodyPr>
          <a:lstStyle/>
          <a:p>
            <a:pPr algn="l" indent="0" marL="0">
              <a:lnSpc>
                <a:spcPct val="115000"/>
              </a:lnSpc>
              <a:buNone/>
            </a:pPr>
            <a:r>
              <a:rPr lang="en-US" sz="2550" i="1" spc="-11" kern="0" dirty="0">
                <a:solidFill>
                  <a:srgbClr val="16241C"/>
                </a:solidFill>
                <a:latin typeface="Georgia" pitchFamily="34" charset="0"/>
                <a:ea typeface="Georgia" pitchFamily="34" charset="-122"/>
                <a:cs typeface="Georgia" pitchFamily="34" charset="-120"/>
              </a:rPr>
              <a:t>Reconcile STATE.md against shipped code</a:t>
            </a:r>
            <a:endParaRPr lang="en-US" sz="2550" dirty="0"/>
          </a:p>
        </p:txBody>
      </p:sp>
      <p:sp>
        <p:nvSpPr>
          <p:cNvPr id="25" name="Text 23"/>
          <p:cNvSpPr/>
          <p:nvPr/>
        </p:nvSpPr>
        <p:spPr>
          <a:xfrm>
            <a:off x="5972451" y="9239249"/>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Fidelity</a:t>
            </a:r>
            <a:endParaRPr lang="en-US" sz="1800" dirty="0"/>
          </a:p>
        </p:txBody>
      </p:sp>
      <p:sp>
        <p:nvSpPr>
          <p:cNvPr id="26" name="Text 24"/>
          <p:cNvSpPr/>
          <p:nvPr/>
        </p:nvSpPr>
        <p:spPr>
          <a:xfrm>
            <a:off x="9066202" y="9239249"/>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Tech lead + PM</a:t>
            </a:r>
            <a:endParaRPr lang="en-US" sz="1800" dirty="0"/>
          </a:p>
        </p:txBody>
      </p:sp>
      <p:sp>
        <p:nvSpPr>
          <p:cNvPr id="27" name="Text 25"/>
          <p:cNvSpPr/>
          <p:nvPr/>
        </p:nvSpPr>
        <p:spPr>
          <a:xfrm>
            <a:off x="12159953" y="9239249"/>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½ day</a:t>
            </a:r>
            <a:endParaRPr lang="en-US" sz="1800" dirty="0"/>
          </a:p>
        </p:txBody>
      </p:sp>
      <p:sp>
        <p:nvSpPr>
          <p:cNvPr id="28" name="Text 26"/>
          <p:cNvSpPr/>
          <p:nvPr/>
        </p:nvSpPr>
        <p:spPr>
          <a:xfrm>
            <a:off x="15253705" y="9239249"/>
            <a:ext cx="208177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Open</a:t>
            </a:r>
            <a:endParaRPr lang="en-US" sz="1800" dirty="0"/>
          </a:p>
        </p:txBody>
      </p:sp>
      <p:sp>
        <p:nvSpPr>
          <p:cNvPr id="29" name="Shape 27"/>
          <p:cNvSpPr/>
          <p:nvPr/>
        </p:nvSpPr>
        <p:spPr>
          <a:xfrm>
            <a:off x="914341" y="13919614"/>
            <a:ext cx="16459317" cy="9525"/>
          </a:xfrm>
          <a:prstGeom prst="rect">
            <a:avLst/>
          </a:prstGeom>
          <a:solidFill>
            <a:srgbClr val="16241C">
              <a:alpha val="14000"/>
            </a:srgbClr>
          </a:solidFill>
          <a:ln/>
        </p:spPr>
      </p:sp>
      <p:sp>
        <p:nvSpPr>
          <p:cNvPr id="30" name="Text 28"/>
          <p:cNvSpPr/>
          <p:nvPr/>
        </p:nvSpPr>
        <p:spPr>
          <a:xfrm>
            <a:off x="1028621" y="12220101"/>
            <a:ext cx="838200" cy="423833"/>
          </a:xfrm>
          <a:prstGeom prst="rect">
            <a:avLst/>
          </a:prstGeom>
          <a:noFill/>
          <a:ln/>
        </p:spPr>
        <p:txBody>
          <a:bodyPr wrap="square" lIns="25400" tIns="25400" rIns="25400" bIns="25400" rtlCol="0" anchor="t">
            <a:normAutofit/>
          </a:bodyPr>
          <a:lstStyle/>
          <a:p>
            <a:pPr algn="l" indent="0" marL="0">
              <a:lnSpc>
                <a:spcPct val="135000"/>
              </a:lnSpc>
              <a:buNone/>
            </a:pPr>
            <a:r>
              <a:rPr lang="en-US" sz="2250" b="1" spc="-11" kern="0" dirty="0">
                <a:solidFill>
                  <a:srgbClr val="B94A2A"/>
                </a:solidFill>
                <a:latin typeface="Courier New" pitchFamily="34" charset="0"/>
                <a:ea typeface="Courier New" pitchFamily="34" charset="-122"/>
                <a:cs typeface="Courier New" pitchFamily="34" charset="-120"/>
              </a:rPr>
              <a:t>03</a:t>
            </a:r>
            <a:endParaRPr lang="en-US" sz="2250" dirty="0"/>
          </a:p>
        </p:txBody>
      </p:sp>
      <p:sp>
        <p:nvSpPr>
          <p:cNvPr id="31" name="Text 29"/>
          <p:cNvSpPr/>
          <p:nvPr/>
        </p:nvSpPr>
        <p:spPr>
          <a:xfrm>
            <a:off x="2019182" y="11096980"/>
            <a:ext cx="3836450" cy="2632173"/>
          </a:xfrm>
          <a:prstGeom prst="rect">
            <a:avLst/>
          </a:prstGeom>
          <a:noFill/>
          <a:ln/>
        </p:spPr>
        <p:txBody>
          <a:bodyPr wrap="square" lIns="25400" tIns="25400" rIns="25400" bIns="25400" rtlCol="0" anchor="t">
            <a:normAutofit/>
          </a:bodyPr>
          <a:lstStyle/>
          <a:p>
            <a:pPr algn="l" indent="0" marL="0">
              <a:lnSpc>
                <a:spcPct val="115000"/>
              </a:lnSpc>
              <a:buNone/>
            </a:pPr>
            <a:r>
              <a:rPr lang="en-US" sz="2550" i="1" spc="-11" kern="0" dirty="0">
                <a:solidFill>
                  <a:srgbClr val="16241C"/>
                </a:solidFill>
                <a:latin typeface="Georgia" pitchFamily="34" charset="0"/>
                <a:ea typeface="Georgia" pitchFamily="34" charset="-122"/>
                <a:cs typeface="Georgia" pitchFamily="34" charset="-120"/>
              </a:rPr>
              <a:t>Adversarially test RLS tenant isolation</a:t>
            </a:r>
            <a:endParaRPr lang="en-US" sz="2550" dirty="0"/>
          </a:p>
        </p:txBody>
      </p:sp>
      <p:sp>
        <p:nvSpPr>
          <p:cNvPr id="32" name="Text 30"/>
          <p:cNvSpPr/>
          <p:nvPr/>
        </p:nvSpPr>
        <p:spPr>
          <a:xfrm>
            <a:off x="5972451" y="12258753"/>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Security</a:t>
            </a:r>
            <a:endParaRPr lang="en-US" sz="1800" dirty="0"/>
          </a:p>
        </p:txBody>
      </p:sp>
      <p:sp>
        <p:nvSpPr>
          <p:cNvPr id="33" name="Text 31"/>
          <p:cNvSpPr/>
          <p:nvPr/>
        </p:nvSpPr>
        <p:spPr>
          <a:xfrm>
            <a:off x="9066202" y="12258753"/>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Security reviewer</a:t>
            </a:r>
            <a:endParaRPr lang="en-US" sz="1800" dirty="0"/>
          </a:p>
        </p:txBody>
      </p:sp>
      <p:sp>
        <p:nvSpPr>
          <p:cNvPr id="34" name="Text 32"/>
          <p:cNvSpPr/>
          <p:nvPr/>
        </p:nvSpPr>
        <p:spPr>
          <a:xfrm>
            <a:off x="12159953" y="12258753"/>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 3h</a:t>
            </a:r>
            <a:endParaRPr lang="en-US" sz="1800" dirty="0"/>
          </a:p>
        </p:txBody>
      </p:sp>
      <p:sp>
        <p:nvSpPr>
          <p:cNvPr id="35" name="Text 33"/>
          <p:cNvSpPr/>
          <p:nvPr/>
        </p:nvSpPr>
        <p:spPr>
          <a:xfrm>
            <a:off x="15253705" y="12258753"/>
            <a:ext cx="208177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Open</a:t>
            </a:r>
            <a:endParaRPr lang="en-US" sz="1800" dirty="0"/>
          </a:p>
        </p:txBody>
      </p:sp>
      <p:sp>
        <p:nvSpPr>
          <p:cNvPr id="36" name="Shape 34"/>
          <p:cNvSpPr/>
          <p:nvPr/>
        </p:nvSpPr>
        <p:spPr>
          <a:xfrm>
            <a:off x="914341" y="16939116"/>
            <a:ext cx="16459317" cy="9525"/>
          </a:xfrm>
          <a:prstGeom prst="rect">
            <a:avLst/>
          </a:prstGeom>
          <a:solidFill>
            <a:srgbClr val="16241C">
              <a:alpha val="14000"/>
            </a:srgbClr>
          </a:solidFill>
          <a:ln/>
        </p:spPr>
      </p:sp>
      <p:sp>
        <p:nvSpPr>
          <p:cNvPr id="37" name="Text 35"/>
          <p:cNvSpPr/>
          <p:nvPr/>
        </p:nvSpPr>
        <p:spPr>
          <a:xfrm>
            <a:off x="1028621" y="15239605"/>
            <a:ext cx="838200" cy="423833"/>
          </a:xfrm>
          <a:prstGeom prst="rect">
            <a:avLst/>
          </a:prstGeom>
          <a:noFill/>
          <a:ln/>
        </p:spPr>
        <p:txBody>
          <a:bodyPr wrap="square" lIns="25400" tIns="25400" rIns="25400" bIns="25400" rtlCol="0" anchor="t">
            <a:normAutofit/>
          </a:bodyPr>
          <a:lstStyle/>
          <a:p>
            <a:pPr algn="l" indent="0" marL="0">
              <a:lnSpc>
                <a:spcPct val="135000"/>
              </a:lnSpc>
              <a:buNone/>
            </a:pPr>
            <a:r>
              <a:rPr lang="en-US" sz="2250" b="1" spc="-11" kern="0" dirty="0">
                <a:solidFill>
                  <a:srgbClr val="B94A2A"/>
                </a:solidFill>
                <a:latin typeface="Courier New" pitchFamily="34" charset="0"/>
                <a:ea typeface="Courier New" pitchFamily="34" charset="-122"/>
                <a:cs typeface="Courier New" pitchFamily="34" charset="-120"/>
              </a:rPr>
              <a:t>04</a:t>
            </a:r>
            <a:endParaRPr lang="en-US" sz="2250" dirty="0"/>
          </a:p>
        </p:txBody>
      </p:sp>
      <p:sp>
        <p:nvSpPr>
          <p:cNvPr id="38" name="Text 36"/>
          <p:cNvSpPr/>
          <p:nvPr/>
        </p:nvSpPr>
        <p:spPr>
          <a:xfrm>
            <a:off x="2019182" y="14116483"/>
            <a:ext cx="3836450" cy="2632173"/>
          </a:xfrm>
          <a:prstGeom prst="rect">
            <a:avLst/>
          </a:prstGeom>
          <a:noFill/>
          <a:ln/>
        </p:spPr>
        <p:txBody>
          <a:bodyPr wrap="square" lIns="25400" tIns="25400" rIns="25400" bIns="25400" rtlCol="0" anchor="t">
            <a:normAutofit/>
          </a:bodyPr>
          <a:lstStyle/>
          <a:p>
            <a:pPr algn="l" indent="0" marL="0">
              <a:lnSpc>
                <a:spcPct val="115000"/>
              </a:lnSpc>
              <a:buNone/>
            </a:pPr>
            <a:r>
              <a:rPr lang="en-US" sz="2550" i="1" spc="-11" kern="0" dirty="0">
                <a:solidFill>
                  <a:srgbClr val="16241C"/>
                </a:solidFill>
                <a:latin typeface="Georgia" pitchFamily="34" charset="0"/>
                <a:ea typeface="Georgia" pitchFamily="34" charset="-122"/>
                <a:cs typeface="Georgia" pitchFamily="34" charset="-120"/>
              </a:rPr>
              <a:t>Ship a global React error boundary</a:t>
            </a:r>
            <a:endParaRPr lang="en-US" sz="2550" dirty="0"/>
          </a:p>
        </p:txBody>
      </p:sp>
      <p:sp>
        <p:nvSpPr>
          <p:cNvPr id="39" name="Text 37"/>
          <p:cNvSpPr/>
          <p:nvPr/>
        </p:nvSpPr>
        <p:spPr>
          <a:xfrm>
            <a:off x="5972451" y="15278257"/>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Error handling</a:t>
            </a:r>
            <a:endParaRPr lang="en-US" sz="1800" dirty="0"/>
          </a:p>
        </p:txBody>
      </p:sp>
      <p:sp>
        <p:nvSpPr>
          <p:cNvPr id="40" name="Text 38"/>
          <p:cNvSpPr/>
          <p:nvPr/>
        </p:nvSpPr>
        <p:spPr>
          <a:xfrm>
            <a:off x="9066202" y="15278257"/>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Frontend lead</a:t>
            </a:r>
            <a:endParaRPr lang="en-US" sz="1800" dirty="0"/>
          </a:p>
        </p:txBody>
      </p:sp>
      <p:sp>
        <p:nvSpPr>
          <p:cNvPr id="41" name="Text 39"/>
          <p:cNvSpPr/>
          <p:nvPr/>
        </p:nvSpPr>
        <p:spPr>
          <a:xfrm>
            <a:off x="12159953" y="15278257"/>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 4h</a:t>
            </a:r>
            <a:endParaRPr lang="en-US" sz="1800" dirty="0"/>
          </a:p>
        </p:txBody>
      </p:sp>
      <p:sp>
        <p:nvSpPr>
          <p:cNvPr id="42" name="Text 40"/>
          <p:cNvSpPr/>
          <p:nvPr/>
        </p:nvSpPr>
        <p:spPr>
          <a:xfrm>
            <a:off x="15253705" y="15278257"/>
            <a:ext cx="208177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Open</a:t>
            </a:r>
            <a:endParaRPr lang="en-US" sz="1800" dirty="0"/>
          </a:p>
        </p:txBody>
      </p:sp>
      <p:sp>
        <p:nvSpPr>
          <p:cNvPr id="43" name="Shape 41"/>
          <p:cNvSpPr/>
          <p:nvPr/>
        </p:nvSpPr>
        <p:spPr>
          <a:xfrm>
            <a:off x="914341" y="19586297"/>
            <a:ext cx="16459317" cy="9525"/>
          </a:xfrm>
          <a:prstGeom prst="rect">
            <a:avLst/>
          </a:prstGeom>
          <a:solidFill>
            <a:srgbClr val="16241C">
              <a:alpha val="14000"/>
            </a:srgbClr>
          </a:solidFill>
          <a:ln/>
        </p:spPr>
      </p:sp>
      <p:sp>
        <p:nvSpPr>
          <p:cNvPr id="44" name="Text 42"/>
          <p:cNvSpPr/>
          <p:nvPr/>
        </p:nvSpPr>
        <p:spPr>
          <a:xfrm>
            <a:off x="1028621" y="18072947"/>
            <a:ext cx="838200" cy="423833"/>
          </a:xfrm>
          <a:prstGeom prst="rect">
            <a:avLst/>
          </a:prstGeom>
          <a:noFill/>
          <a:ln/>
        </p:spPr>
        <p:txBody>
          <a:bodyPr wrap="square" lIns="25400" tIns="25400" rIns="25400" bIns="25400" rtlCol="0" anchor="t">
            <a:normAutofit/>
          </a:bodyPr>
          <a:lstStyle/>
          <a:p>
            <a:pPr algn="l" indent="0" marL="0">
              <a:lnSpc>
                <a:spcPct val="135000"/>
              </a:lnSpc>
              <a:buNone/>
            </a:pPr>
            <a:r>
              <a:rPr lang="en-US" sz="2250" b="1" spc="-11" kern="0" dirty="0">
                <a:solidFill>
                  <a:srgbClr val="B94A2A"/>
                </a:solidFill>
                <a:latin typeface="Courier New" pitchFamily="34" charset="0"/>
                <a:ea typeface="Courier New" pitchFamily="34" charset="-122"/>
                <a:cs typeface="Courier New" pitchFamily="34" charset="-120"/>
              </a:rPr>
              <a:t>05</a:t>
            </a:r>
            <a:endParaRPr lang="en-US" sz="2250" dirty="0"/>
          </a:p>
        </p:txBody>
      </p:sp>
      <p:sp>
        <p:nvSpPr>
          <p:cNvPr id="45" name="Text 43"/>
          <p:cNvSpPr/>
          <p:nvPr/>
        </p:nvSpPr>
        <p:spPr>
          <a:xfrm>
            <a:off x="2019182" y="17135987"/>
            <a:ext cx="3836450" cy="2259850"/>
          </a:xfrm>
          <a:prstGeom prst="rect">
            <a:avLst/>
          </a:prstGeom>
          <a:noFill/>
          <a:ln/>
        </p:spPr>
        <p:txBody>
          <a:bodyPr wrap="square" lIns="25400" tIns="25400" rIns="25400" bIns="25400" rtlCol="0" anchor="t">
            <a:normAutofit/>
          </a:bodyPr>
          <a:lstStyle/>
          <a:p>
            <a:pPr algn="l" indent="0" marL="0">
              <a:lnSpc>
                <a:spcPct val="115000"/>
              </a:lnSpc>
              <a:buNone/>
            </a:pPr>
            <a:r>
              <a:rPr lang="en-US" sz="2550" i="1" spc="-11" kern="0" dirty="0">
                <a:solidFill>
                  <a:srgbClr val="16241C"/>
                </a:solidFill>
                <a:latin typeface="Georgia" pitchFamily="34" charset="0"/>
                <a:ea typeface="Georgia" pitchFamily="34" charset="-122"/>
                <a:cs typeface="Georgia" pitchFamily="34" charset="-120"/>
              </a:rPr>
              <a:t>Add indexes on the three hot tables</a:t>
            </a:r>
            <a:endParaRPr lang="en-US" sz="2550" dirty="0"/>
          </a:p>
        </p:txBody>
      </p:sp>
      <p:sp>
        <p:nvSpPr>
          <p:cNvPr id="46" name="Text 44"/>
          <p:cNvSpPr/>
          <p:nvPr/>
        </p:nvSpPr>
        <p:spPr>
          <a:xfrm>
            <a:off x="5972451" y="18111599"/>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Database</a:t>
            </a:r>
            <a:endParaRPr lang="en-US" sz="1800" dirty="0"/>
          </a:p>
        </p:txBody>
      </p:sp>
      <p:sp>
        <p:nvSpPr>
          <p:cNvPr id="47" name="Text 45"/>
          <p:cNvSpPr/>
          <p:nvPr/>
        </p:nvSpPr>
        <p:spPr>
          <a:xfrm>
            <a:off x="9066202" y="18111599"/>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Backend lead</a:t>
            </a:r>
            <a:endParaRPr lang="en-US" sz="1800" dirty="0"/>
          </a:p>
        </p:txBody>
      </p:sp>
      <p:sp>
        <p:nvSpPr>
          <p:cNvPr id="48" name="Text 46"/>
          <p:cNvSpPr/>
          <p:nvPr/>
        </p:nvSpPr>
        <p:spPr>
          <a:xfrm>
            <a:off x="12159953" y="18111599"/>
            <a:ext cx="295114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½ day</a:t>
            </a:r>
            <a:endParaRPr lang="en-US" sz="1800" dirty="0"/>
          </a:p>
        </p:txBody>
      </p:sp>
      <p:sp>
        <p:nvSpPr>
          <p:cNvPr id="49" name="Text 47"/>
          <p:cNvSpPr/>
          <p:nvPr/>
        </p:nvSpPr>
        <p:spPr>
          <a:xfrm>
            <a:off x="15253705" y="18111599"/>
            <a:ext cx="208177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1" kern="0" dirty="0">
                <a:solidFill>
                  <a:srgbClr val="16241C"/>
                </a:solidFill>
                <a:latin typeface="Courier New" pitchFamily="34" charset="0"/>
                <a:ea typeface="Courier New" pitchFamily="34" charset="-122"/>
                <a:cs typeface="Courier New" pitchFamily="34" charset="-120"/>
              </a:rPr>
              <a:t>Open</a:t>
            </a:r>
            <a:endParaRPr lang="en-US" sz="1800" dirty="0"/>
          </a:p>
        </p:txBody>
      </p:sp>
      <p:sp>
        <p:nvSpPr>
          <p:cNvPr id="50" name="Shape 48"/>
          <p:cNvSpPr/>
          <p:nvPr/>
        </p:nvSpPr>
        <p:spPr>
          <a:xfrm>
            <a:off x="914341" y="9381730"/>
            <a:ext cx="16459317" cy="9525"/>
          </a:xfrm>
          <a:prstGeom prst="rect">
            <a:avLst/>
          </a:prstGeom>
          <a:solidFill>
            <a:srgbClr val="16241C">
              <a:alpha val="14000"/>
            </a:srgbClr>
          </a:solidFill>
          <a:ln/>
        </p:spPr>
      </p:sp>
      <p:sp>
        <p:nvSpPr>
          <p:cNvPr id="51" name="Text 49"/>
          <p:cNvSpPr/>
          <p:nvPr/>
        </p:nvSpPr>
        <p:spPr>
          <a:xfrm>
            <a:off x="914341" y="9559412"/>
            <a:ext cx="316462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P0 — RECAP AND OWNERS</a:t>
            </a:r>
            <a:endParaRPr lang="en-US" sz="1800" dirty="0"/>
          </a:p>
        </p:txBody>
      </p:sp>
      <p:sp>
        <p:nvSpPr>
          <p:cNvPr id="52" name="Text 50"/>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09 / 25</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8287999" cy="10286999"/>
          </a:xfrm>
          <a:prstGeom prst="rect">
            <a:avLst/>
          </a:prstGeom>
          <a:solidFill>
            <a:srgbClr val="14201A"/>
          </a:solidFill>
          <a:ln/>
        </p:spPr>
      </p:sp>
      <p:pic>
        <p:nvPicPr>
          <p:cNvPr id="3" name="Image 0" descr="preencoded.png">    </p:cNvPr>
          <p:cNvPicPr>
            <a:picLocks noChangeAspect="1"/>
          </p:cNvPicPr>
          <p:nvPr/>
        </p:nvPicPr>
        <p:blipFill>
          <a:blip r:embed="rId1"/>
          <a:stretch>
            <a:fillRect/>
          </a:stretch>
        </p:blipFill>
        <p:spPr>
          <a:xfrm>
            <a:off x="0" y="0"/>
            <a:ext cx="18287999" cy="10286999"/>
          </a:xfrm>
          <a:prstGeom prst="rect">
            <a:avLst/>
          </a:prstGeom>
        </p:spPr>
      </p:pic>
      <p:sp>
        <p:nvSpPr>
          <p:cNvPr id="4" name="Shape 1"/>
          <p:cNvSpPr/>
          <p:nvPr/>
        </p:nvSpPr>
        <p:spPr>
          <a:xfrm>
            <a:off x="914341" y="925680"/>
            <a:ext cx="133311" cy="133311"/>
          </a:xfrm>
          <a:prstGeom prst="ellipse">
            <a:avLst/>
          </a:prstGeom>
          <a:solidFill>
            <a:srgbClr val="1F6F43"/>
          </a:solidFill>
          <a:ln/>
          <a:effectLst>
            <a:outerShdw sx="100000" sy="100000" kx="0" ky="0" algn="bl" rotWithShape="0" blurRad="101600" dist="50800" dir="16200000">
              <a:srgbClr val="1F6F43">
                <a:alpha val="22000"/>
              </a:srgbClr>
            </a:outerShdw>
          </a:effectLst>
        </p:spPr>
      </p:sp>
      <p:sp>
        <p:nvSpPr>
          <p:cNvPr id="5" name="Text 2"/>
          <p:cNvSpPr/>
          <p:nvPr/>
        </p:nvSpPr>
        <p:spPr>
          <a:xfrm>
            <a:off x="1180962" y="838121"/>
            <a:ext cx="203769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6F4EF"/>
                </a:solidFill>
                <a:latin typeface="Courier New" pitchFamily="34" charset="0"/>
                <a:ea typeface="Courier New" pitchFamily="34" charset="-122"/>
                <a:cs typeface="Courier New" pitchFamily="34" charset="-120"/>
              </a:rPr>
              <a:t>TRAK FOOTBALL</a:t>
            </a:r>
            <a:endParaRPr lang="en-US" sz="1800" dirty="0"/>
          </a:p>
        </p:txBody>
      </p:sp>
      <p:sp>
        <p:nvSpPr>
          <p:cNvPr id="6" name="Text 3"/>
          <p:cNvSpPr/>
          <p:nvPr/>
        </p:nvSpPr>
        <p:spPr>
          <a:xfrm>
            <a:off x="14506889" y="838121"/>
            <a:ext cx="295277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AEBCB3"/>
                </a:solidFill>
                <a:latin typeface="Courier New" pitchFamily="34" charset="0"/>
                <a:ea typeface="Courier New" pitchFamily="34" charset="-122"/>
                <a:cs typeface="Courier New" pitchFamily="34" charset="-120"/>
              </a:rPr>
              <a:t>P1 · SECTION OPENER</a:t>
            </a:r>
            <a:endParaRPr lang="en-US" sz="1800" dirty="0"/>
          </a:p>
        </p:txBody>
      </p:sp>
      <p:sp>
        <p:nvSpPr>
          <p:cNvPr id="7" name="Shape 4"/>
          <p:cNvSpPr/>
          <p:nvPr/>
        </p:nvSpPr>
        <p:spPr>
          <a:xfrm>
            <a:off x="914341" y="1273944"/>
            <a:ext cx="171371" cy="171371"/>
          </a:xfrm>
          <a:prstGeom prst="ellipse">
            <a:avLst/>
          </a:prstGeom>
          <a:solidFill>
            <a:srgbClr val="C8923A"/>
          </a:solidFill>
          <a:ln/>
        </p:spPr>
      </p:sp>
      <p:sp>
        <p:nvSpPr>
          <p:cNvPr id="8" name="Text 5"/>
          <p:cNvSpPr/>
          <p:nvPr/>
        </p:nvSpPr>
        <p:spPr>
          <a:xfrm>
            <a:off x="1257083" y="1205415"/>
            <a:ext cx="322119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16" kern="0" dirty="0">
                <a:solidFill>
                  <a:srgbClr val="AEBCB3"/>
                </a:solidFill>
                <a:latin typeface="Courier New" pitchFamily="34" charset="0"/>
                <a:ea typeface="Courier New" pitchFamily="34" charset="-122"/>
                <a:cs typeface="Courier New" pitchFamily="34" charset="-120"/>
              </a:rPr>
              <a:t>TIER P1 · HARDENING</a:t>
            </a:r>
            <a:endParaRPr lang="en-US" sz="1800" dirty="0"/>
          </a:p>
        </p:txBody>
      </p:sp>
      <p:sp>
        <p:nvSpPr>
          <p:cNvPr id="9" name="Text 6"/>
          <p:cNvSpPr/>
          <p:nvPr/>
        </p:nvSpPr>
        <p:spPr>
          <a:xfrm>
            <a:off x="914341" y="1856783"/>
            <a:ext cx="15697199" cy="4342788"/>
          </a:xfrm>
          <a:prstGeom prst="rect">
            <a:avLst/>
          </a:prstGeom>
          <a:noFill/>
          <a:ln/>
        </p:spPr>
        <p:txBody>
          <a:bodyPr wrap="square" lIns="25400" tIns="25400" rIns="25400" bIns="25400" rtlCol="0" anchor="t">
            <a:normAutofit/>
          </a:bodyPr>
          <a:lstStyle/>
          <a:p>
            <a:pPr algn="l" indent="0" marL="0">
              <a:lnSpc>
                <a:spcPct val="96000"/>
              </a:lnSpc>
              <a:buNone/>
            </a:pPr>
            <a:r>
              <a:rPr lang="en-US" sz="11700" spc="-292" kern="0" dirty="0">
                <a:solidFill>
                  <a:srgbClr val="F6F4EF"/>
                </a:solidFill>
                <a:latin typeface="Georgia" pitchFamily="34" charset="0"/>
                <a:ea typeface="Georgia" pitchFamily="34" charset="-122"/>
                <a:cs typeface="Georgia" pitchFamily="34" charset="-120"/>
              </a:rPr>
              <a:t>Six items that should close </a:t>
            </a:r>
            <a:pPr algn="l" indent="0" marL="0">
              <a:lnSpc>
                <a:spcPct val="96000"/>
              </a:lnSpc>
              <a:buNone/>
            </a:pPr>
            <a:r>
              <a:rPr lang="en-US" sz="11700" i="1" spc="-292" kern="0" dirty="0">
                <a:solidFill>
                  <a:srgbClr val="5FB585"/>
                </a:solidFill>
                <a:latin typeface="Georgia" pitchFamily="34" charset="0"/>
                <a:ea typeface="Georgia" pitchFamily="34" charset="-122"/>
                <a:cs typeface="Georgia" pitchFamily="34" charset="-120"/>
              </a:rPr>
              <a:t>before the end of launch week.</a:t>
            </a:r>
            <a:endParaRPr lang="en-US" sz="11700" dirty="0"/>
          </a:p>
        </p:txBody>
      </p:sp>
      <p:sp>
        <p:nvSpPr>
          <p:cNvPr id="10" name="Text 7"/>
          <p:cNvSpPr/>
          <p:nvPr/>
        </p:nvSpPr>
        <p:spPr>
          <a:xfrm>
            <a:off x="914341" y="6504312"/>
            <a:ext cx="11576684" cy="2019221"/>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AEBCB3"/>
                </a:solidFill>
                <a:latin typeface="Arial" pitchFamily="34" charset="0"/>
                <a:ea typeface="Arial" pitchFamily="34" charset="-122"/>
                <a:cs typeface="Arial" pitchFamily="34" charset="-120"/>
              </a:rPr>
              <a:t>P1 is what turns a working app into a production app: tests, types, error surfacing, session handling, and a basic password floor. None block launch — all become regret debt within a fortnight if we don't get to them.</a:t>
            </a:r>
            <a:endParaRPr lang="en-US" sz="3000" dirty="0"/>
          </a:p>
        </p:txBody>
      </p:sp>
      <p:sp>
        <p:nvSpPr>
          <p:cNvPr id="11" name="Shape 8"/>
          <p:cNvSpPr/>
          <p:nvPr/>
        </p:nvSpPr>
        <p:spPr>
          <a:xfrm>
            <a:off x="914341" y="8493913"/>
            <a:ext cx="16459317" cy="9525"/>
          </a:xfrm>
          <a:prstGeom prst="rect">
            <a:avLst/>
          </a:prstGeom>
          <a:solidFill>
            <a:srgbClr val="FFFFFF">
              <a:alpha val="14000"/>
            </a:srgbClr>
          </a:solidFill>
          <a:ln/>
        </p:spPr>
      </p:sp>
      <p:sp>
        <p:nvSpPr>
          <p:cNvPr id="12" name="Text 9"/>
          <p:cNvSpPr/>
          <p:nvPr/>
        </p:nvSpPr>
        <p:spPr>
          <a:xfrm>
            <a:off x="914341" y="9190638"/>
            <a:ext cx="2037798"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7" kern="0" dirty="0">
                <a:solidFill>
                  <a:srgbClr val="AEBCB3"/>
                </a:solidFill>
                <a:latin typeface="Courier New" pitchFamily="34" charset="0"/>
                <a:ea typeface="Courier New" pitchFamily="34" charset="-122"/>
                <a:cs typeface="Courier New" pitchFamily="34" charset="-120"/>
              </a:rPr>
              <a:t>ITEMS 6 – 11</a:t>
            </a:r>
            <a:endParaRPr lang="en-US" sz="1950" dirty="0"/>
          </a:p>
        </p:txBody>
      </p:sp>
      <p:sp>
        <p:nvSpPr>
          <p:cNvPr id="13" name="Text 10"/>
          <p:cNvSpPr/>
          <p:nvPr/>
        </p:nvSpPr>
        <p:spPr>
          <a:xfrm>
            <a:off x="9405592" y="8728784"/>
            <a:ext cx="533814" cy="834315"/>
          </a:xfrm>
          <a:prstGeom prst="rect">
            <a:avLst/>
          </a:prstGeom>
          <a:noFill/>
          <a:ln/>
        </p:spPr>
        <p:txBody>
          <a:bodyPr wrap="square" lIns="25400" tIns="25400" rIns="25400" bIns="25400" rtlCol="0" anchor="t">
            <a:normAutofit/>
          </a:bodyPr>
          <a:lstStyle/>
          <a:p>
            <a:pPr algn="l" indent="0" marL="0">
              <a:lnSpc>
                <a:spcPct val="95000"/>
              </a:lnSpc>
              <a:buNone/>
            </a:pPr>
            <a:r>
              <a:rPr lang="en-US" sz="6600" spc="-132" kern="0" dirty="0">
                <a:solidFill>
                  <a:srgbClr val="F6F4EF"/>
                </a:solidFill>
                <a:latin typeface="Georgia" pitchFamily="34" charset="0"/>
                <a:ea typeface="Georgia" pitchFamily="34" charset="-122"/>
                <a:cs typeface="Georgia" pitchFamily="34" charset="-120"/>
              </a:rPr>
              <a:t>6</a:t>
            </a:r>
            <a:endParaRPr lang="en-US" sz="6600" dirty="0"/>
          </a:p>
        </p:txBody>
      </p:sp>
      <p:sp>
        <p:nvSpPr>
          <p:cNvPr id="14" name="Text 11"/>
          <p:cNvSpPr/>
          <p:nvPr/>
        </p:nvSpPr>
        <p:spPr>
          <a:xfrm>
            <a:off x="16392859" y="9190638"/>
            <a:ext cx="1056999"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7" kern="0" dirty="0">
                <a:solidFill>
                  <a:srgbClr val="AEBCB3"/>
                </a:solidFill>
                <a:latin typeface="Courier New" pitchFamily="34" charset="0"/>
                <a:ea typeface="Courier New" pitchFamily="34" charset="-122"/>
                <a:cs typeface="Courier New" pitchFamily="34" charset="-120"/>
              </a:rPr>
              <a:t>WEEK 1</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0058242" y="419061"/>
            <a:ext cx="753487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P1 · ITEMS 6, 7, 11 OF 25 · TESTING &amp; CODE QUALITY</a:t>
            </a:r>
            <a:endParaRPr lang="en-US" sz="1800" dirty="0"/>
          </a:p>
        </p:txBody>
      </p:sp>
      <p:sp>
        <p:nvSpPr>
          <p:cNvPr id="5" name="Text 3"/>
          <p:cNvSpPr/>
          <p:nvPr/>
        </p:nvSpPr>
        <p:spPr>
          <a:xfrm>
            <a:off x="914341" y="1219121"/>
            <a:ext cx="1373504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P1 · CLUSTER A</a:t>
            </a:r>
            <a:endParaRPr lang="en-US" sz="1800" dirty="0"/>
          </a:p>
        </p:txBody>
      </p:sp>
      <p:sp>
        <p:nvSpPr>
          <p:cNvPr id="6" name="Shape 4"/>
          <p:cNvSpPr/>
          <p:nvPr/>
        </p:nvSpPr>
        <p:spPr>
          <a:xfrm>
            <a:off x="914341" y="1527648"/>
            <a:ext cx="2074793" cy="517959"/>
          </a:xfrm>
          <a:prstGeom prst="roundRect">
            <a:avLst>
              <a:gd name="adj" fmla="val 50000"/>
            </a:avLst>
          </a:prstGeom>
          <a:solidFill>
            <a:srgbClr val="C8923A"/>
          </a:solidFill>
          <a:ln/>
        </p:spPr>
      </p:sp>
      <p:sp>
        <p:nvSpPr>
          <p:cNvPr id="7" name="Text 5"/>
          <p:cNvSpPr/>
          <p:nvPr/>
        </p:nvSpPr>
        <p:spPr>
          <a:xfrm>
            <a:off x="1085712" y="1622898"/>
            <a:ext cx="35504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08" kern="0" dirty="0">
                <a:solidFill>
                  <a:srgbClr val="1A1408"/>
                </a:solidFill>
                <a:latin typeface="Courier New" pitchFamily="34" charset="0"/>
                <a:ea typeface="Courier New" pitchFamily="34" charset="-122"/>
                <a:cs typeface="Courier New" pitchFamily="34" charset="-120"/>
              </a:rPr>
              <a:t>P1</a:t>
            </a:r>
            <a:endParaRPr lang="en-US" sz="1800" dirty="0"/>
          </a:p>
        </p:txBody>
      </p:sp>
      <p:sp>
        <p:nvSpPr>
          <p:cNvPr id="8" name="Text 6"/>
          <p:cNvSpPr/>
          <p:nvPr/>
        </p:nvSpPr>
        <p:spPr>
          <a:xfrm>
            <a:off x="1459810" y="1641830"/>
            <a:ext cx="143415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A1408"/>
                </a:solidFill>
                <a:latin typeface="Courier New" pitchFamily="34" charset="0"/>
                <a:ea typeface="Courier New" pitchFamily="34" charset="-122"/>
                <a:cs typeface="Courier New" pitchFamily="34" charset="-120"/>
              </a:rPr>
              <a:t>HARDENING</a:t>
            </a:r>
            <a:endParaRPr lang="en-US" sz="1800" dirty="0"/>
          </a:p>
        </p:txBody>
      </p:sp>
      <p:sp>
        <p:nvSpPr>
          <p:cNvPr id="9" name="Text 7"/>
          <p:cNvSpPr/>
          <p:nvPr/>
        </p:nvSpPr>
        <p:spPr>
          <a:xfrm>
            <a:off x="914341" y="2236107"/>
            <a:ext cx="13735049" cy="1527392"/>
          </a:xfrm>
          <a:prstGeom prst="rect">
            <a:avLst/>
          </a:prstGeom>
          <a:noFill/>
          <a:ln/>
        </p:spPr>
        <p:txBody>
          <a:bodyPr wrap="square" lIns="25400" tIns="25400" rIns="25400" bIns="25400" rtlCol="0" anchor="t">
            <a:normAutofit/>
          </a:bodyPr>
          <a:lstStyle/>
          <a:p>
            <a:pPr algn="l" indent="0" marL="0">
              <a:lnSpc>
                <a:spcPct val="102000"/>
              </a:lnSpc>
              <a:buNone/>
            </a:pPr>
            <a:r>
              <a:rPr lang="en-US" sz="5700" spc="-114" kern="0" dirty="0">
                <a:solidFill>
                  <a:srgbClr val="16241C"/>
                </a:solidFill>
                <a:latin typeface="Georgia" pitchFamily="34" charset="0"/>
                <a:ea typeface="Georgia" pitchFamily="34" charset="-122"/>
                <a:cs typeface="Georgia" pitchFamily="34" charset="-120"/>
              </a:rPr>
              <a:t>Stand up the test loop, the type loop, </a:t>
            </a:r>
            <a:pPr algn="l" indent="0" marL="0">
              <a:lnSpc>
                <a:spcPct val="102000"/>
              </a:lnSpc>
              <a:buNone/>
            </a:pPr>
            <a:r>
              <a:rPr lang="en-US" sz="5700" i="1" spc="-114" kern="0" dirty="0">
                <a:solidFill>
                  <a:srgbClr val="C8923A"/>
                </a:solidFill>
                <a:latin typeface="Georgia" pitchFamily="34" charset="0"/>
                <a:ea typeface="Georgia" pitchFamily="34" charset="-122"/>
                <a:cs typeface="Georgia" pitchFamily="34" charset="-120"/>
              </a:rPr>
              <a:t>and the strict-mode build </a:t>
            </a:r>
            <a:pPr algn="l" indent="0" marL="0">
              <a:lnSpc>
                <a:spcPct val="102000"/>
              </a:lnSpc>
              <a:buNone/>
            </a:pPr>
            <a:r>
              <a:rPr lang="en-US" sz="5700" spc="-114" kern="0" dirty="0">
                <a:solidFill>
                  <a:srgbClr val="16241C"/>
                </a:solidFill>
                <a:latin typeface="Georgia" pitchFamily="34" charset="0"/>
                <a:ea typeface="Georgia" pitchFamily="34" charset="-122"/>
                <a:cs typeface="Georgia" pitchFamily="34" charset="-120"/>
              </a:rPr>
              <a:t>the project already paid for.</a:t>
            </a:r>
            <a:endParaRPr lang="en-US" sz="5700" dirty="0"/>
          </a:p>
        </p:txBody>
      </p:sp>
      <p:sp>
        <p:nvSpPr>
          <p:cNvPr id="10" name="Shape 8"/>
          <p:cNvSpPr/>
          <p:nvPr/>
        </p:nvSpPr>
        <p:spPr>
          <a:xfrm>
            <a:off x="914341" y="4258739"/>
            <a:ext cx="5308659" cy="5079802"/>
          </a:xfrm>
          <a:prstGeom prst="roundRect">
            <a:avLst>
              <a:gd name="adj" fmla="val 750"/>
            </a:avLst>
          </a:prstGeom>
          <a:solidFill>
            <a:srgbClr val="EFECE4"/>
          </a:solidFill>
          <a:ln w="6311">
            <a:solidFill>
              <a:srgbClr val="16241C">
                <a:alpha val="14000"/>
              </a:srgbClr>
            </a:solidFill>
            <a:prstDash val="solid"/>
          </a:ln>
        </p:spPr>
      </p:sp>
      <p:sp>
        <p:nvSpPr>
          <p:cNvPr id="11" name="Text 9"/>
          <p:cNvSpPr/>
          <p:nvPr/>
        </p:nvSpPr>
        <p:spPr>
          <a:xfrm>
            <a:off x="1225432" y="4607891"/>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C8923A"/>
                </a:solidFill>
                <a:latin typeface="Courier New" pitchFamily="34" charset="0"/>
                <a:ea typeface="Courier New" pitchFamily="34" charset="-122"/>
                <a:cs typeface="Courier New" pitchFamily="34" charset="-120"/>
              </a:rPr>
              <a:t>Item 06</a:t>
            </a:r>
            <a:endParaRPr lang="en-US" sz="1800" dirty="0"/>
          </a:p>
        </p:txBody>
      </p:sp>
      <p:sp>
        <p:nvSpPr>
          <p:cNvPr id="12" name="Text 10"/>
          <p:cNvSpPr/>
          <p:nvPr/>
        </p:nvSpPr>
        <p:spPr>
          <a:xfrm>
            <a:off x="2446919" y="4607891"/>
            <a:ext cx="147527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TESTING</a:t>
            </a:r>
            <a:endParaRPr lang="en-US" sz="1800" dirty="0"/>
          </a:p>
        </p:txBody>
      </p:sp>
      <p:sp>
        <p:nvSpPr>
          <p:cNvPr id="13" name="Text 11"/>
          <p:cNvSpPr/>
          <p:nvPr/>
        </p:nvSpPr>
        <p:spPr>
          <a:xfrm>
            <a:off x="1225432" y="5087789"/>
            <a:ext cx="4827071" cy="908365"/>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Stand up </a:t>
            </a:r>
            <a:pPr algn="l" indent="0" marL="0">
              <a:lnSpc>
                <a:spcPct val="108000"/>
              </a:lnSpc>
              <a:buNone/>
            </a:pPr>
            <a:r>
              <a:rPr lang="en-US" sz="3150" b="1" i="1" spc="-31" kern="0" dirty="0">
                <a:solidFill>
                  <a:srgbClr val="C8923A"/>
                </a:solidFill>
                <a:latin typeface="Georgia" pitchFamily="34" charset="0"/>
                <a:ea typeface="Georgia" pitchFamily="34" charset="-122"/>
                <a:cs typeface="Georgia" pitchFamily="34" charset="-120"/>
              </a:rPr>
              <a:t>the end-to-end </a:t>
            </a:r>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test we already paid for.</a:t>
            </a:r>
            <a:endParaRPr lang="en-US" sz="3150" dirty="0"/>
          </a:p>
        </p:txBody>
      </p:sp>
      <p:sp>
        <p:nvSpPr>
          <p:cNvPr id="14" name="Text 12"/>
          <p:cNvSpPr/>
          <p:nvPr/>
        </p:nvSpPr>
        <p:spPr>
          <a:xfrm>
            <a:off x="1225432" y="6129426"/>
            <a:ext cx="4827071" cy="1771532"/>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Playwright is installed and configured but zero test files exist. The core player loop — sign up → log match → see band — has never been exercised end-to-end by anything other than a human.</a:t>
            </a:r>
            <a:endParaRPr lang="en-US" sz="1950" dirty="0"/>
          </a:p>
        </p:txBody>
      </p:sp>
      <p:sp>
        <p:nvSpPr>
          <p:cNvPr id="15" name="Shape 13"/>
          <p:cNvSpPr/>
          <p:nvPr/>
        </p:nvSpPr>
        <p:spPr>
          <a:xfrm>
            <a:off x="1225432" y="8194654"/>
            <a:ext cx="4686477" cy="9525"/>
          </a:xfrm>
          <a:prstGeom prst="rect">
            <a:avLst/>
          </a:prstGeom>
          <a:solidFill>
            <a:srgbClr val="16241C">
              <a:alpha val="14000"/>
            </a:srgbClr>
          </a:solidFill>
          <a:ln/>
        </p:spPr>
      </p:sp>
      <p:sp>
        <p:nvSpPr>
          <p:cNvPr id="16" name="Text 14"/>
          <p:cNvSpPr/>
          <p:nvPr/>
        </p:nvSpPr>
        <p:spPr>
          <a:xfrm>
            <a:off x="1225432" y="8372415"/>
            <a:ext cx="4827071" cy="655075"/>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3 SMOKE TESTS COVERING EACH ROLE'S HAPPY PATH.</a:t>
            </a:r>
            <a:endParaRPr lang="en-US" sz="1800" dirty="0"/>
          </a:p>
        </p:txBody>
      </p:sp>
      <p:sp>
        <p:nvSpPr>
          <p:cNvPr id="17" name="Shape 15"/>
          <p:cNvSpPr/>
          <p:nvPr/>
        </p:nvSpPr>
        <p:spPr>
          <a:xfrm>
            <a:off x="6489621" y="4258739"/>
            <a:ext cx="5308659" cy="5079802"/>
          </a:xfrm>
          <a:prstGeom prst="roundRect">
            <a:avLst>
              <a:gd name="adj" fmla="val 750"/>
            </a:avLst>
          </a:prstGeom>
          <a:solidFill>
            <a:srgbClr val="EFECE4"/>
          </a:solidFill>
          <a:ln w="6311">
            <a:solidFill>
              <a:srgbClr val="16241C">
                <a:alpha val="14000"/>
              </a:srgbClr>
            </a:solidFill>
            <a:prstDash val="solid"/>
          </a:ln>
        </p:spPr>
      </p:sp>
      <p:sp>
        <p:nvSpPr>
          <p:cNvPr id="18" name="Text 16"/>
          <p:cNvSpPr/>
          <p:nvPr/>
        </p:nvSpPr>
        <p:spPr>
          <a:xfrm>
            <a:off x="6800712" y="4607891"/>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C8923A"/>
                </a:solidFill>
                <a:latin typeface="Courier New" pitchFamily="34" charset="0"/>
                <a:ea typeface="Courier New" pitchFamily="34" charset="-122"/>
                <a:cs typeface="Courier New" pitchFamily="34" charset="-120"/>
              </a:rPr>
              <a:t>Item 07</a:t>
            </a:r>
            <a:endParaRPr lang="en-US" sz="1800" dirty="0"/>
          </a:p>
        </p:txBody>
      </p:sp>
      <p:sp>
        <p:nvSpPr>
          <p:cNvPr id="19" name="Text 17"/>
          <p:cNvSpPr/>
          <p:nvPr/>
        </p:nvSpPr>
        <p:spPr>
          <a:xfrm>
            <a:off x="8022199" y="4607891"/>
            <a:ext cx="225255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CODE QUALITY</a:t>
            </a:r>
            <a:endParaRPr lang="en-US" sz="1800" dirty="0"/>
          </a:p>
        </p:txBody>
      </p:sp>
      <p:sp>
        <p:nvSpPr>
          <p:cNvPr id="20" name="Text 18"/>
          <p:cNvSpPr/>
          <p:nvPr/>
        </p:nvSpPr>
        <p:spPr>
          <a:xfrm>
            <a:off x="6800712" y="5087789"/>
            <a:ext cx="4827071" cy="914676"/>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Turn TypeScript </a:t>
            </a:r>
            <a:pPr algn="l" indent="0" marL="0">
              <a:lnSpc>
                <a:spcPct val="108000"/>
              </a:lnSpc>
              <a:buNone/>
            </a:pPr>
            <a:r>
              <a:rPr lang="en-US" sz="3150" b="1" i="1" spc="-31" kern="0" dirty="0">
                <a:solidFill>
                  <a:srgbClr val="C8923A"/>
                </a:solidFill>
                <a:latin typeface="Georgia" pitchFamily="34" charset="0"/>
                <a:ea typeface="Georgia" pitchFamily="34" charset="-122"/>
                <a:cs typeface="Georgia" pitchFamily="34" charset="-120"/>
              </a:rPr>
              <a:t>strict mode on </a:t>
            </a:r>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and pay the bill once.</a:t>
            </a:r>
            <a:endParaRPr lang="en-US" sz="3150" dirty="0"/>
          </a:p>
        </p:txBody>
      </p:sp>
      <p:sp>
        <p:nvSpPr>
          <p:cNvPr id="21" name="Text 19"/>
          <p:cNvSpPr/>
          <p:nvPr/>
        </p:nvSpPr>
        <p:spPr>
          <a:xfrm>
            <a:off x="6800712" y="6135737"/>
            <a:ext cx="4827071" cy="1424845"/>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noImplicitAny, strictNullChecks, and unused-variable checks are all disabled. Flipping them on surfaces the type debt today, while it's still small enough to fix.</a:t>
            </a:r>
            <a:endParaRPr lang="en-US" sz="1950" dirty="0"/>
          </a:p>
        </p:txBody>
      </p:sp>
      <p:sp>
        <p:nvSpPr>
          <p:cNvPr id="22" name="Shape 20"/>
          <p:cNvSpPr/>
          <p:nvPr/>
        </p:nvSpPr>
        <p:spPr>
          <a:xfrm>
            <a:off x="6800712" y="7886127"/>
            <a:ext cx="4686477" cy="9525"/>
          </a:xfrm>
          <a:prstGeom prst="rect">
            <a:avLst/>
          </a:prstGeom>
          <a:solidFill>
            <a:srgbClr val="16241C">
              <a:alpha val="14000"/>
            </a:srgbClr>
          </a:solidFill>
          <a:ln/>
        </p:spPr>
      </p:sp>
      <p:sp>
        <p:nvSpPr>
          <p:cNvPr id="23" name="Text 21"/>
          <p:cNvSpPr/>
          <p:nvPr/>
        </p:nvSpPr>
        <p:spPr>
          <a:xfrm>
            <a:off x="6800712" y="8063888"/>
            <a:ext cx="4827071" cy="963603"/>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ENABLE STRICT IN </a:t>
            </a:r>
            <a:pPr algn="l" indent="0" marL="0">
              <a:lnSpc>
                <a:spcPct val="135000"/>
              </a:lnSpc>
              <a:buNone/>
            </a:pPr>
            <a:r>
              <a:rPr lang="en-US" sz="1620" spc="108" kern="0" dirty="0">
                <a:solidFill>
                  <a:srgbClr val="16241C"/>
                </a:solidFill>
                <a:highlight>
                  <a:srgbClr val="EFECE4"/>
                </a:highlight>
                <a:latin typeface="Courier New" pitchFamily="34" charset="0"/>
                <a:ea typeface="Courier New" pitchFamily="34" charset="-122"/>
                <a:cs typeface="Courier New" pitchFamily="34" charset="-120"/>
              </a:rPr>
              <a:t>TSCONFIG.APP.JSON </a:t>
            </a:r>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 TRIAGE ERRORS.</a:t>
            </a:r>
            <a:endParaRPr lang="en-US" sz="1800" dirty="0"/>
          </a:p>
        </p:txBody>
      </p:sp>
      <p:sp>
        <p:nvSpPr>
          <p:cNvPr id="24" name="Shape 22"/>
          <p:cNvSpPr/>
          <p:nvPr/>
        </p:nvSpPr>
        <p:spPr>
          <a:xfrm>
            <a:off x="12064901" y="4258739"/>
            <a:ext cx="5308659" cy="5079802"/>
          </a:xfrm>
          <a:prstGeom prst="roundRect">
            <a:avLst>
              <a:gd name="adj" fmla="val 750"/>
            </a:avLst>
          </a:prstGeom>
          <a:solidFill>
            <a:srgbClr val="EFECE4"/>
          </a:solidFill>
          <a:ln w="6311">
            <a:solidFill>
              <a:srgbClr val="16241C">
                <a:alpha val="14000"/>
              </a:srgbClr>
            </a:solidFill>
            <a:prstDash val="solid"/>
          </a:ln>
        </p:spPr>
      </p:sp>
      <p:sp>
        <p:nvSpPr>
          <p:cNvPr id="25" name="Text 23"/>
          <p:cNvSpPr/>
          <p:nvPr/>
        </p:nvSpPr>
        <p:spPr>
          <a:xfrm>
            <a:off x="12375991" y="4607891"/>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C8923A"/>
                </a:solidFill>
                <a:latin typeface="Courier New" pitchFamily="34" charset="0"/>
                <a:ea typeface="Courier New" pitchFamily="34" charset="-122"/>
                <a:cs typeface="Courier New" pitchFamily="34" charset="-120"/>
              </a:rPr>
              <a:t>Item 11</a:t>
            </a:r>
            <a:endParaRPr lang="en-US" sz="1800" dirty="0"/>
          </a:p>
        </p:txBody>
      </p:sp>
      <p:sp>
        <p:nvSpPr>
          <p:cNvPr id="26" name="Text 24"/>
          <p:cNvSpPr/>
          <p:nvPr/>
        </p:nvSpPr>
        <p:spPr>
          <a:xfrm>
            <a:off x="13597479" y="4607891"/>
            <a:ext cx="225255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CODE QUALITY</a:t>
            </a:r>
            <a:endParaRPr lang="en-US" sz="1800" dirty="0"/>
          </a:p>
        </p:txBody>
      </p:sp>
      <p:sp>
        <p:nvSpPr>
          <p:cNvPr id="27" name="Text 25"/>
          <p:cNvSpPr/>
          <p:nvPr/>
        </p:nvSpPr>
        <p:spPr>
          <a:xfrm>
            <a:off x="12375991" y="5087789"/>
            <a:ext cx="4827071" cy="914676"/>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Ship a build </a:t>
            </a:r>
            <a:pPr algn="l" indent="0" marL="0">
              <a:lnSpc>
                <a:spcPct val="108000"/>
              </a:lnSpc>
              <a:buNone/>
            </a:pPr>
            <a:r>
              <a:rPr lang="en-US" sz="3150" b="1" i="1" spc="-31" kern="0" dirty="0">
                <a:solidFill>
                  <a:srgbClr val="C8923A"/>
                </a:solidFill>
                <a:latin typeface="Georgia" pitchFamily="34" charset="0"/>
                <a:ea typeface="Georgia" pitchFamily="34" charset="-122"/>
                <a:cs typeface="Georgia" pitchFamily="34" charset="-120"/>
              </a:rPr>
              <a:t>that compiles clean </a:t>
            </a:r>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under strict.</a:t>
            </a:r>
            <a:endParaRPr lang="en-US" sz="3150" dirty="0"/>
          </a:p>
        </p:txBody>
      </p:sp>
      <p:sp>
        <p:nvSpPr>
          <p:cNvPr id="28" name="Text 26"/>
          <p:cNvSpPr/>
          <p:nvPr/>
        </p:nvSpPr>
        <p:spPr>
          <a:xfrm>
            <a:off x="12375991" y="6135737"/>
            <a:ext cx="4827071" cy="1424845"/>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A build that only works with strict settings off is not production-grade. Once 07 is done, 11 is the ratchet that keeps it done — fail the pipeline on any new loose type.</a:t>
            </a:r>
            <a:endParaRPr lang="en-US" sz="1950" dirty="0"/>
          </a:p>
        </p:txBody>
      </p:sp>
      <p:sp>
        <p:nvSpPr>
          <p:cNvPr id="29" name="Shape 27"/>
          <p:cNvSpPr/>
          <p:nvPr/>
        </p:nvSpPr>
        <p:spPr>
          <a:xfrm>
            <a:off x="12375991" y="8194654"/>
            <a:ext cx="4686477" cy="9525"/>
          </a:xfrm>
          <a:prstGeom prst="rect">
            <a:avLst/>
          </a:prstGeom>
          <a:solidFill>
            <a:srgbClr val="16241C">
              <a:alpha val="14000"/>
            </a:srgbClr>
          </a:solidFill>
          <a:ln/>
        </p:spPr>
      </p:sp>
      <p:sp>
        <p:nvSpPr>
          <p:cNvPr id="30" name="Text 28"/>
          <p:cNvSpPr/>
          <p:nvPr/>
        </p:nvSpPr>
        <p:spPr>
          <a:xfrm>
            <a:off x="12375991" y="8372415"/>
            <a:ext cx="4827071" cy="655075"/>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a:t>
            </a:r>
            <a:pPr algn="l" indent="0" marL="0">
              <a:lnSpc>
                <a:spcPct val="135000"/>
              </a:lnSpc>
              <a:buNone/>
            </a:pPr>
            <a:r>
              <a:rPr lang="en-US" sz="1620" spc="108" kern="0" dirty="0">
                <a:solidFill>
                  <a:srgbClr val="16241C"/>
                </a:solidFill>
                <a:highlight>
                  <a:srgbClr val="EFECE4"/>
                </a:highlight>
                <a:latin typeface="Courier New" pitchFamily="34" charset="0"/>
                <a:ea typeface="Courier New" pitchFamily="34" charset="-122"/>
                <a:cs typeface="Courier New" pitchFamily="34" charset="-120"/>
              </a:rPr>
              <a:t>NPM RUN BUILD </a:t>
            </a:r>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IN STRICT; GATE MERGES ON IT.</a:t>
            </a:r>
            <a:endParaRPr lang="en-US" sz="1800" dirty="0"/>
          </a:p>
        </p:txBody>
      </p:sp>
      <p:sp>
        <p:nvSpPr>
          <p:cNvPr id="31" name="Shape 29"/>
          <p:cNvSpPr/>
          <p:nvPr/>
        </p:nvSpPr>
        <p:spPr>
          <a:xfrm>
            <a:off x="914341" y="9381730"/>
            <a:ext cx="16459317" cy="9525"/>
          </a:xfrm>
          <a:prstGeom prst="rect">
            <a:avLst/>
          </a:prstGeom>
          <a:solidFill>
            <a:srgbClr val="16241C">
              <a:alpha val="14000"/>
            </a:srgbClr>
          </a:solidFill>
          <a:ln/>
        </p:spPr>
      </p:sp>
      <p:sp>
        <p:nvSpPr>
          <p:cNvPr id="32" name="Text 30"/>
          <p:cNvSpPr/>
          <p:nvPr/>
        </p:nvSpPr>
        <p:spPr>
          <a:xfrm>
            <a:off x="914341" y="9559412"/>
            <a:ext cx="482229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P1 · CLUSTER A — TESTING &amp; TYPES</a:t>
            </a:r>
            <a:endParaRPr lang="en-US" sz="1800" dirty="0"/>
          </a:p>
        </p:txBody>
      </p:sp>
      <p:sp>
        <p:nvSpPr>
          <p:cNvPr id="33" name="Text 31"/>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10 / 25</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1228752" y="419061"/>
            <a:ext cx="632925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P1 · ITEMS 8, 9, 10 OF 25 · RUNTIME SAFETY</a:t>
            </a:r>
            <a:endParaRPr lang="en-US" sz="1800" dirty="0"/>
          </a:p>
        </p:txBody>
      </p:sp>
      <p:sp>
        <p:nvSpPr>
          <p:cNvPr id="5" name="Text 3"/>
          <p:cNvSpPr/>
          <p:nvPr/>
        </p:nvSpPr>
        <p:spPr>
          <a:xfrm>
            <a:off x="914341" y="1219121"/>
            <a:ext cx="1373504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P1 · CLUSTER B</a:t>
            </a:r>
            <a:endParaRPr lang="en-US" sz="1800" dirty="0"/>
          </a:p>
        </p:txBody>
      </p:sp>
      <p:sp>
        <p:nvSpPr>
          <p:cNvPr id="6" name="Shape 4"/>
          <p:cNvSpPr/>
          <p:nvPr/>
        </p:nvSpPr>
        <p:spPr>
          <a:xfrm>
            <a:off x="914341" y="1527648"/>
            <a:ext cx="2074793" cy="517959"/>
          </a:xfrm>
          <a:prstGeom prst="roundRect">
            <a:avLst>
              <a:gd name="adj" fmla="val 50000"/>
            </a:avLst>
          </a:prstGeom>
          <a:solidFill>
            <a:srgbClr val="C8923A"/>
          </a:solidFill>
          <a:ln/>
        </p:spPr>
      </p:sp>
      <p:sp>
        <p:nvSpPr>
          <p:cNvPr id="7" name="Text 5"/>
          <p:cNvSpPr/>
          <p:nvPr/>
        </p:nvSpPr>
        <p:spPr>
          <a:xfrm>
            <a:off x="1085712" y="1622898"/>
            <a:ext cx="35504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08" kern="0" dirty="0">
                <a:solidFill>
                  <a:srgbClr val="1A1408"/>
                </a:solidFill>
                <a:latin typeface="Courier New" pitchFamily="34" charset="0"/>
                <a:ea typeface="Courier New" pitchFamily="34" charset="-122"/>
                <a:cs typeface="Courier New" pitchFamily="34" charset="-120"/>
              </a:rPr>
              <a:t>P1</a:t>
            </a:r>
            <a:endParaRPr lang="en-US" sz="1800" dirty="0"/>
          </a:p>
        </p:txBody>
      </p:sp>
      <p:sp>
        <p:nvSpPr>
          <p:cNvPr id="8" name="Text 6"/>
          <p:cNvSpPr/>
          <p:nvPr/>
        </p:nvSpPr>
        <p:spPr>
          <a:xfrm>
            <a:off x="1459810" y="1641830"/>
            <a:ext cx="143415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A1408"/>
                </a:solidFill>
                <a:latin typeface="Courier New" pitchFamily="34" charset="0"/>
                <a:ea typeface="Courier New" pitchFamily="34" charset="-122"/>
                <a:cs typeface="Courier New" pitchFamily="34" charset="-120"/>
              </a:rPr>
              <a:t>HARDENING</a:t>
            </a:r>
            <a:endParaRPr lang="en-US" sz="1800" dirty="0"/>
          </a:p>
        </p:txBody>
      </p:sp>
      <p:sp>
        <p:nvSpPr>
          <p:cNvPr id="9" name="Text 7"/>
          <p:cNvSpPr/>
          <p:nvPr/>
        </p:nvSpPr>
        <p:spPr>
          <a:xfrm>
            <a:off x="914341" y="2236107"/>
            <a:ext cx="13735049" cy="1521081"/>
          </a:xfrm>
          <a:prstGeom prst="rect">
            <a:avLst/>
          </a:prstGeom>
          <a:noFill/>
          <a:ln/>
        </p:spPr>
        <p:txBody>
          <a:bodyPr wrap="square" lIns="25400" tIns="25400" rIns="25400" bIns="25400" rtlCol="0" anchor="t">
            <a:normAutofit/>
          </a:bodyPr>
          <a:lstStyle/>
          <a:p>
            <a:pPr algn="l" indent="0" marL="0">
              <a:lnSpc>
                <a:spcPct val="102000"/>
              </a:lnSpc>
              <a:buNone/>
            </a:pPr>
            <a:r>
              <a:rPr lang="en-US" sz="5700" spc="-114" kern="0" dirty="0">
                <a:solidFill>
                  <a:srgbClr val="16241C"/>
                </a:solidFill>
                <a:latin typeface="Georgia" pitchFamily="34" charset="0"/>
                <a:ea typeface="Georgia" pitchFamily="34" charset="-122"/>
                <a:cs typeface="Georgia" pitchFamily="34" charset="-120"/>
              </a:rPr>
              <a:t>Make every failure </a:t>
            </a:r>
            <a:pPr algn="l" indent="0" marL="0">
              <a:lnSpc>
                <a:spcPct val="102000"/>
              </a:lnSpc>
              <a:buNone/>
            </a:pPr>
            <a:r>
              <a:rPr lang="en-US" sz="5700" i="1" spc="-114" kern="0" dirty="0">
                <a:solidFill>
                  <a:srgbClr val="C8923A"/>
                </a:solidFill>
                <a:latin typeface="Georgia" pitchFamily="34" charset="0"/>
                <a:ea typeface="Georgia" pitchFamily="34" charset="-122"/>
                <a:cs typeface="Georgia" pitchFamily="34" charset="-120"/>
              </a:rPr>
              <a:t>visible to the user </a:t>
            </a:r>
            <a:pPr algn="l" indent="0" marL="0">
              <a:lnSpc>
                <a:spcPct val="102000"/>
              </a:lnSpc>
              <a:buNone/>
            </a:pPr>
            <a:r>
              <a:rPr lang="en-US" sz="5700" spc="-114" kern="0" dirty="0">
                <a:solidFill>
                  <a:srgbClr val="16241C"/>
                </a:solidFill>
                <a:latin typeface="Georgia" pitchFamily="34" charset="0"/>
                <a:ea typeface="Georgia" pitchFamily="34" charset="-122"/>
                <a:cs typeface="Georgia" pitchFamily="34" charset="-120"/>
              </a:rPr>
              <a:t>— and every weak password impossible.</a:t>
            </a:r>
            <a:endParaRPr lang="en-US" sz="5700" dirty="0"/>
          </a:p>
        </p:txBody>
      </p:sp>
      <p:sp>
        <p:nvSpPr>
          <p:cNvPr id="10" name="Shape 8"/>
          <p:cNvSpPr/>
          <p:nvPr/>
        </p:nvSpPr>
        <p:spPr>
          <a:xfrm>
            <a:off x="914341" y="4252429"/>
            <a:ext cx="5308659" cy="5249991"/>
          </a:xfrm>
          <a:prstGeom prst="roundRect">
            <a:avLst>
              <a:gd name="adj" fmla="val 726"/>
            </a:avLst>
          </a:prstGeom>
          <a:solidFill>
            <a:srgbClr val="EFECE4"/>
          </a:solidFill>
          <a:ln w="6311">
            <a:solidFill>
              <a:srgbClr val="16241C">
                <a:alpha val="14000"/>
              </a:srgbClr>
            </a:solidFill>
            <a:prstDash val="solid"/>
          </a:ln>
        </p:spPr>
      </p:sp>
      <p:sp>
        <p:nvSpPr>
          <p:cNvPr id="11" name="Text 9"/>
          <p:cNvSpPr/>
          <p:nvPr/>
        </p:nvSpPr>
        <p:spPr>
          <a:xfrm>
            <a:off x="1225432" y="4601580"/>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C8923A"/>
                </a:solidFill>
                <a:latin typeface="Courier New" pitchFamily="34" charset="0"/>
                <a:ea typeface="Courier New" pitchFamily="34" charset="-122"/>
                <a:cs typeface="Courier New" pitchFamily="34" charset="-120"/>
              </a:rPr>
              <a:t>Item 08</a:t>
            </a:r>
            <a:endParaRPr lang="en-US" sz="1800" dirty="0"/>
          </a:p>
        </p:txBody>
      </p:sp>
      <p:sp>
        <p:nvSpPr>
          <p:cNvPr id="12" name="Text 10"/>
          <p:cNvSpPr/>
          <p:nvPr/>
        </p:nvSpPr>
        <p:spPr>
          <a:xfrm>
            <a:off x="2446919" y="4601580"/>
            <a:ext cx="256344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ERROR HANDLING</a:t>
            </a:r>
            <a:endParaRPr lang="en-US" sz="1800" dirty="0"/>
          </a:p>
        </p:txBody>
      </p:sp>
      <p:sp>
        <p:nvSpPr>
          <p:cNvPr id="13" name="Text 11"/>
          <p:cNvSpPr/>
          <p:nvPr/>
        </p:nvSpPr>
        <p:spPr>
          <a:xfrm>
            <a:off x="1225432" y="5081479"/>
            <a:ext cx="4827071" cy="908365"/>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Surface every Supabase </a:t>
            </a:r>
            <a:pPr algn="l" indent="0" marL="0">
              <a:lnSpc>
                <a:spcPct val="108000"/>
              </a:lnSpc>
              <a:buNone/>
            </a:pPr>
            <a:r>
              <a:rPr lang="en-US" sz="3150" b="1" i="1" spc="-31" kern="0" dirty="0">
                <a:solidFill>
                  <a:srgbClr val="C8923A"/>
                </a:solidFill>
                <a:latin typeface="Georgia" pitchFamily="34" charset="0"/>
                <a:ea typeface="Georgia" pitchFamily="34" charset="-122"/>
                <a:cs typeface="Georgia" pitchFamily="34" charset="-120"/>
              </a:rPr>
              <a:t>write failure </a:t>
            </a:r>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to the user.</a:t>
            </a:r>
            <a:endParaRPr lang="en-US" sz="3150" dirty="0"/>
          </a:p>
        </p:txBody>
      </p:sp>
      <p:sp>
        <p:nvSpPr>
          <p:cNvPr id="14" name="Text 12"/>
          <p:cNvSpPr/>
          <p:nvPr/>
        </p:nvSpPr>
        <p:spPr>
          <a:xfrm>
            <a:off x="1225432" y="6123115"/>
            <a:ext cx="4827071" cy="1787308"/>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Audit every </a:t>
            </a:r>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.insert()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and </a:t>
            </a:r>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.update()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call. Silent failures mean a coach assesses a player, the request fails, the UI says nothing, and the assessment is gone. We learn about it from the coach.</a:t>
            </a:r>
            <a:endParaRPr lang="en-US" sz="1950" dirty="0"/>
          </a:p>
        </p:txBody>
      </p:sp>
      <p:sp>
        <p:nvSpPr>
          <p:cNvPr id="15" name="Shape 13"/>
          <p:cNvSpPr/>
          <p:nvPr/>
        </p:nvSpPr>
        <p:spPr>
          <a:xfrm>
            <a:off x="1225432" y="8050005"/>
            <a:ext cx="4686477" cy="9525"/>
          </a:xfrm>
          <a:prstGeom prst="rect">
            <a:avLst/>
          </a:prstGeom>
          <a:solidFill>
            <a:srgbClr val="16241C">
              <a:alpha val="14000"/>
            </a:srgbClr>
          </a:solidFill>
          <a:ln/>
        </p:spPr>
      </p:sp>
      <p:sp>
        <p:nvSpPr>
          <p:cNvPr id="16" name="Text 14"/>
          <p:cNvSpPr/>
          <p:nvPr/>
        </p:nvSpPr>
        <p:spPr>
          <a:xfrm>
            <a:off x="1225432" y="8227766"/>
            <a:ext cx="4827071" cy="963603"/>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LINT RULE + MANUAL SWEEP; TOAST ON EVERY ERROR PATH.</a:t>
            </a:r>
            <a:endParaRPr lang="en-US" sz="1800" dirty="0"/>
          </a:p>
        </p:txBody>
      </p:sp>
      <p:sp>
        <p:nvSpPr>
          <p:cNvPr id="17" name="Shape 15"/>
          <p:cNvSpPr/>
          <p:nvPr/>
        </p:nvSpPr>
        <p:spPr>
          <a:xfrm>
            <a:off x="6489621" y="4252429"/>
            <a:ext cx="5308659" cy="5249991"/>
          </a:xfrm>
          <a:prstGeom prst="roundRect">
            <a:avLst>
              <a:gd name="adj" fmla="val 726"/>
            </a:avLst>
          </a:prstGeom>
          <a:solidFill>
            <a:srgbClr val="EFECE4"/>
          </a:solidFill>
          <a:ln w="6311">
            <a:solidFill>
              <a:srgbClr val="16241C">
                <a:alpha val="14000"/>
              </a:srgbClr>
            </a:solidFill>
            <a:prstDash val="solid"/>
          </a:ln>
        </p:spPr>
      </p:sp>
      <p:sp>
        <p:nvSpPr>
          <p:cNvPr id="18" name="Text 16"/>
          <p:cNvSpPr/>
          <p:nvPr/>
        </p:nvSpPr>
        <p:spPr>
          <a:xfrm>
            <a:off x="6800712" y="4601580"/>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C8923A"/>
                </a:solidFill>
                <a:latin typeface="Courier New" pitchFamily="34" charset="0"/>
                <a:ea typeface="Courier New" pitchFamily="34" charset="-122"/>
                <a:cs typeface="Courier New" pitchFamily="34" charset="-120"/>
              </a:rPr>
              <a:t>Item 09</a:t>
            </a:r>
            <a:endParaRPr lang="en-US" sz="1800" dirty="0"/>
          </a:p>
        </p:txBody>
      </p:sp>
      <p:sp>
        <p:nvSpPr>
          <p:cNvPr id="19" name="Text 17"/>
          <p:cNvSpPr/>
          <p:nvPr/>
        </p:nvSpPr>
        <p:spPr>
          <a:xfrm>
            <a:off x="8022199" y="4601580"/>
            <a:ext cx="256344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ERROR HANDLING</a:t>
            </a:r>
            <a:endParaRPr lang="en-US" sz="1800" dirty="0"/>
          </a:p>
        </p:txBody>
      </p:sp>
      <p:sp>
        <p:nvSpPr>
          <p:cNvPr id="20" name="Text 18"/>
          <p:cNvSpPr/>
          <p:nvPr/>
        </p:nvSpPr>
        <p:spPr>
          <a:xfrm>
            <a:off x="6800712" y="5081479"/>
            <a:ext cx="4827071" cy="914676"/>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Handle </a:t>
            </a:r>
            <a:pPr algn="l" indent="0" marL="0">
              <a:lnSpc>
                <a:spcPct val="108000"/>
              </a:lnSpc>
              <a:buNone/>
            </a:pPr>
            <a:r>
              <a:rPr lang="en-US" sz="3150" b="1" i="1" spc="-31" kern="0" dirty="0">
                <a:solidFill>
                  <a:srgbClr val="C8923A"/>
                </a:solidFill>
                <a:latin typeface="Georgia" pitchFamily="34" charset="0"/>
                <a:ea typeface="Georgia" pitchFamily="34" charset="-122"/>
                <a:cs typeface="Georgia" pitchFamily="34" charset="-120"/>
              </a:rPr>
              <a:t>the session that just expired </a:t>
            </a:r>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a:t>
            </a:r>
            <a:endParaRPr lang="en-US" sz="3150" dirty="0"/>
          </a:p>
        </p:txBody>
      </p:sp>
      <p:sp>
        <p:nvSpPr>
          <p:cNvPr id="21" name="Text 19"/>
          <p:cNvSpPr/>
          <p:nvPr/>
        </p:nvSpPr>
        <p:spPr>
          <a:xfrm>
            <a:off x="6800712" y="6129426"/>
            <a:ext cx="4827071" cy="1787308"/>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autoRefreshToken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is on, but no explicit expiry handler exists. Clear the token mid-session and the app hangs instead of redirecting cleanly to sign-in. Pilot users will hit this on the second day.</a:t>
            </a:r>
            <a:endParaRPr lang="en-US" sz="1950" dirty="0"/>
          </a:p>
        </p:txBody>
      </p:sp>
      <p:sp>
        <p:nvSpPr>
          <p:cNvPr id="22" name="Shape 20"/>
          <p:cNvSpPr/>
          <p:nvPr/>
        </p:nvSpPr>
        <p:spPr>
          <a:xfrm>
            <a:off x="6800712" y="8050005"/>
            <a:ext cx="4686477" cy="9525"/>
          </a:xfrm>
          <a:prstGeom prst="rect">
            <a:avLst/>
          </a:prstGeom>
          <a:solidFill>
            <a:srgbClr val="16241C">
              <a:alpha val="14000"/>
            </a:srgbClr>
          </a:solidFill>
          <a:ln/>
        </p:spPr>
      </p:sp>
      <p:sp>
        <p:nvSpPr>
          <p:cNvPr id="23" name="Text 21"/>
          <p:cNvSpPr/>
          <p:nvPr/>
        </p:nvSpPr>
        <p:spPr>
          <a:xfrm>
            <a:off x="6800712" y="8227766"/>
            <a:ext cx="4827071" cy="963603"/>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GLOBAL AUTH-STATE LISTENER; REDIRECT ON SESSION LOSS.</a:t>
            </a:r>
            <a:endParaRPr lang="en-US" sz="1800" dirty="0"/>
          </a:p>
        </p:txBody>
      </p:sp>
      <p:sp>
        <p:nvSpPr>
          <p:cNvPr id="24" name="Shape 22"/>
          <p:cNvSpPr/>
          <p:nvPr/>
        </p:nvSpPr>
        <p:spPr>
          <a:xfrm>
            <a:off x="12064901" y="4252429"/>
            <a:ext cx="5308659" cy="5249991"/>
          </a:xfrm>
          <a:prstGeom prst="roundRect">
            <a:avLst>
              <a:gd name="adj" fmla="val 726"/>
            </a:avLst>
          </a:prstGeom>
          <a:solidFill>
            <a:srgbClr val="EFECE4"/>
          </a:solidFill>
          <a:ln w="6311">
            <a:solidFill>
              <a:srgbClr val="16241C">
                <a:alpha val="14000"/>
              </a:srgbClr>
            </a:solidFill>
            <a:prstDash val="solid"/>
          </a:ln>
        </p:spPr>
      </p:sp>
      <p:sp>
        <p:nvSpPr>
          <p:cNvPr id="25" name="Text 23"/>
          <p:cNvSpPr/>
          <p:nvPr/>
        </p:nvSpPr>
        <p:spPr>
          <a:xfrm>
            <a:off x="12375991" y="4601580"/>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C8923A"/>
                </a:solidFill>
                <a:latin typeface="Courier New" pitchFamily="34" charset="0"/>
                <a:ea typeface="Courier New" pitchFamily="34" charset="-122"/>
                <a:cs typeface="Courier New" pitchFamily="34" charset="-120"/>
              </a:rPr>
              <a:t>Item 10</a:t>
            </a:r>
            <a:endParaRPr lang="en-US" sz="1800" dirty="0"/>
          </a:p>
        </p:txBody>
      </p:sp>
      <p:sp>
        <p:nvSpPr>
          <p:cNvPr id="26" name="Text 24"/>
          <p:cNvSpPr/>
          <p:nvPr/>
        </p:nvSpPr>
        <p:spPr>
          <a:xfrm>
            <a:off x="13597479" y="4601580"/>
            <a:ext cx="163076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SECURITY</a:t>
            </a:r>
            <a:endParaRPr lang="en-US" sz="1800" dirty="0"/>
          </a:p>
        </p:txBody>
      </p:sp>
      <p:sp>
        <p:nvSpPr>
          <p:cNvPr id="27" name="Text 25"/>
          <p:cNvSpPr/>
          <p:nvPr/>
        </p:nvSpPr>
        <p:spPr>
          <a:xfrm>
            <a:off x="12375991" y="5081479"/>
            <a:ext cx="4827071" cy="914676"/>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Raise the password floor </a:t>
            </a:r>
            <a:pPr algn="l" indent="0" marL="0">
              <a:lnSpc>
                <a:spcPct val="108000"/>
              </a:lnSpc>
              <a:buNone/>
            </a:pPr>
            <a:r>
              <a:rPr lang="en-US" sz="3150" b="1" i="1" spc="-31" kern="0" dirty="0">
                <a:solidFill>
                  <a:srgbClr val="C8923A"/>
                </a:solidFill>
                <a:latin typeface="Georgia" pitchFamily="34" charset="0"/>
                <a:ea typeface="Georgia" pitchFamily="34" charset="-122"/>
                <a:cs typeface="Georgia" pitchFamily="34" charset="-120"/>
              </a:rPr>
              <a:t>to eight characters </a:t>
            </a:r>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a:t>
            </a:r>
            <a:endParaRPr lang="en-US" sz="3150" dirty="0"/>
          </a:p>
        </p:txBody>
      </p:sp>
      <p:sp>
        <p:nvSpPr>
          <p:cNvPr id="28" name="Text 26"/>
          <p:cNvSpPr/>
          <p:nvPr/>
        </p:nvSpPr>
        <p:spPr>
          <a:xfrm>
            <a:off x="12375991" y="6129426"/>
            <a:ext cx="4827071" cy="1771532"/>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Both Supabase and the frontend currently accept 6-character passwords. With minors in scope, the minimum is 8 and the message at signup should say so before the request goes out.</a:t>
            </a:r>
            <a:endParaRPr lang="en-US" sz="1950" dirty="0"/>
          </a:p>
        </p:txBody>
      </p:sp>
      <p:sp>
        <p:nvSpPr>
          <p:cNvPr id="29" name="Shape 27"/>
          <p:cNvSpPr/>
          <p:nvPr/>
        </p:nvSpPr>
        <p:spPr>
          <a:xfrm>
            <a:off x="12375991" y="8358532"/>
            <a:ext cx="4686477" cy="9525"/>
          </a:xfrm>
          <a:prstGeom prst="rect">
            <a:avLst/>
          </a:prstGeom>
          <a:solidFill>
            <a:srgbClr val="16241C">
              <a:alpha val="14000"/>
            </a:srgbClr>
          </a:solidFill>
          <a:ln/>
        </p:spPr>
      </p:sp>
      <p:sp>
        <p:nvSpPr>
          <p:cNvPr id="30" name="Text 28"/>
          <p:cNvSpPr/>
          <p:nvPr/>
        </p:nvSpPr>
        <p:spPr>
          <a:xfrm>
            <a:off x="12375991" y="8536293"/>
            <a:ext cx="4827071" cy="655075"/>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SUPABASE AUTH SETTING + FRONTEND VALIDATOR + COPY.</a:t>
            </a:r>
            <a:endParaRPr lang="en-US" sz="1800" dirty="0"/>
          </a:p>
        </p:txBody>
      </p:sp>
      <p:sp>
        <p:nvSpPr>
          <p:cNvPr id="31" name="Shape 29"/>
          <p:cNvSpPr/>
          <p:nvPr/>
        </p:nvSpPr>
        <p:spPr>
          <a:xfrm>
            <a:off x="914341" y="9381730"/>
            <a:ext cx="16459317" cy="9525"/>
          </a:xfrm>
          <a:prstGeom prst="rect">
            <a:avLst/>
          </a:prstGeom>
          <a:solidFill>
            <a:srgbClr val="16241C">
              <a:alpha val="14000"/>
            </a:srgbClr>
          </a:solidFill>
          <a:ln/>
        </p:spPr>
      </p:sp>
      <p:sp>
        <p:nvSpPr>
          <p:cNvPr id="32" name="Text 30"/>
          <p:cNvSpPr/>
          <p:nvPr/>
        </p:nvSpPr>
        <p:spPr>
          <a:xfrm>
            <a:off x="914341" y="9559412"/>
            <a:ext cx="46716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P1 · CLUSTER B — RUNTIME SAFETY</a:t>
            </a:r>
            <a:endParaRPr lang="en-US" sz="1800" dirty="0"/>
          </a:p>
        </p:txBody>
      </p:sp>
      <p:sp>
        <p:nvSpPr>
          <p:cNvPr id="33" name="Text 31"/>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11 / 25</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8287999" cy="10286999"/>
          </a:xfrm>
          <a:prstGeom prst="rect">
            <a:avLst/>
          </a:prstGeom>
          <a:solidFill>
            <a:srgbClr val="14201A"/>
          </a:solidFill>
          <a:ln/>
        </p:spPr>
      </p:sp>
      <p:pic>
        <p:nvPicPr>
          <p:cNvPr id="3" name="Image 0" descr="preencoded.png">    </p:cNvPr>
          <p:cNvPicPr>
            <a:picLocks noChangeAspect="1"/>
          </p:cNvPicPr>
          <p:nvPr/>
        </p:nvPicPr>
        <p:blipFill>
          <a:blip r:embed="rId1"/>
          <a:stretch>
            <a:fillRect/>
          </a:stretch>
        </p:blipFill>
        <p:spPr>
          <a:xfrm>
            <a:off x="0" y="0"/>
            <a:ext cx="18287999" cy="10286999"/>
          </a:xfrm>
          <a:prstGeom prst="rect">
            <a:avLst/>
          </a:prstGeom>
        </p:spPr>
      </p:pic>
      <p:sp>
        <p:nvSpPr>
          <p:cNvPr id="4" name="Shape 1"/>
          <p:cNvSpPr/>
          <p:nvPr/>
        </p:nvSpPr>
        <p:spPr>
          <a:xfrm>
            <a:off x="914341" y="925680"/>
            <a:ext cx="133311" cy="133311"/>
          </a:xfrm>
          <a:prstGeom prst="ellipse">
            <a:avLst/>
          </a:prstGeom>
          <a:solidFill>
            <a:srgbClr val="1F6F43"/>
          </a:solidFill>
          <a:ln/>
          <a:effectLst>
            <a:outerShdw sx="100000" sy="100000" kx="0" ky="0" algn="bl" rotWithShape="0" blurRad="101600" dist="50800" dir="16200000">
              <a:srgbClr val="1F6F43">
                <a:alpha val="22000"/>
              </a:srgbClr>
            </a:outerShdw>
          </a:effectLst>
        </p:spPr>
      </p:sp>
      <p:sp>
        <p:nvSpPr>
          <p:cNvPr id="5" name="Text 2"/>
          <p:cNvSpPr/>
          <p:nvPr/>
        </p:nvSpPr>
        <p:spPr>
          <a:xfrm>
            <a:off x="1180962" y="838121"/>
            <a:ext cx="203769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6F4EF"/>
                </a:solidFill>
                <a:latin typeface="Courier New" pitchFamily="34" charset="0"/>
                <a:ea typeface="Courier New" pitchFamily="34" charset="-122"/>
                <a:cs typeface="Courier New" pitchFamily="34" charset="-120"/>
              </a:rPr>
              <a:t>TRAK FOOTBALL</a:t>
            </a:r>
            <a:endParaRPr lang="en-US" sz="1800" dirty="0"/>
          </a:p>
        </p:txBody>
      </p:sp>
      <p:sp>
        <p:nvSpPr>
          <p:cNvPr id="6" name="Text 3"/>
          <p:cNvSpPr/>
          <p:nvPr/>
        </p:nvSpPr>
        <p:spPr>
          <a:xfrm>
            <a:off x="14506889" y="838121"/>
            <a:ext cx="295277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AEBCB3"/>
                </a:solidFill>
                <a:latin typeface="Courier New" pitchFamily="34" charset="0"/>
                <a:ea typeface="Courier New" pitchFamily="34" charset="-122"/>
                <a:cs typeface="Courier New" pitchFamily="34" charset="-120"/>
              </a:rPr>
              <a:t>P2 · SECTION OPENER</a:t>
            </a:r>
            <a:endParaRPr lang="en-US" sz="1800" dirty="0"/>
          </a:p>
        </p:txBody>
      </p:sp>
      <p:sp>
        <p:nvSpPr>
          <p:cNvPr id="7" name="Shape 4"/>
          <p:cNvSpPr/>
          <p:nvPr/>
        </p:nvSpPr>
        <p:spPr>
          <a:xfrm>
            <a:off x="914341" y="1993545"/>
            <a:ext cx="171371" cy="171371"/>
          </a:xfrm>
          <a:prstGeom prst="ellipse">
            <a:avLst/>
          </a:prstGeom>
          <a:solidFill>
            <a:srgbClr val="1F6F43"/>
          </a:solidFill>
          <a:ln/>
        </p:spPr>
      </p:sp>
      <p:sp>
        <p:nvSpPr>
          <p:cNvPr id="8" name="Text 5"/>
          <p:cNvSpPr/>
          <p:nvPr/>
        </p:nvSpPr>
        <p:spPr>
          <a:xfrm>
            <a:off x="1257083" y="1925016"/>
            <a:ext cx="542516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16" kern="0" dirty="0">
                <a:solidFill>
                  <a:srgbClr val="AEBCB3"/>
                </a:solidFill>
                <a:latin typeface="Courier New" pitchFamily="34" charset="0"/>
                <a:ea typeface="Courier New" pitchFamily="34" charset="-122"/>
                <a:cs typeface="Courier New" pitchFamily="34" charset="-120"/>
              </a:rPr>
              <a:t>TIER P2 · WATCH DURING THE PILOT</a:t>
            </a:r>
            <a:endParaRPr lang="en-US" sz="1800" dirty="0"/>
          </a:p>
        </p:txBody>
      </p:sp>
      <p:sp>
        <p:nvSpPr>
          <p:cNvPr id="9" name="Text 6"/>
          <p:cNvSpPr/>
          <p:nvPr/>
        </p:nvSpPr>
        <p:spPr>
          <a:xfrm>
            <a:off x="914341" y="2576384"/>
            <a:ext cx="15697199" cy="2903685"/>
          </a:xfrm>
          <a:prstGeom prst="rect">
            <a:avLst/>
          </a:prstGeom>
          <a:noFill/>
          <a:ln/>
        </p:spPr>
        <p:txBody>
          <a:bodyPr wrap="square" lIns="25400" tIns="25400" rIns="25400" bIns="25400" rtlCol="0" anchor="t">
            <a:normAutofit/>
          </a:bodyPr>
          <a:lstStyle/>
          <a:p>
            <a:pPr algn="l" indent="0" marL="0">
              <a:lnSpc>
                <a:spcPct val="96000"/>
              </a:lnSpc>
              <a:buNone/>
            </a:pPr>
            <a:r>
              <a:rPr lang="en-US" sz="11700" spc="-292" kern="0" dirty="0">
                <a:solidFill>
                  <a:srgbClr val="F6F4EF"/>
                </a:solidFill>
                <a:latin typeface="Georgia" pitchFamily="34" charset="0"/>
                <a:ea typeface="Georgia" pitchFamily="34" charset="-122"/>
                <a:cs typeface="Georgia" pitchFamily="34" charset="-120"/>
              </a:rPr>
              <a:t>Seven items </a:t>
            </a:r>
            <a:pPr algn="l" indent="0" marL="0">
              <a:lnSpc>
                <a:spcPct val="96000"/>
              </a:lnSpc>
              <a:buNone/>
            </a:pPr>
            <a:r>
              <a:rPr lang="en-US" sz="11700" i="1" spc="-292" kern="0" dirty="0">
                <a:solidFill>
                  <a:srgbClr val="5FB585"/>
                </a:solidFill>
                <a:latin typeface="Georgia" pitchFamily="34" charset="0"/>
                <a:ea typeface="Georgia" pitchFamily="34" charset="-122"/>
                <a:cs typeface="Georgia" pitchFamily="34" charset="-120"/>
              </a:rPr>
              <a:t>to monitor </a:t>
            </a:r>
            <a:pPr algn="l" indent="0" marL="0">
              <a:lnSpc>
                <a:spcPct val="96000"/>
              </a:lnSpc>
              <a:buNone/>
            </a:pPr>
            <a:r>
              <a:rPr lang="en-US" sz="11700" spc="-292" kern="0" dirty="0">
                <a:solidFill>
                  <a:srgbClr val="F6F4EF"/>
                </a:solidFill>
                <a:latin typeface="Georgia" pitchFamily="34" charset="0"/>
                <a:ea typeface="Georgia" pitchFamily="34" charset="-122"/>
                <a:cs typeface="Georgia" pitchFamily="34" charset="-120"/>
              </a:rPr>
              <a:t>while the pilot is live.</a:t>
            </a:r>
            <a:endParaRPr lang="en-US" sz="11700" dirty="0"/>
          </a:p>
        </p:txBody>
      </p:sp>
      <p:sp>
        <p:nvSpPr>
          <p:cNvPr id="10" name="Text 7"/>
          <p:cNvSpPr/>
          <p:nvPr/>
        </p:nvSpPr>
        <p:spPr>
          <a:xfrm>
            <a:off x="914341" y="5784810"/>
            <a:ext cx="11576684" cy="2019221"/>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AEBCB3"/>
                </a:solidFill>
                <a:latin typeface="Arial" pitchFamily="34" charset="0"/>
                <a:ea typeface="Arial" pitchFamily="34" charset="-122"/>
                <a:cs typeface="Arial" pitchFamily="34" charset="-120"/>
              </a:rPr>
              <a:t>P2 items are unlikely to break on day one but will accumulate quietly across the four weeks of the pilot. Pagination, data immutability, edge cases, and stale local state — each one becomes visible when something else goes wrong.</a:t>
            </a:r>
            <a:endParaRPr lang="en-US" sz="3000" dirty="0"/>
          </a:p>
        </p:txBody>
      </p:sp>
      <p:sp>
        <p:nvSpPr>
          <p:cNvPr id="11" name="Shape 8"/>
          <p:cNvSpPr/>
          <p:nvPr/>
        </p:nvSpPr>
        <p:spPr>
          <a:xfrm>
            <a:off x="914341" y="8493913"/>
            <a:ext cx="16459317" cy="9525"/>
          </a:xfrm>
          <a:prstGeom prst="rect">
            <a:avLst/>
          </a:prstGeom>
          <a:solidFill>
            <a:srgbClr val="FFFFFF">
              <a:alpha val="14000"/>
            </a:srgbClr>
          </a:solidFill>
          <a:ln/>
        </p:spPr>
      </p:sp>
      <p:sp>
        <p:nvSpPr>
          <p:cNvPr id="12" name="Text 9"/>
          <p:cNvSpPr/>
          <p:nvPr/>
        </p:nvSpPr>
        <p:spPr>
          <a:xfrm>
            <a:off x="914341" y="9190638"/>
            <a:ext cx="2201182"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7" kern="0" dirty="0">
                <a:solidFill>
                  <a:srgbClr val="AEBCB3"/>
                </a:solidFill>
                <a:latin typeface="Courier New" pitchFamily="34" charset="0"/>
                <a:ea typeface="Courier New" pitchFamily="34" charset="-122"/>
                <a:cs typeface="Courier New" pitchFamily="34" charset="-120"/>
              </a:rPr>
              <a:t>ITEMS 12 – 18</a:t>
            </a:r>
            <a:endParaRPr lang="en-US" sz="1950" dirty="0"/>
          </a:p>
        </p:txBody>
      </p:sp>
      <p:sp>
        <p:nvSpPr>
          <p:cNvPr id="13" name="Text 10"/>
          <p:cNvSpPr/>
          <p:nvPr/>
        </p:nvSpPr>
        <p:spPr>
          <a:xfrm>
            <a:off x="9105248" y="8728784"/>
            <a:ext cx="480569" cy="834315"/>
          </a:xfrm>
          <a:prstGeom prst="rect">
            <a:avLst/>
          </a:prstGeom>
          <a:noFill/>
          <a:ln/>
        </p:spPr>
        <p:txBody>
          <a:bodyPr wrap="square" lIns="25400" tIns="25400" rIns="25400" bIns="25400" rtlCol="0" anchor="t">
            <a:normAutofit/>
          </a:bodyPr>
          <a:lstStyle/>
          <a:p>
            <a:pPr algn="l" indent="0" marL="0">
              <a:lnSpc>
                <a:spcPct val="95000"/>
              </a:lnSpc>
              <a:buNone/>
            </a:pPr>
            <a:r>
              <a:rPr lang="en-US" sz="6600" spc="-132" kern="0" dirty="0">
                <a:solidFill>
                  <a:srgbClr val="F6F4EF"/>
                </a:solidFill>
                <a:latin typeface="Georgia" pitchFamily="34" charset="0"/>
                <a:ea typeface="Georgia" pitchFamily="34" charset="-122"/>
                <a:cs typeface="Georgia" pitchFamily="34" charset="-120"/>
              </a:rPr>
              <a:t>7</a:t>
            </a:r>
            <a:endParaRPr lang="en-US" sz="6600" dirty="0"/>
          </a:p>
        </p:txBody>
      </p:sp>
      <p:sp>
        <p:nvSpPr>
          <p:cNvPr id="14" name="Text 11"/>
          <p:cNvSpPr/>
          <p:nvPr/>
        </p:nvSpPr>
        <p:spPr>
          <a:xfrm>
            <a:off x="15575543" y="9190638"/>
            <a:ext cx="187431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7" kern="0" dirty="0">
                <a:solidFill>
                  <a:srgbClr val="AEBCB3"/>
                </a:solidFill>
                <a:latin typeface="Courier New" pitchFamily="34" charset="0"/>
                <a:ea typeface="Courier New" pitchFamily="34" charset="-122"/>
                <a:cs typeface="Courier New" pitchFamily="34" charset="-120"/>
              </a:rPr>
              <a:t>WEEKS 2 – 4</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0936100" y="419061"/>
            <a:ext cx="663068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P2 · ITEMS 14, 15, 16 OF 25 · DATA INTEGRITY</a:t>
            </a:r>
            <a:endParaRPr lang="en-US" sz="1800" dirty="0"/>
          </a:p>
        </p:txBody>
      </p:sp>
      <p:sp>
        <p:nvSpPr>
          <p:cNvPr id="5" name="Text 3"/>
          <p:cNvSpPr/>
          <p:nvPr/>
        </p:nvSpPr>
        <p:spPr>
          <a:xfrm>
            <a:off x="914341" y="1219121"/>
            <a:ext cx="1373504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P2 · CLUSTER A</a:t>
            </a:r>
            <a:endParaRPr lang="en-US" sz="1800" dirty="0"/>
          </a:p>
        </p:txBody>
      </p:sp>
      <p:sp>
        <p:nvSpPr>
          <p:cNvPr id="6" name="Shape 4"/>
          <p:cNvSpPr/>
          <p:nvPr/>
        </p:nvSpPr>
        <p:spPr>
          <a:xfrm>
            <a:off x="914341" y="1527648"/>
            <a:ext cx="1471248" cy="517959"/>
          </a:xfrm>
          <a:prstGeom prst="roundRect">
            <a:avLst>
              <a:gd name="adj" fmla="val 50000"/>
            </a:avLst>
          </a:prstGeom>
          <a:solidFill>
            <a:srgbClr val="1F6F43"/>
          </a:solidFill>
          <a:ln/>
        </p:spPr>
      </p:sp>
      <p:sp>
        <p:nvSpPr>
          <p:cNvPr id="7" name="Text 5"/>
          <p:cNvSpPr/>
          <p:nvPr/>
        </p:nvSpPr>
        <p:spPr>
          <a:xfrm>
            <a:off x="1085712" y="1622898"/>
            <a:ext cx="35504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08" kern="0" dirty="0">
                <a:solidFill>
                  <a:srgbClr val="F1FBF5"/>
                </a:solidFill>
                <a:latin typeface="Courier New" pitchFamily="34" charset="0"/>
                <a:ea typeface="Courier New" pitchFamily="34" charset="-122"/>
                <a:cs typeface="Courier New" pitchFamily="34" charset="-120"/>
              </a:rPr>
              <a:t>P2</a:t>
            </a:r>
            <a:endParaRPr lang="en-US" sz="1800" dirty="0"/>
          </a:p>
        </p:txBody>
      </p:sp>
      <p:sp>
        <p:nvSpPr>
          <p:cNvPr id="8" name="Text 6"/>
          <p:cNvSpPr/>
          <p:nvPr/>
        </p:nvSpPr>
        <p:spPr>
          <a:xfrm>
            <a:off x="1459810" y="1641830"/>
            <a:ext cx="83060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1FBF5"/>
                </a:solidFill>
                <a:latin typeface="Courier New" pitchFamily="34" charset="0"/>
                <a:ea typeface="Courier New" pitchFamily="34" charset="-122"/>
                <a:cs typeface="Courier New" pitchFamily="34" charset="-120"/>
              </a:rPr>
              <a:t>WATCH</a:t>
            </a:r>
            <a:endParaRPr lang="en-US" sz="1800" dirty="0"/>
          </a:p>
        </p:txBody>
      </p:sp>
      <p:sp>
        <p:nvSpPr>
          <p:cNvPr id="9" name="Text 7"/>
          <p:cNvSpPr/>
          <p:nvPr/>
        </p:nvSpPr>
        <p:spPr>
          <a:xfrm>
            <a:off x="914341" y="2236107"/>
            <a:ext cx="13735049" cy="1521081"/>
          </a:xfrm>
          <a:prstGeom prst="rect">
            <a:avLst/>
          </a:prstGeom>
          <a:noFill/>
          <a:ln/>
        </p:spPr>
        <p:txBody>
          <a:bodyPr wrap="square" lIns="25400" tIns="25400" rIns="25400" bIns="25400" rtlCol="0" anchor="t">
            <a:normAutofit/>
          </a:bodyPr>
          <a:lstStyle/>
          <a:p>
            <a:pPr algn="l" indent="0" marL="0">
              <a:lnSpc>
                <a:spcPct val="102000"/>
              </a:lnSpc>
              <a:buNone/>
            </a:pPr>
            <a:r>
              <a:rPr lang="en-US" sz="5700" spc="-114" kern="0" dirty="0">
                <a:solidFill>
                  <a:srgbClr val="16241C"/>
                </a:solidFill>
                <a:latin typeface="Georgia" pitchFamily="34" charset="0"/>
                <a:ea typeface="Georgia" pitchFamily="34" charset="-122"/>
                <a:cs typeface="Georgia" pitchFamily="34" charset="-120"/>
              </a:rPr>
              <a:t>Treat assessment history </a:t>
            </a:r>
            <a:pPr algn="l" indent="0" marL="0">
              <a:lnSpc>
                <a:spcPct val="102000"/>
              </a:lnSpc>
              <a:buNone/>
            </a:pPr>
            <a:r>
              <a:rPr lang="en-US" sz="5700" i="1" spc="-114" kern="0" dirty="0">
                <a:solidFill>
                  <a:srgbClr val="C8923A"/>
                </a:solidFill>
                <a:latin typeface="Georgia" pitchFamily="34" charset="0"/>
                <a:ea typeface="Georgia" pitchFamily="34" charset="-122"/>
                <a:cs typeface="Georgia" pitchFamily="34" charset="-120"/>
              </a:rPr>
              <a:t>as a permanent record </a:t>
            </a:r>
            <a:pPr algn="l" indent="0" marL="0">
              <a:lnSpc>
                <a:spcPct val="102000"/>
              </a:lnSpc>
              <a:buNone/>
            </a:pPr>
            <a:r>
              <a:rPr lang="en-US" sz="5700" spc="-114" kern="0" dirty="0">
                <a:solidFill>
                  <a:srgbClr val="16241C"/>
                </a:solidFill>
                <a:latin typeface="Georgia" pitchFamily="34" charset="0"/>
                <a:ea typeface="Georgia" pitchFamily="34" charset="-122"/>
                <a:cs typeface="Georgia" pitchFamily="34" charset="-120"/>
              </a:rPr>
              <a:t>— and prove the maths at the edges.</a:t>
            </a:r>
            <a:endParaRPr lang="en-US" sz="5700" dirty="0"/>
          </a:p>
        </p:txBody>
      </p:sp>
      <p:sp>
        <p:nvSpPr>
          <p:cNvPr id="10" name="Shape 8"/>
          <p:cNvSpPr/>
          <p:nvPr/>
        </p:nvSpPr>
        <p:spPr>
          <a:xfrm>
            <a:off x="914341" y="4252429"/>
            <a:ext cx="5308659" cy="5266062"/>
          </a:xfrm>
          <a:prstGeom prst="roundRect">
            <a:avLst>
              <a:gd name="adj" fmla="val 724"/>
            </a:avLst>
          </a:prstGeom>
          <a:solidFill>
            <a:srgbClr val="EFECE4"/>
          </a:solidFill>
          <a:ln w="6311">
            <a:solidFill>
              <a:srgbClr val="16241C">
                <a:alpha val="14000"/>
              </a:srgbClr>
            </a:solidFill>
            <a:prstDash val="solid"/>
          </a:ln>
        </p:spPr>
      </p:sp>
      <p:sp>
        <p:nvSpPr>
          <p:cNvPr id="11" name="Text 9"/>
          <p:cNvSpPr/>
          <p:nvPr/>
        </p:nvSpPr>
        <p:spPr>
          <a:xfrm>
            <a:off x="1225432" y="4601580"/>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1F6F43"/>
                </a:solidFill>
                <a:latin typeface="Courier New" pitchFamily="34" charset="0"/>
                <a:ea typeface="Courier New" pitchFamily="34" charset="-122"/>
                <a:cs typeface="Courier New" pitchFamily="34" charset="-120"/>
              </a:rPr>
              <a:t>Item 14</a:t>
            </a:r>
            <a:endParaRPr lang="en-US" sz="1800" dirty="0"/>
          </a:p>
        </p:txBody>
      </p:sp>
      <p:sp>
        <p:nvSpPr>
          <p:cNvPr id="12" name="Text 10"/>
          <p:cNvSpPr/>
          <p:nvPr/>
        </p:nvSpPr>
        <p:spPr>
          <a:xfrm>
            <a:off x="2446919" y="4601580"/>
            <a:ext cx="163076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SECURITY</a:t>
            </a:r>
            <a:endParaRPr lang="en-US" sz="1800" dirty="0"/>
          </a:p>
        </p:txBody>
      </p:sp>
      <p:sp>
        <p:nvSpPr>
          <p:cNvPr id="13" name="Text 11"/>
          <p:cNvSpPr/>
          <p:nvPr/>
        </p:nvSpPr>
        <p:spPr>
          <a:xfrm>
            <a:off x="1225432" y="5081479"/>
            <a:ext cx="4827071" cy="908365"/>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Lock down </a:t>
            </a:r>
            <a:pPr algn="l" indent="0" marL="0">
              <a:lnSpc>
                <a:spcPct val="108000"/>
              </a:lnSpc>
              <a:buNone/>
            </a:pPr>
            <a:r>
              <a:rPr lang="en-US" sz="3150" b="1" i="1" spc="-31" kern="0" dirty="0">
                <a:solidFill>
                  <a:srgbClr val="1F6F43"/>
                </a:solidFill>
                <a:latin typeface="Georgia" pitchFamily="34" charset="0"/>
                <a:ea typeface="Georgia" pitchFamily="34" charset="-122"/>
                <a:cs typeface="Georgia" pitchFamily="34" charset="-120"/>
              </a:rPr>
              <a:t>FOR ALL </a:t>
            </a:r>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RLS policies.</a:t>
            </a:r>
            <a:endParaRPr lang="en-US" sz="3150" dirty="0"/>
          </a:p>
        </p:txBody>
      </p:sp>
      <p:sp>
        <p:nvSpPr>
          <p:cNvPr id="14" name="Text 12"/>
          <p:cNvSpPr/>
          <p:nvPr/>
        </p:nvSpPr>
        <p:spPr>
          <a:xfrm>
            <a:off x="1225432" y="6123115"/>
            <a:ext cx="4827071" cy="1771532"/>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FOR ALL implicitly grants DELETE. A coach could erase their own assessment history; a player could delete a coach's record of them. Historical records should be immutable — split the policies by verb.</a:t>
            </a:r>
            <a:endParaRPr lang="en-US" sz="1950" dirty="0"/>
          </a:p>
        </p:txBody>
      </p:sp>
      <p:sp>
        <p:nvSpPr>
          <p:cNvPr id="15" name="Shape 13"/>
          <p:cNvSpPr/>
          <p:nvPr/>
        </p:nvSpPr>
        <p:spPr>
          <a:xfrm>
            <a:off x="1225432" y="8066077"/>
            <a:ext cx="4686477" cy="9525"/>
          </a:xfrm>
          <a:prstGeom prst="rect">
            <a:avLst/>
          </a:prstGeom>
          <a:solidFill>
            <a:srgbClr val="16241C">
              <a:alpha val="14000"/>
            </a:srgbClr>
          </a:solidFill>
          <a:ln/>
        </p:spPr>
      </p:sp>
      <p:sp>
        <p:nvSpPr>
          <p:cNvPr id="16" name="Text 14"/>
          <p:cNvSpPr/>
          <p:nvPr/>
        </p:nvSpPr>
        <p:spPr>
          <a:xfrm>
            <a:off x="1225432" y="8243837"/>
            <a:ext cx="4827071" cy="963603"/>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REVIEW EACH POLICY; REPLACE ALL WITH SELECT/INSERT/UPDATE.</a:t>
            </a:r>
            <a:endParaRPr lang="en-US" sz="1800" dirty="0"/>
          </a:p>
        </p:txBody>
      </p:sp>
      <p:sp>
        <p:nvSpPr>
          <p:cNvPr id="17" name="Shape 15"/>
          <p:cNvSpPr/>
          <p:nvPr/>
        </p:nvSpPr>
        <p:spPr>
          <a:xfrm>
            <a:off x="6489621" y="4252429"/>
            <a:ext cx="5308659" cy="5266062"/>
          </a:xfrm>
          <a:prstGeom prst="roundRect">
            <a:avLst>
              <a:gd name="adj" fmla="val 724"/>
            </a:avLst>
          </a:prstGeom>
          <a:solidFill>
            <a:srgbClr val="EFECE4"/>
          </a:solidFill>
          <a:ln w="6311">
            <a:solidFill>
              <a:srgbClr val="16241C">
                <a:alpha val="14000"/>
              </a:srgbClr>
            </a:solidFill>
            <a:prstDash val="solid"/>
          </a:ln>
        </p:spPr>
      </p:sp>
      <p:sp>
        <p:nvSpPr>
          <p:cNvPr id="18" name="Text 16"/>
          <p:cNvSpPr/>
          <p:nvPr/>
        </p:nvSpPr>
        <p:spPr>
          <a:xfrm>
            <a:off x="6800712" y="4601580"/>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1F6F43"/>
                </a:solidFill>
                <a:latin typeface="Courier New" pitchFamily="34" charset="0"/>
                <a:ea typeface="Courier New" pitchFamily="34" charset="-122"/>
                <a:cs typeface="Courier New" pitchFamily="34" charset="-120"/>
              </a:rPr>
              <a:t>Item 15</a:t>
            </a:r>
            <a:endParaRPr lang="en-US" sz="1800" dirty="0"/>
          </a:p>
        </p:txBody>
      </p:sp>
      <p:sp>
        <p:nvSpPr>
          <p:cNvPr id="19" name="Text 17"/>
          <p:cNvSpPr/>
          <p:nvPr/>
        </p:nvSpPr>
        <p:spPr>
          <a:xfrm>
            <a:off x="8022199" y="4601580"/>
            <a:ext cx="163076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DATABASE</a:t>
            </a:r>
            <a:endParaRPr lang="en-US" sz="1800" dirty="0"/>
          </a:p>
        </p:txBody>
      </p:sp>
      <p:sp>
        <p:nvSpPr>
          <p:cNvPr id="20" name="Text 18"/>
          <p:cNvSpPr/>
          <p:nvPr/>
        </p:nvSpPr>
        <p:spPr>
          <a:xfrm>
            <a:off x="6800712" y="5081479"/>
            <a:ext cx="4827071" cy="908365"/>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Stress the band calculation </a:t>
            </a:r>
            <a:pPr algn="l" indent="0" marL="0">
              <a:lnSpc>
                <a:spcPct val="108000"/>
              </a:lnSpc>
              <a:buNone/>
            </a:pPr>
            <a:r>
              <a:rPr lang="en-US" sz="3150" b="1" i="1" spc="-31" kern="0" dirty="0">
                <a:solidFill>
                  <a:srgbClr val="1F6F43"/>
                </a:solidFill>
                <a:latin typeface="Georgia" pitchFamily="34" charset="0"/>
                <a:ea typeface="Georgia" pitchFamily="34" charset="-122"/>
                <a:cs typeface="Georgia" pitchFamily="34" charset="-120"/>
              </a:rPr>
              <a:t>at its extremes</a:t>
            </a:r>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a:t>
            </a:r>
            <a:endParaRPr lang="en-US" sz="3150" dirty="0"/>
          </a:p>
        </p:txBody>
      </p:sp>
      <p:sp>
        <p:nvSpPr>
          <p:cNvPr id="21" name="Text 19"/>
          <p:cNvSpPr/>
          <p:nvPr/>
        </p:nvSpPr>
        <p:spPr>
          <a:xfrm>
            <a:off x="6800712" y="6123115"/>
            <a:ext cx="4827071" cy="2118218"/>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Six sliders feed into the assessment band, and the boundary behaviour has never been tested. Submit with all-zeros, all-tens, and mixed-edge values — confirm the band that comes out is the one a human would expect.</a:t>
            </a:r>
            <a:endParaRPr lang="en-US" sz="1950" dirty="0"/>
          </a:p>
        </p:txBody>
      </p:sp>
      <p:sp>
        <p:nvSpPr>
          <p:cNvPr id="22" name="Shape 20"/>
          <p:cNvSpPr/>
          <p:nvPr/>
        </p:nvSpPr>
        <p:spPr>
          <a:xfrm>
            <a:off x="6800712" y="8374604"/>
            <a:ext cx="4686477" cy="9525"/>
          </a:xfrm>
          <a:prstGeom prst="rect">
            <a:avLst/>
          </a:prstGeom>
          <a:solidFill>
            <a:srgbClr val="16241C">
              <a:alpha val="14000"/>
            </a:srgbClr>
          </a:solidFill>
          <a:ln/>
        </p:spPr>
      </p:sp>
      <p:sp>
        <p:nvSpPr>
          <p:cNvPr id="23" name="Text 21"/>
          <p:cNvSpPr/>
          <p:nvPr/>
        </p:nvSpPr>
        <p:spPr>
          <a:xfrm>
            <a:off x="6800712" y="8552364"/>
            <a:ext cx="4827071" cy="655075"/>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6 BOUNDARY FIXTURES, LOCKED IN AS UNIT TESTS.</a:t>
            </a:r>
            <a:endParaRPr lang="en-US" sz="1800" dirty="0"/>
          </a:p>
        </p:txBody>
      </p:sp>
      <p:sp>
        <p:nvSpPr>
          <p:cNvPr id="24" name="Shape 22"/>
          <p:cNvSpPr/>
          <p:nvPr/>
        </p:nvSpPr>
        <p:spPr>
          <a:xfrm>
            <a:off x="12064901" y="4252429"/>
            <a:ext cx="5308659" cy="5266062"/>
          </a:xfrm>
          <a:prstGeom prst="roundRect">
            <a:avLst>
              <a:gd name="adj" fmla="val 724"/>
            </a:avLst>
          </a:prstGeom>
          <a:solidFill>
            <a:srgbClr val="EFECE4"/>
          </a:solidFill>
          <a:ln w="6311">
            <a:solidFill>
              <a:srgbClr val="16241C">
                <a:alpha val="14000"/>
              </a:srgbClr>
            </a:solidFill>
            <a:prstDash val="solid"/>
          </a:ln>
        </p:spPr>
      </p:sp>
      <p:sp>
        <p:nvSpPr>
          <p:cNvPr id="25" name="Text 23"/>
          <p:cNvSpPr/>
          <p:nvPr/>
        </p:nvSpPr>
        <p:spPr>
          <a:xfrm>
            <a:off x="12375991" y="4601580"/>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1F6F43"/>
                </a:solidFill>
                <a:latin typeface="Courier New" pitchFamily="34" charset="0"/>
                <a:ea typeface="Courier New" pitchFamily="34" charset="-122"/>
                <a:cs typeface="Courier New" pitchFamily="34" charset="-120"/>
              </a:rPr>
              <a:t>Item 16</a:t>
            </a:r>
            <a:endParaRPr lang="en-US" sz="1800" dirty="0"/>
          </a:p>
        </p:txBody>
      </p:sp>
      <p:sp>
        <p:nvSpPr>
          <p:cNvPr id="26" name="Text 24"/>
          <p:cNvSpPr/>
          <p:nvPr/>
        </p:nvSpPr>
        <p:spPr>
          <a:xfrm>
            <a:off x="13597479" y="4601580"/>
            <a:ext cx="163076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DATABASE</a:t>
            </a:r>
            <a:endParaRPr lang="en-US" sz="1800" dirty="0"/>
          </a:p>
        </p:txBody>
      </p:sp>
      <p:sp>
        <p:nvSpPr>
          <p:cNvPr id="27" name="Text 25"/>
          <p:cNvSpPr/>
          <p:nvPr/>
        </p:nvSpPr>
        <p:spPr>
          <a:xfrm>
            <a:off x="12375991" y="5081479"/>
            <a:ext cx="4827071" cy="908365"/>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Constrain invite codes </a:t>
            </a:r>
            <a:pPr algn="l" indent="0" marL="0">
              <a:lnSpc>
                <a:spcPct val="108000"/>
              </a:lnSpc>
              <a:buNone/>
            </a:pPr>
            <a:r>
              <a:rPr lang="en-US" sz="3150" b="1" i="1" spc="-31" kern="0" dirty="0">
                <a:solidFill>
                  <a:srgbClr val="1F6F43"/>
                </a:solidFill>
                <a:latin typeface="Georgia" pitchFamily="34" charset="0"/>
                <a:ea typeface="Georgia" pitchFamily="34" charset="-122"/>
                <a:cs typeface="Georgia" pitchFamily="34" charset="-120"/>
              </a:rPr>
              <a:t>before two coaches collide</a:t>
            </a:r>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a:t>
            </a:r>
            <a:endParaRPr lang="en-US" sz="3150" dirty="0"/>
          </a:p>
        </p:txBody>
      </p:sp>
      <p:sp>
        <p:nvSpPr>
          <p:cNvPr id="28" name="Text 26"/>
          <p:cNvSpPr/>
          <p:nvPr/>
        </p:nvSpPr>
        <p:spPr>
          <a:xfrm>
            <a:off x="12375991" y="6123115"/>
            <a:ext cx="4827071" cy="1803084"/>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No unique constraint is visible on </a:t>
            </a:r>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TRK-XXXX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invite codes. Two coaches sharing one code routes their players to whichever account got there first. Quiet, hard to debug, easy to prevent.</a:t>
            </a:r>
            <a:endParaRPr lang="en-US" sz="1950" dirty="0"/>
          </a:p>
        </p:txBody>
      </p:sp>
      <p:sp>
        <p:nvSpPr>
          <p:cNvPr id="29" name="Shape 27"/>
          <p:cNvSpPr/>
          <p:nvPr/>
        </p:nvSpPr>
        <p:spPr>
          <a:xfrm>
            <a:off x="12375991" y="8066077"/>
            <a:ext cx="4686477" cy="9525"/>
          </a:xfrm>
          <a:prstGeom prst="rect">
            <a:avLst/>
          </a:prstGeom>
          <a:solidFill>
            <a:srgbClr val="16241C">
              <a:alpha val="14000"/>
            </a:srgbClr>
          </a:solidFill>
          <a:ln/>
        </p:spPr>
      </p:sp>
      <p:sp>
        <p:nvSpPr>
          <p:cNvPr id="30" name="Text 28"/>
          <p:cNvSpPr/>
          <p:nvPr/>
        </p:nvSpPr>
        <p:spPr>
          <a:xfrm>
            <a:off x="12375991" y="8243837"/>
            <a:ext cx="4827071" cy="963603"/>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ADD UNIQUE CONSTRAINT; RETRY-ON-COLLISION IN GENERATOR.</a:t>
            </a:r>
            <a:endParaRPr lang="en-US" sz="1800" dirty="0"/>
          </a:p>
        </p:txBody>
      </p:sp>
      <p:sp>
        <p:nvSpPr>
          <p:cNvPr id="31" name="Shape 29"/>
          <p:cNvSpPr/>
          <p:nvPr/>
        </p:nvSpPr>
        <p:spPr>
          <a:xfrm>
            <a:off x="914341" y="9381730"/>
            <a:ext cx="16459317" cy="9525"/>
          </a:xfrm>
          <a:prstGeom prst="rect">
            <a:avLst/>
          </a:prstGeom>
          <a:solidFill>
            <a:srgbClr val="16241C">
              <a:alpha val="14000"/>
            </a:srgbClr>
          </a:solidFill>
          <a:ln/>
        </p:spPr>
      </p:sp>
      <p:sp>
        <p:nvSpPr>
          <p:cNvPr id="32" name="Text 30"/>
          <p:cNvSpPr/>
          <p:nvPr/>
        </p:nvSpPr>
        <p:spPr>
          <a:xfrm>
            <a:off x="914341" y="9559412"/>
            <a:ext cx="46716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P2 · CLUSTER A — DATA INTEGRITY</a:t>
            </a:r>
            <a:endParaRPr lang="en-US" sz="1800" dirty="0"/>
          </a:p>
        </p:txBody>
      </p:sp>
      <p:sp>
        <p:nvSpPr>
          <p:cNvPr id="33" name="Text 31"/>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13 / 25</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0936100" y="419061"/>
            <a:ext cx="663068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P2 · ITEMS 12, 13, 17, 18 OF 25 · SCALE &amp; UX</a:t>
            </a:r>
            <a:endParaRPr lang="en-US" sz="1800" dirty="0"/>
          </a:p>
        </p:txBody>
      </p:sp>
      <p:sp>
        <p:nvSpPr>
          <p:cNvPr id="5" name="Text 3"/>
          <p:cNvSpPr/>
          <p:nvPr/>
        </p:nvSpPr>
        <p:spPr>
          <a:xfrm>
            <a:off x="914341" y="1219121"/>
            <a:ext cx="1471612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P2 · CLUSTER B</a:t>
            </a:r>
            <a:endParaRPr lang="en-US" sz="1800" dirty="0"/>
          </a:p>
        </p:txBody>
      </p:sp>
      <p:sp>
        <p:nvSpPr>
          <p:cNvPr id="6" name="Shape 4"/>
          <p:cNvSpPr/>
          <p:nvPr/>
        </p:nvSpPr>
        <p:spPr>
          <a:xfrm>
            <a:off x="914341" y="1527648"/>
            <a:ext cx="1471248" cy="517959"/>
          </a:xfrm>
          <a:prstGeom prst="roundRect">
            <a:avLst>
              <a:gd name="adj" fmla="val 50000"/>
            </a:avLst>
          </a:prstGeom>
          <a:solidFill>
            <a:srgbClr val="1F6F43"/>
          </a:solidFill>
          <a:ln/>
        </p:spPr>
      </p:sp>
      <p:sp>
        <p:nvSpPr>
          <p:cNvPr id="7" name="Text 5"/>
          <p:cNvSpPr/>
          <p:nvPr/>
        </p:nvSpPr>
        <p:spPr>
          <a:xfrm>
            <a:off x="1085712" y="1622898"/>
            <a:ext cx="35504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08" kern="0" dirty="0">
                <a:solidFill>
                  <a:srgbClr val="F1FBF5"/>
                </a:solidFill>
                <a:latin typeface="Courier New" pitchFamily="34" charset="0"/>
                <a:ea typeface="Courier New" pitchFamily="34" charset="-122"/>
                <a:cs typeface="Courier New" pitchFamily="34" charset="-120"/>
              </a:rPr>
              <a:t>P2</a:t>
            </a:r>
            <a:endParaRPr lang="en-US" sz="1800" dirty="0"/>
          </a:p>
        </p:txBody>
      </p:sp>
      <p:sp>
        <p:nvSpPr>
          <p:cNvPr id="8" name="Text 6"/>
          <p:cNvSpPr/>
          <p:nvPr/>
        </p:nvSpPr>
        <p:spPr>
          <a:xfrm>
            <a:off x="1459810" y="1641830"/>
            <a:ext cx="83060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1FBF5"/>
                </a:solidFill>
                <a:latin typeface="Courier New" pitchFamily="34" charset="0"/>
                <a:ea typeface="Courier New" pitchFamily="34" charset="-122"/>
                <a:cs typeface="Courier New" pitchFamily="34" charset="-120"/>
              </a:rPr>
              <a:t>WATCH</a:t>
            </a:r>
            <a:endParaRPr lang="en-US" sz="1800" dirty="0"/>
          </a:p>
        </p:txBody>
      </p:sp>
      <p:sp>
        <p:nvSpPr>
          <p:cNvPr id="9" name="Text 7"/>
          <p:cNvSpPr/>
          <p:nvPr/>
        </p:nvSpPr>
        <p:spPr>
          <a:xfrm>
            <a:off x="914341" y="2216978"/>
            <a:ext cx="14716124" cy="1443383"/>
          </a:xfrm>
          <a:prstGeom prst="rect">
            <a:avLst/>
          </a:prstGeom>
          <a:noFill/>
          <a:ln/>
        </p:spPr>
        <p:txBody>
          <a:bodyPr wrap="square" lIns="25400" tIns="25400" rIns="25400" bIns="25400" rtlCol="0" anchor="t">
            <a:normAutofit/>
          </a:bodyPr>
          <a:lstStyle/>
          <a:p>
            <a:pPr algn="l" indent="0" marL="0">
              <a:lnSpc>
                <a:spcPct val="102000"/>
              </a:lnSpc>
              <a:buNone/>
            </a:pPr>
            <a:r>
              <a:rPr lang="en-US" sz="5400" spc="-108" kern="0" dirty="0">
                <a:solidFill>
                  <a:srgbClr val="16241C"/>
                </a:solidFill>
                <a:latin typeface="Georgia" pitchFamily="34" charset="0"/>
                <a:ea typeface="Georgia" pitchFamily="34" charset="-122"/>
                <a:cs typeface="Georgia" pitchFamily="34" charset="-120"/>
              </a:rPr>
              <a:t>Performance, bundle, stale state, leaderboard privacy — </a:t>
            </a:r>
            <a:pPr algn="l" indent="0" marL="0">
              <a:lnSpc>
                <a:spcPct val="102000"/>
              </a:lnSpc>
              <a:buNone/>
            </a:pPr>
            <a:r>
              <a:rPr lang="en-US" sz="5400" i="1" spc="-108" kern="0" dirty="0">
                <a:solidFill>
                  <a:srgbClr val="1F6F43"/>
                </a:solidFill>
                <a:latin typeface="Georgia" pitchFamily="34" charset="0"/>
                <a:ea typeface="Georgia" pitchFamily="34" charset="-122"/>
                <a:cs typeface="Georgia" pitchFamily="34" charset="-120"/>
              </a:rPr>
              <a:t>the slow leaks.</a:t>
            </a:r>
            <a:endParaRPr lang="en-US" sz="5400" dirty="0"/>
          </a:p>
        </p:txBody>
      </p:sp>
      <p:sp>
        <p:nvSpPr>
          <p:cNvPr id="10" name="Shape 8"/>
          <p:cNvSpPr/>
          <p:nvPr/>
        </p:nvSpPr>
        <p:spPr>
          <a:xfrm>
            <a:off x="914341" y="4079382"/>
            <a:ext cx="8096348" cy="2953243"/>
          </a:xfrm>
          <a:prstGeom prst="roundRect">
            <a:avLst>
              <a:gd name="adj" fmla="val 1290"/>
            </a:avLst>
          </a:prstGeom>
          <a:solidFill>
            <a:srgbClr val="EFECE4"/>
          </a:solidFill>
          <a:ln w="6311">
            <a:solidFill>
              <a:srgbClr val="16241C">
                <a:alpha val="14000"/>
              </a:srgbClr>
            </a:solidFill>
            <a:prstDash val="solid"/>
          </a:ln>
        </p:spPr>
      </p:sp>
      <p:sp>
        <p:nvSpPr>
          <p:cNvPr id="11" name="Text 9"/>
          <p:cNvSpPr/>
          <p:nvPr/>
        </p:nvSpPr>
        <p:spPr>
          <a:xfrm>
            <a:off x="1225432" y="4447622"/>
            <a:ext cx="838200" cy="655095"/>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1F6F43"/>
                </a:solidFill>
                <a:latin typeface="Courier New" pitchFamily="34" charset="0"/>
                <a:ea typeface="Courier New" pitchFamily="34" charset="-122"/>
                <a:cs typeface="Courier New" pitchFamily="34" charset="-120"/>
              </a:rPr>
              <a:t>Item 12</a:t>
            </a:r>
            <a:endParaRPr lang="en-US" sz="1800" dirty="0"/>
          </a:p>
        </p:txBody>
      </p:sp>
      <p:sp>
        <p:nvSpPr>
          <p:cNvPr id="12" name="Text 10"/>
          <p:cNvSpPr/>
          <p:nvPr/>
        </p:nvSpPr>
        <p:spPr>
          <a:xfrm>
            <a:off x="2215992" y="4390472"/>
            <a:ext cx="6678114" cy="436257"/>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Paginate match history </a:t>
            </a:r>
            <a:pPr algn="l" indent="0" marL="0">
              <a:lnSpc>
                <a:spcPct val="110000"/>
              </a:lnSpc>
              <a:buNone/>
            </a:pPr>
            <a:r>
              <a:rPr lang="en-US" sz="2850" b="1" i="1" spc="-29" kern="0" dirty="0">
                <a:solidFill>
                  <a:srgbClr val="1F6F43"/>
                </a:solidFill>
                <a:latin typeface="Georgia" pitchFamily="34" charset="0"/>
                <a:ea typeface="Georgia" pitchFamily="34" charset="-122"/>
                <a:cs typeface="Georgia" pitchFamily="34" charset="-120"/>
              </a:rPr>
              <a:t>before it gets long.</a:t>
            </a:r>
            <a:endParaRPr lang="en-US" sz="2850" dirty="0"/>
          </a:p>
        </p:txBody>
      </p:sp>
      <p:sp>
        <p:nvSpPr>
          <p:cNvPr id="13" name="Text 11"/>
          <p:cNvSpPr/>
          <p:nvPr/>
        </p:nvSpPr>
        <p:spPr>
          <a:xfrm>
            <a:off x="2215992" y="4902909"/>
            <a:ext cx="6678114" cy="1440622"/>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No </a:t>
            </a:r>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.range()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call is visible in </a:t>
            </a:r>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useMatches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 With 30+ matches per pilot player, the history screen pulls everything every time. Add a cursor and a "load more" before someone tracks a full season.</a:t>
            </a:r>
            <a:endParaRPr lang="en-US" sz="1950" dirty="0"/>
          </a:p>
        </p:txBody>
      </p:sp>
      <p:sp>
        <p:nvSpPr>
          <p:cNvPr id="14" name="Text 12"/>
          <p:cNvSpPr/>
          <p:nvPr/>
        </p:nvSpPr>
        <p:spPr>
          <a:xfrm>
            <a:off x="2215992" y="6438742"/>
            <a:ext cx="6678114" cy="320892"/>
          </a:xfrm>
          <a:prstGeom prst="rect">
            <a:avLst/>
          </a:prstGeom>
          <a:noFill/>
          <a:ln/>
        </p:spPr>
        <p:txBody>
          <a:bodyPr wrap="square" lIns="25400" tIns="25400" rIns="25400" bIns="25400" rtlCol="0" anchor="t">
            <a:normAutofit/>
          </a:bodyPr>
          <a:lstStyle/>
          <a:p>
            <a:pPr algn="l" indent="0" marL="0">
              <a:lnSpc>
                <a:spcPct val="135000"/>
              </a:lnSpc>
              <a:buNone/>
            </a:pPr>
            <a:r>
              <a:rPr lang="en-US" sz="1650" spc="99" kern="0" dirty="0">
                <a:solidFill>
                  <a:srgbClr val="7C8A82"/>
                </a:solidFill>
                <a:latin typeface="Courier New" pitchFamily="34" charset="0"/>
                <a:ea typeface="Courier New" pitchFamily="34" charset="-122"/>
                <a:cs typeface="Courier New" pitchFamily="34" charset="-120"/>
              </a:rPr>
              <a:t>PERFORMANCE</a:t>
            </a:r>
            <a:endParaRPr lang="en-US" sz="1650" dirty="0"/>
          </a:p>
        </p:txBody>
      </p:sp>
      <p:sp>
        <p:nvSpPr>
          <p:cNvPr id="15" name="Shape 13"/>
          <p:cNvSpPr/>
          <p:nvPr/>
        </p:nvSpPr>
        <p:spPr>
          <a:xfrm>
            <a:off x="9277310" y="4079382"/>
            <a:ext cx="8096348" cy="2953243"/>
          </a:xfrm>
          <a:prstGeom prst="roundRect">
            <a:avLst>
              <a:gd name="adj" fmla="val 1290"/>
            </a:avLst>
          </a:prstGeom>
          <a:solidFill>
            <a:srgbClr val="EFECE4"/>
          </a:solidFill>
          <a:ln w="6311">
            <a:solidFill>
              <a:srgbClr val="16241C">
                <a:alpha val="14000"/>
              </a:srgbClr>
            </a:solidFill>
            <a:prstDash val="solid"/>
          </a:ln>
        </p:spPr>
      </p:sp>
      <p:sp>
        <p:nvSpPr>
          <p:cNvPr id="16" name="Text 14"/>
          <p:cNvSpPr/>
          <p:nvPr/>
        </p:nvSpPr>
        <p:spPr>
          <a:xfrm>
            <a:off x="9588401" y="4447622"/>
            <a:ext cx="838200" cy="655095"/>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1F6F43"/>
                </a:solidFill>
                <a:latin typeface="Courier New" pitchFamily="34" charset="0"/>
                <a:ea typeface="Courier New" pitchFamily="34" charset="-122"/>
                <a:cs typeface="Courier New" pitchFamily="34" charset="-120"/>
              </a:rPr>
              <a:t>Item 13</a:t>
            </a:r>
            <a:endParaRPr lang="en-US" sz="1800" dirty="0"/>
          </a:p>
        </p:txBody>
      </p:sp>
      <p:sp>
        <p:nvSpPr>
          <p:cNvPr id="17" name="Text 15"/>
          <p:cNvSpPr/>
          <p:nvPr/>
        </p:nvSpPr>
        <p:spPr>
          <a:xfrm>
            <a:off x="10578961" y="4390472"/>
            <a:ext cx="6678114" cy="436257"/>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Measure the </a:t>
            </a:r>
            <a:pPr algn="l" indent="0" marL="0">
              <a:lnSpc>
                <a:spcPct val="110000"/>
              </a:lnSpc>
              <a:buNone/>
            </a:pPr>
            <a:r>
              <a:rPr lang="en-US" sz="2850" b="1" i="1" spc="-29" kern="0" dirty="0">
                <a:solidFill>
                  <a:srgbClr val="1F6F43"/>
                </a:solidFill>
                <a:latin typeface="Georgia" pitchFamily="34" charset="0"/>
                <a:ea typeface="Georgia" pitchFamily="34" charset="-122"/>
                <a:cs typeface="Georgia" pitchFamily="34" charset="-120"/>
              </a:rPr>
              <a:t>initial JS payload.</a:t>
            </a:r>
            <a:endParaRPr lang="en-US" sz="2850" dirty="0"/>
          </a:p>
        </p:txBody>
      </p:sp>
      <p:sp>
        <p:nvSpPr>
          <p:cNvPr id="18" name="Text 16"/>
          <p:cNvSpPr/>
          <p:nvPr/>
        </p:nvSpPr>
        <p:spPr>
          <a:xfrm>
            <a:off x="10578961" y="4902909"/>
            <a:ext cx="6678114" cy="1440622"/>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24 Radix components, Recharts, multiple icon sets. Run </a:t>
            </a:r>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npm run build</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 inspect </a:t>
            </a:r>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dist/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 Mobile pilot users on slow connections will feel anything over ~250KB of first-paint JS.</a:t>
            </a:r>
            <a:endParaRPr lang="en-US" sz="1950" dirty="0"/>
          </a:p>
        </p:txBody>
      </p:sp>
      <p:sp>
        <p:nvSpPr>
          <p:cNvPr id="19" name="Text 17"/>
          <p:cNvSpPr/>
          <p:nvPr/>
        </p:nvSpPr>
        <p:spPr>
          <a:xfrm>
            <a:off x="10578961" y="6438742"/>
            <a:ext cx="6678114" cy="320892"/>
          </a:xfrm>
          <a:prstGeom prst="rect">
            <a:avLst/>
          </a:prstGeom>
          <a:noFill/>
          <a:ln/>
        </p:spPr>
        <p:txBody>
          <a:bodyPr wrap="square" lIns="25400" tIns="25400" rIns="25400" bIns="25400" rtlCol="0" anchor="t">
            <a:normAutofit/>
          </a:bodyPr>
          <a:lstStyle/>
          <a:p>
            <a:pPr algn="l" indent="0" marL="0">
              <a:lnSpc>
                <a:spcPct val="135000"/>
              </a:lnSpc>
              <a:buNone/>
            </a:pPr>
            <a:r>
              <a:rPr lang="en-US" sz="1650" spc="99" kern="0" dirty="0">
                <a:solidFill>
                  <a:srgbClr val="7C8A82"/>
                </a:solidFill>
                <a:latin typeface="Courier New" pitchFamily="34" charset="0"/>
                <a:ea typeface="Courier New" pitchFamily="34" charset="-122"/>
                <a:cs typeface="Courier New" pitchFamily="34" charset="-120"/>
              </a:rPr>
              <a:t>PERFORMANCE</a:t>
            </a:r>
            <a:endParaRPr lang="en-US" sz="1650" dirty="0"/>
          </a:p>
        </p:txBody>
      </p:sp>
      <p:sp>
        <p:nvSpPr>
          <p:cNvPr id="20" name="Shape 18"/>
          <p:cNvSpPr/>
          <p:nvPr/>
        </p:nvSpPr>
        <p:spPr>
          <a:xfrm>
            <a:off x="914341" y="7299246"/>
            <a:ext cx="8096348" cy="2953243"/>
          </a:xfrm>
          <a:prstGeom prst="roundRect">
            <a:avLst>
              <a:gd name="adj" fmla="val 1290"/>
            </a:avLst>
          </a:prstGeom>
          <a:solidFill>
            <a:srgbClr val="EFECE4"/>
          </a:solidFill>
          <a:ln w="6311">
            <a:solidFill>
              <a:srgbClr val="16241C">
                <a:alpha val="14000"/>
              </a:srgbClr>
            </a:solidFill>
            <a:prstDash val="solid"/>
          </a:ln>
        </p:spPr>
      </p:sp>
      <p:sp>
        <p:nvSpPr>
          <p:cNvPr id="21" name="Text 19"/>
          <p:cNvSpPr/>
          <p:nvPr/>
        </p:nvSpPr>
        <p:spPr>
          <a:xfrm>
            <a:off x="1225432" y="7667487"/>
            <a:ext cx="838200" cy="655095"/>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1F6F43"/>
                </a:solidFill>
                <a:latin typeface="Courier New" pitchFamily="34" charset="0"/>
                <a:ea typeface="Courier New" pitchFamily="34" charset="-122"/>
                <a:cs typeface="Courier New" pitchFamily="34" charset="-120"/>
              </a:rPr>
              <a:t>Item 17</a:t>
            </a:r>
            <a:endParaRPr lang="en-US" sz="1800" dirty="0"/>
          </a:p>
        </p:txBody>
      </p:sp>
      <p:sp>
        <p:nvSpPr>
          <p:cNvPr id="22" name="Text 20"/>
          <p:cNvSpPr/>
          <p:nvPr/>
        </p:nvSpPr>
        <p:spPr>
          <a:xfrm>
            <a:off x="2215992" y="7610337"/>
            <a:ext cx="6678114" cy="436257"/>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Expire </a:t>
            </a:r>
            <a:pPr algn="l" indent="0" marL="0">
              <a:lnSpc>
                <a:spcPct val="110000"/>
              </a:lnSpc>
              <a:buNone/>
            </a:pPr>
            <a:r>
              <a:rPr lang="en-US" sz="2850" b="1" i="1" spc="-29" kern="0" dirty="0">
                <a:solidFill>
                  <a:srgbClr val="1F6F43"/>
                </a:solidFill>
                <a:latin typeface="Georgia" pitchFamily="34" charset="0"/>
                <a:ea typeface="Georgia" pitchFamily="34" charset="-122"/>
                <a:cs typeface="Georgia" pitchFamily="34" charset="-120"/>
              </a:rPr>
              <a:t>stale onboarding state.</a:t>
            </a:r>
            <a:endParaRPr lang="en-US" sz="2850" dirty="0"/>
          </a:p>
        </p:txBody>
      </p:sp>
      <p:sp>
        <p:nvSpPr>
          <p:cNvPr id="23" name="Text 21"/>
          <p:cNvSpPr/>
          <p:nvPr/>
        </p:nvSpPr>
        <p:spPr>
          <a:xfrm>
            <a:off x="2215992" y="8122773"/>
            <a:ext cx="6678114" cy="1440622"/>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PENDING_PROFILE_KEY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has no expiry timestamp. If a user abandons onboarding and returns days later, they restart from a phantom mid-state. Stamp it with a TTL, or clear on every successful sign-in.</a:t>
            </a:r>
            <a:endParaRPr lang="en-US" sz="1950" dirty="0"/>
          </a:p>
        </p:txBody>
      </p:sp>
      <p:sp>
        <p:nvSpPr>
          <p:cNvPr id="24" name="Text 22"/>
          <p:cNvSpPr/>
          <p:nvPr/>
        </p:nvSpPr>
        <p:spPr>
          <a:xfrm>
            <a:off x="2215992" y="9658606"/>
            <a:ext cx="6678114" cy="320892"/>
          </a:xfrm>
          <a:prstGeom prst="rect">
            <a:avLst/>
          </a:prstGeom>
          <a:noFill/>
          <a:ln/>
        </p:spPr>
        <p:txBody>
          <a:bodyPr wrap="square" lIns="25400" tIns="25400" rIns="25400" bIns="25400" rtlCol="0" anchor="t">
            <a:normAutofit/>
          </a:bodyPr>
          <a:lstStyle/>
          <a:p>
            <a:pPr algn="l" indent="0" marL="0">
              <a:lnSpc>
                <a:spcPct val="135000"/>
              </a:lnSpc>
              <a:buNone/>
            </a:pPr>
            <a:r>
              <a:rPr lang="en-US" sz="1650" spc="99" kern="0" dirty="0">
                <a:solidFill>
                  <a:srgbClr val="7C8A82"/>
                </a:solidFill>
                <a:latin typeface="Courier New" pitchFamily="34" charset="0"/>
                <a:ea typeface="Courier New" pitchFamily="34" charset="-122"/>
                <a:cs typeface="Courier New" pitchFamily="34" charset="-120"/>
              </a:rPr>
              <a:t>CODE QUALITY</a:t>
            </a:r>
            <a:endParaRPr lang="en-US" sz="1650" dirty="0"/>
          </a:p>
        </p:txBody>
      </p:sp>
      <p:sp>
        <p:nvSpPr>
          <p:cNvPr id="25" name="Shape 23"/>
          <p:cNvSpPr/>
          <p:nvPr/>
        </p:nvSpPr>
        <p:spPr>
          <a:xfrm>
            <a:off x="9277310" y="7299246"/>
            <a:ext cx="8096348" cy="2953243"/>
          </a:xfrm>
          <a:prstGeom prst="roundRect">
            <a:avLst>
              <a:gd name="adj" fmla="val 1290"/>
            </a:avLst>
          </a:prstGeom>
          <a:solidFill>
            <a:srgbClr val="EFECE4"/>
          </a:solidFill>
          <a:ln w="6311">
            <a:solidFill>
              <a:srgbClr val="16241C">
                <a:alpha val="14000"/>
              </a:srgbClr>
            </a:solidFill>
            <a:prstDash val="solid"/>
          </a:ln>
        </p:spPr>
      </p:sp>
      <p:sp>
        <p:nvSpPr>
          <p:cNvPr id="26" name="Text 24"/>
          <p:cNvSpPr/>
          <p:nvPr/>
        </p:nvSpPr>
        <p:spPr>
          <a:xfrm>
            <a:off x="9588401" y="7667487"/>
            <a:ext cx="838200" cy="655095"/>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1F6F43"/>
                </a:solidFill>
                <a:latin typeface="Courier New" pitchFamily="34" charset="0"/>
                <a:ea typeface="Courier New" pitchFamily="34" charset="-122"/>
                <a:cs typeface="Courier New" pitchFamily="34" charset="-120"/>
              </a:rPr>
              <a:t>Item 18</a:t>
            </a:r>
            <a:endParaRPr lang="en-US" sz="1800" dirty="0"/>
          </a:p>
        </p:txBody>
      </p:sp>
      <p:sp>
        <p:nvSpPr>
          <p:cNvPr id="27" name="Text 25"/>
          <p:cNvSpPr/>
          <p:nvPr/>
        </p:nvSpPr>
        <p:spPr>
          <a:xfrm>
            <a:off x="10578961" y="7610337"/>
            <a:ext cx="6678114" cy="436257"/>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Audit </a:t>
            </a:r>
            <a:pPr algn="l" indent="0" marL="0">
              <a:lnSpc>
                <a:spcPct val="110000"/>
              </a:lnSpc>
              <a:buNone/>
            </a:pPr>
            <a:r>
              <a:rPr lang="en-US" sz="2850" b="1" i="1" spc="-29" kern="0" dirty="0">
                <a:solidFill>
                  <a:srgbClr val="1F6F43"/>
                </a:solidFill>
                <a:latin typeface="Georgia" pitchFamily="34" charset="0"/>
                <a:ea typeface="Georgia" pitchFamily="34" charset="-122"/>
                <a:cs typeface="Georgia" pitchFamily="34" charset="-120"/>
              </a:rPr>
              <a:t>leaderboard privacy </a:t>
            </a:r>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at aggregate level.</a:t>
            </a:r>
            <a:endParaRPr lang="en-US" sz="2850" dirty="0"/>
          </a:p>
        </p:txBody>
      </p:sp>
      <p:sp>
        <p:nvSpPr>
          <p:cNvPr id="28" name="Text 26"/>
          <p:cNvSpPr/>
          <p:nvPr/>
        </p:nvSpPr>
        <p:spPr>
          <a:xfrm>
            <a:off x="10578961" y="8122773"/>
            <a:ext cx="6678114" cy="1424845"/>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A position leaderboard queries across players. We need to verify that aggregate views never let a player infer which coach owns them, or which club another player belongs to. Test before adding the feature, not after.</a:t>
            </a:r>
            <a:endParaRPr lang="en-US" sz="1950" dirty="0"/>
          </a:p>
        </p:txBody>
      </p:sp>
      <p:sp>
        <p:nvSpPr>
          <p:cNvPr id="29" name="Text 27"/>
          <p:cNvSpPr/>
          <p:nvPr/>
        </p:nvSpPr>
        <p:spPr>
          <a:xfrm>
            <a:off x="10578961" y="9642829"/>
            <a:ext cx="6678114" cy="320892"/>
          </a:xfrm>
          <a:prstGeom prst="rect">
            <a:avLst/>
          </a:prstGeom>
          <a:noFill/>
          <a:ln/>
        </p:spPr>
        <p:txBody>
          <a:bodyPr wrap="square" lIns="25400" tIns="25400" rIns="25400" bIns="25400" rtlCol="0" anchor="t">
            <a:normAutofit/>
          </a:bodyPr>
          <a:lstStyle/>
          <a:p>
            <a:pPr algn="l" indent="0" marL="0">
              <a:lnSpc>
                <a:spcPct val="135000"/>
              </a:lnSpc>
              <a:buNone/>
            </a:pPr>
            <a:r>
              <a:rPr lang="en-US" sz="1650" spc="99" kern="0" dirty="0">
                <a:solidFill>
                  <a:srgbClr val="7C8A82"/>
                </a:solidFill>
                <a:latin typeface="Courier New" pitchFamily="34" charset="0"/>
                <a:ea typeface="Courier New" pitchFamily="34" charset="-122"/>
                <a:cs typeface="Courier New" pitchFamily="34" charset="-120"/>
              </a:rPr>
              <a:t>SECURITY</a:t>
            </a:r>
            <a:endParaRPr lang="en-US" sz="1650" dirty="0"/>
          </a:p>
        </p:txBody>
      </p:sp>
      <p:sp>
        <p:nvSpPr>
          <p:cNvPr id="30" name="Shape 28"/>
          <p:cNvSpPr/>
          <p:nvPr/>
        </p:nvSpPr>
        <p:spPr>
          <a:xfrm>
            <a:off x="914341" y="9381730"/>
            <a:ext cx="16459317" cy="9525"/>
          </a:xfrm>
          <a:prstGeom prst="rect">
            <a:avLst/>
          </a:prstGeom>
          <a:solidFill>
            <a:srgbClr val="16241C">
              <a:alpha val="14000"/>
            </a:srgbClr>
          </a:solidFill>
          <a:ln/>
        </p:spPr>
      </p:sp>
      <p:sp>
        <p:nvSpPr>
          <p:cNvPr id="31" name="Text 29"/>
          <p:cNvSpPr/>
          <p:nvPr/>
        </p:nvSpPr>
        <p:spPr>
          <a:xfrm>
            <a:off x="914341" y="9559412"/>
            <a:ext cx="406882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P2 · CLUSTER B — SCALE &amp; UX</a:t>
            </a:r>
            <a:endParaRPr lang="en-US" sz="1800" dirty="0"/>
          </a:p>
        </p:txBody>
      </p:sp>
      <p:sp>
        <p:nvSpPr>
          <p:cNvPr id="32" name="Text 30"/>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14 / 25</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8287999" cy="10286999"/>
          </a:xfrm>
          <a:prstGeom prst="rect">
            <a:avLst/>
          </a:prstGeom>
          <a:solidFill>
            <a:srgbClr val="14201A"/>
          </a:solidFill>
          <a:ln/>
        </p:spPr>
      </p:sp>
      <p:pic>
        <p:nvPicPr>
          <p:cNvPr id="3" name="Image 0" descr="preencoded.png">    </p:cNvPr>
          <p:cNvPicPr>
            <a:picLocks noChangeAspect="1"/>
          </p:cNvPicPr>
          <p:nvPr/>
        </p:nvPicPr>
        <p:blipFill>
          <a:blip r:embed="rId1"/>
          <a:stretch>
            <a:fillRect/>
          </a:stretch>
        </p:blipFill>
        <p:spPr>
          <a:xfrm>
            <a:off x="0" y="0"/>
            <a:ext cx="18287999" cy="10286999"/>
          </a:xfrm>
          <a:prstGeom prst="rect">
            <a:avLst/>
          </a:prstGeom>
        </p:spPr>
      </p:pic>
      <p:sp>
        <p:nvSpPr>
          <p:cNvPr id="4" name="Shape 1"/>
          <p:cNvSpPr/>
          <p:nvPr/>
        </p:nvSpPr>
        <p:spPr>
          <a:xfrm>
            <a:off x="914341" y="925680"/>
            <a:ext cx="133311" cy="133311"/>
          </a:xfrm>
          <a:prstGeom prst="ellipse">
            <a:avLst/>
          </a:prstGeom>
          <a:solidFill>
            <a:srgbClr val="1F6F43"/>
          </a:solidFill>
          <a:ln/>
          <a:effectLst>
            <a:outerShdw sx="100000" sy="100000" kx="0" ky="0" algn="bl" rotWithShape="0" blurRad="101600" dist="50800" dir="16200000">
              <a:srgbClr val="1F6F43">
                <a:alpha val="22000"/>
              </a:srgbClr>
            </a:outerShdw>
          </a:effectLst>
        </p:spPr>
      </p:sp>
      <p:sp>
        <p:nvSpPr>
          <p:cNvPr id="5" name="Text 2"/>
          <p:cNvSpPr/>
          <p:nvPr/>
        </p:nvSpPr>
        <p:spPr>
          <a:xfrm>
            <a:off x="1180962" y="838121"/>
            <a:ext cx="203769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6F4EF"/>
                </a:solidFill>
                <a:latin typeface="Courier New" pitchFamily="34" charset="0"/>
                <a:ea typeface="Courier New" pitchFamily="34" charset="-122"/>
                <a:cs typeface="Courier New" pitchFamily="34" charset="-120"/>
              </a:rPr>
              <a:t>TRAK FOOTBALL</a:t>
            </a:r>
            <a:endParaRPr lang="en-US" sz="1800" dirty="0"/>
          </a:p>
        </p:txBody>
      </p:sp>
      <p:sp>
        <p:nvSpPr>
          <p:cNvPr id="6" name="Text 3"/>
          <p:cNvSpPr/>
          <p:nvPr/>
        </p:nvSpPr>
        <p:spPr>
          <a:xfrm>
            <a:off x="14506889" y="838121"/>
            <a:ext cx="295277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AEBCB3"/>
                </a:solidFill>
                <a:latin typeface="Courier New" pitchFamily="34" charset="0"/>
                <a:ea typeface="Courier New" pitchFamily="34" charset="-122"/>
                <a:cs typeface="Courier New" pitchFamily="34" charset="-120"/>
              </a:rPr>
              <a:t>P3 · SECTION OPENER</a:t>
            </a:r>
            <a:endParaRPr lang="en-US" sz="1800" dirty="0"/>
          </a:p>
        </p:txBody>
      </p:sp>
      <p:sp>
        <p:nvSpPr>
          <p:cNvPr id="7" name="Shape 4"/>
          <p:cNvSpPr/>
          <p:nvPr/>
        </p:nvSpPr>
        <p:spPr>
          <a:xfrm>
            <a:off x="914341" y="1993545"/>
            <a:ext cx="171371" cy="171371"/>
          </a:xfrm>
          <a:prstGeom prst="ellipse">
            <a:avLst/>
          </a:prstGeom>
          <a:solidFill>
            <a:srgbClr val="4A6580"/>
          </a:solidFill>
          <a:ln/>
        </p:spPr>
      </p:sp>
      <p:sp>
        <p:nvSpPr>
          <p:cNvPr id="8" name="Text 5"/>
          <p:cNvSpPr/>
          <p:nvPr/>
        </p:nvSpPr>
        <p:spPr>
          <a:xfrm>
            <a:off x="1257083" y="1925016"/>
            <a:ext cx="322119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16" kern="0" dirty="0">
                <a:solidFill>
                  <a:srgbClr val="AEBCB3"/>
                </a:solidFill>
                <a:latin typeface="Courier New" pitchFamily="34" charset="0"/>
                <a:ea typeface="Courier New" pitchFamily="34" charset="-122"/>
                <a:cs typeface="Courier New" pitchFamily="34" charset="-120"/>
              </a:rPr>
              <a:t>TIER P3 · PRE-SCALE</a:t>
            </a:r>
            <a:endParaRPr lang="en-US" sz="1800" dirty="0"/>
          </a:p>
        </p:txBody>
      </p:sp>
      <p:sp>
        <p:nvSpPr>
          <p:cNvPr id="9" name="Text 6"/>
          <p:cNvSpPr/>
          <p:nvPr/>
        </p:nvSpPr>
        <p:spPr>
          <a:xfrm>
            <a:off x="914341" y="2576384"/>
            <a:ext cx="15697199" cy="2903685"/>
          </a:xfrm>
          <a:prstGeom prst="rect">
            <a:avLst/>
          </a:prstGeom>
          <a:noFill/>
          <a:ln/>
        </p:spPr>
        <p:txBody>
          <a:bodyPr wrap="square" lIns="25400" tIns="25400" rIns="25400" bIns="25400" rtlCol="0" anchor="t">
            <a:normAutofit/>
          </a:bodyPr>
          <a:lstStyle/>
          <a:p>
            <a:pPr algn="l" indent="0" marL="0">
              <a:lnSpc>
                <a:spcPct val="96000"/>
              </a:lnSpc>
              <a:buNone/>
            </a:pPr>
            <a:r>
              <a:rPr lang="en-US" sz="11700" spc="-292" kern="0" dirty="0">
                <a:solidFill>
                  <a:srgbClr val="F6F4EF"/>
                </a:solidFill>
                <a:latin typeface="Georgia" pitchFamily="34" charset="0"/>
                <a:ea typeface="Georgia" pitchFamily="34" charset="-122"/>
                <a:cs typeface="Georgia" pitchFamily="34" charset="-120"/>
              </a:rPr>
              <a:t>Seven items to close </a:t>
            </a:r>
            <a:pPr algn="l" indent="0" marL="0">
              <a:lnSpc>
                <a:spcPct val="96000"/>
              </a:lnSpc>
              <a:buNone/>
            </a:pPr>
            <a:r>
              <a:rPr lang="en-US" sz="11700" i="1" spc="-292" kern="0" dirty="0">
                <a:solidFill>
                  <a:srgbClr val="5FB585"/>
                </a:solidFill>
                <a:latin typeface="Georgia" pitchFamily="34" charset="0"/>
                <a:ea typeface="Georgia" pitchFamily="34" charset="-122"/>
                <a:cs typeface="Georgia" pitchFamily="34" charset="-120"/>
              </a:rPr>
              <a:t>before scaling beyond the pilot.</a:t>
            </a:r>
            <a:endParaRPr lang="en-US" sz="11700" dirty="0"/>
          </a:p>
        </p:txBody>
      </p:sp>
      <p:sp>
        <p:nvSpPr>
          <p:cNvPr id="10" name="Text 7"/>
          <p:cNvSpPr/>
          <p:nvPr/>
        </p:nvSpPr>
        <p:spPr>
          <a:xfrm>
            <a:off x="914341" y="5784810"/>
            <a:ext cx="11576684" cy="2019221"/>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AEBCB3"/>
                </a:solidFill>
                <a:latin typeface="Arial" pitchFamily="34" charset="0"/>
                <a:ea typeface="Arial" pitchFamily="34" charset="-122"/>
                <a:cs typeface="Arial" pitchFamily="34" charset="-120"/>
              </a:rPr>
              <a:t>P3 covers the work that converts a successful pilot into a product: accessibility, CI/CD, observability, GDPR, Storybook hygiene, bundle discipline, and the monetization model. Each becomes urgent the moment we sign a second customer.</a:t>
            </a:r>
            <a:endParaRPr lang="en-US" sz="3000" dirty="0"/>
          </a:p>
        </p:txBody>
      </p:sp>
      <p:sp>
        <p:nvSpPr>
          <p:cNvPr id="11" name="Shape 8"/>
          <p:cNvSpPr/>
          <p:nvPr/>
        </p:nvSpPr>
        <p:spPr>
          <a:xfrm>
            <a:off x="914341" y="8493913"/>
            <a:ext cx="16459317" cy="9525"/>
          </a:xfrm>
          <a:prstGeom prst="rect">
            <a:avLst/>
          </a:prstGeom>
          <a:solidFill>
            <a:srgbClr val="FFFFFF">
              <a:alpha val="14000"/>
            </a:srgbClr>
          </a:solidFill>
          <a:ln/>
        </p:spPr>
      </p:sp>
      <p:sp>
        <p:nvSpPr>
          <p:cNvPr id="12" name="Text 9"/>
          <p:cNvSpPr/>
          <p:nvPr/>
        </p:nvSpPr>
        <p:spPr>
          <a:xfrm>
            <a:off x="914341" y="9190638"/>
            <a:ext cx="2201182"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7" kern="0" dirty="0">
                <a:solidFill>
                  <a:srgbClr val="AEBCB3"/>
                </a:solidFill>
                <a:latin typeface="Courier New" pitchFamily="34" charset="0"/>
                <a:ea typeface="Courier New" pitchFamily="34" charset="-122"/>
                <a:cs typeface="Courier New" pitchFamily="34" charset="-120"/>
              </a:rPr>
              <a:t>ITEMS 19 – 25</a:t>
            </a:r>
            <a:endParaRPr lang="en-US" sz="1950" dirty="0"/>
          </a:p>
        </p:txBody>
      </p:sp>
      <p:sp>
        <p:nvSpPr>
          <p:cNvPr id="13" name="Text 10"/>
          <p:cNvSpPr/>
          <p:nvPr/>
        </p:nvSpPr>
        <p:spPr>
          <a:xfrm>
            <a:off x="9186990" y="8728784"/>
            <a:ext cx="480569" cy="834315"/>
          </a:xfrm>
          <a:prstGeom prst="rect">
            <a:avLst/>
          </a:prstGeom>
          <a:noFill/>
          <a:ln/>
        </p:spPr>
        <p:txBody>
          <a:bodyPr wrap="square" lIns="25400" tIns="25400" rIns="25400" bIns="25400" rtlCol="0" anchor="t">
            <a:normAutofit/>
          </a:bodyPr>
          <a:lstStyle/>
          <a:p>
            <a:pPr algn="l" indent="0" marL="0">
              <a:lnSpc>
                <a:spcPct val="95000"/>
              </a:lnSpc>
              <a:buNone/>
            </a:pPr>
            <a:r>
              <a:rPr lang="en-US" sz="6600" spc="-132" kern="0" dirty="0">
                <a:solidFill>
                  <a:srgbClr val="F6F4EF"/>
                </a:solidFill>
                <a:latin typeface="Georgia" pitchFamily="34" charset="0"/>
                <a:ea typeface="Georgia" pitchFamily="34" charset="-122"/>
                <a:cs typeface="Georgia" pitchFamily="34" charset="-120"/>
              </a:rPr>
              <a:t>7</a:t>
            </a:r>
            <a:endParaRPr lang="en-US" sz="6600" dirty="0"/>
          </a:p>
        </p:txBody>
      </p:sp>
      <p:sp>
        <p:nvSpPr>
          <p:cNvPr id="14" name="Text 11"/>
          <p:cNvSpPr/>
          <p:nvPr/>
        </p:nvSpPr>
        <p:spPr>
          <a:xfrm>
            <a:off x="15739027" y="9190638"/>
            <a:ext cx="1710832"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7" kern="0" dirty="0">
                <a:solidFill>
                  <a:srgbClr val="AEBCB3"/>
                </a:solidFill>
                <a:latin typeface="Courier New" pitchFamily="34" charset="0"/>
                <a:ea typeface="Courier New" pitchFamily="34" charset="-122"/>
                <a:cs typeface="Courier New" pitchFamily="34" charset="-120"/>
              </a:rPr>
              <a:t>POST-PILOT</a:t>
            </a:r>
            <a:endParaRPr lang="en-US" sz="1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9473036" y="419061"/>
            <a:ext cx="813764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P3 · ITEMS 19, 20, 21, 23 OF 25 · QUALITY &amp; OPERATIONS</a:t>
            </a:r>
            <a:endParaRPr lang="en-US" sz="1800" dirty="0"/>
          </a:p>
        </p:txBody>
      </p:sp>
      <p:sp>
        <p:nvSpPr>
          <p:cNvPr id="5" name="Text 3"/>
          <p:cNvSpPr/>
          <p:nvPr/>
        </p:nvSpPr>
        <p:spPr>
          <a:xfrm>
            <a:off x="914341" y="1219121"/>
            <a:ext cx="1471612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P3 · CLUSTER A</a:t>
            </a:r>
            <a:endParaRPr lang="en-US" sz="1800" dirty="0"/>
          </a:p>
        </p:txBody>
      </p:sp>
      <p:sp>
        <p:nvSpPr>
          <p:cNvPr id="6" name="Shape 4"/>
          <p:cNvSpPr/>
          <p:nvPr/>
        </p:nvSpPr>
        <p:spPr>
          <a:xfrm>
            <a:off x="914341" y="1527648"/>
            <a:ext cx="2074793" cy="517959"/>
          </a:xfrm>
          <a:prstGeom prst="roundRect">
            <a:avLst>
              <a:gd name="adj" fmla="val 50000"/>
            </a:avLst>
          </a:prstGeom>
          <a:solidFill>
            <a:srgbClr val="4A6580"/>
          </a:solidFill>
          <a:ln/>
        </p:spPr>
      </p:sp>
      <p:sp>
        <p:nvSpPr>
          <p:cNvPr id="7" name="Text 5"/>
          <p:cNvSpPr/>
          <p:nvPr/>
        </p:nvSpPr>
        <p:spPr>
          <a:xfrm>
            <a:off x="1085712" y="1622898"/>
            <a:ext cx="35504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08" kern="0" dirty="0">
                <a:solidFill>
                  <a:srgbClr val="F4F7FB"/>
                </a:solidFill>
                <a:latin typeface="Courier New" pitchFamily="34" charset="0"/>
                <a:ea typeface="Courier New" pitchFamily="34" charset="-122"/>
                <a:cs typeface="Courier New" pitchFamily="34" charset="-120"/>
              </a:rPr>
              <a:t>P3</a:t>
            </a:r>
            <a:endParaRPr lang="en-US" sz="1800" dirty="0"/>
          </a:p>
        </p:txBody>
      </p:sp>
      <p:sp>
        <p:nvSpPr>
          <p:cNvPr id="8" name="Text 6"/>
          <p:cNvSpPr/>
          <p:nvPr/>
        </p:nvSpPr>
        <p:spPr>
          <a:xfrm>
            <a:off x="1459810" y="1641830"/>
            <a:ext cx="143415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4F7FB"/>
                </a:solidFill>
                <a:latin typeface="Courier New" pitchFamily="34" charset="0"/>
                <a:ea typeface="Courier New" pitchFamily="34" charset="-122"/>
                <a:cs typeface="Courier New" pitchFamily="34" charset="-120"/>
              </a:rPr>
              <a:t>PRE-SCALE</a:t>
            </a:r>
            <a:endParaRPr lang="en-US" sz="1800" dirty="0"/>
          </a:p>
        </p:txBody>
      </p:sp>
      <p:sp>
        <p:nvSpPr>
          <p:cNvPr id="9" name="Text 7"/>
          <p:cNvSpPr/>
          <p:nvPr/>
        </p:nvSpPr>
        <p:spPr>
          <a:xfrm>
            <a:off x="914341" y="2216978"/>
            <a:ext cx="14716124" cy="1443383"/>
          </a:xfrm>
          <a:prstGeom prst="rect">
            <a:avLst/>
          </a:prstGeom>
          <a:noFill/>
          <a:ln/>
        </p:spPr>
        <p:txBody>
          <a:bodyPr wrap="square" lIns="25400" tIns="25400" rIns="25400" bIns="25400" rtlCol="0" anchor="t">
            <a:normAutofit/>
          </a:bodyPr>
          <a:lstStyle/>
          <a:p>
            <a:pPr algn="l" indent="0" marL="0">
              <a:lnSpc>
                <a:spcPct val="102000"/>
              </a:lnSpc>
              <a:buNone/>
            </a:pPr>
            <a:r>
              <a:rPr lang="en-US" sz="5400" spc="-108" kern="0" dirty="0">
                <a:solidFill>
                  <a:srgbClr val="16241C"/>
                </a:solidFill>
                <a:latin typeface="Georgia" pitchFamily="34" charset="0"/>
                <a:ea typeface="Georgia" pitchFamily="34" charset="-122"/>
                <a:cs typeface="Georgia" pitchFamily="34" charset="-120"/>
              </a:rPr>
              <a:t>Make the app accessible, the deploys repeatable, </a:t>
            </a:r>
            <a:pPr algn="l" indent="0" marL="0">
              <a:lnSpc>
                <a:spcPct val="102000"/>
              </a:lnSpc>
              <a:buNone/>
            </a:pPr>
            <a:r>
              <a:rPr lang="en-US" sz="5400" i="1" spc="-108" kern="0" dirty="0">
                <a:solidFill>
                  <a:srgbClr val="4A6580"/>
                </a:solidFill>
                <a:latin typeface="Georgia" pitchFamily="34" charset="0"/>
                <a:ea typeface="Georgia" pitchFamily="34" charset="-122"/>
                <a:cs typeface="Georgia" pitchFamily="34" charset="-120"/>
              </a:rPr>
              <a:t>the logs real, </a:t>
            </a:r>
            <a:pPr algn="l" indent="0" marL="0">
              <a:lnSpc>
                <a:spcPct val="102000"/>
              </a:lnSpc>
              <a:buNone/>
            </a:pPr>
            <a:r>
              <a:rPr lang="en-US" sz="5400" spc="-108" kern="0" dirty="0">
                <a:solidFill>
                  <a:srgbClr val="16241C"/>
                </a:solidFill>
                <a:latin typeface="Georgia" pitchFamily="34" charset="0"/>
                <a:ea typeface="Georgia" pitchFamily="34" charset="-122"/>
                <a:cs typeface="Georgia" pitchFamily="34" charset="-120"/>
              </a:rPr>
              <a:t>the stories honest.</a:t>
            </a:r>
            <a:endParaRPr lang="en-US" sz="5400" dirty="0"/>
          </a:p>
        </p:txBody>
      </p:sp>
      <p:sp>
        <p:nvSpPr>
          <p:cNvPr id="10" name="Shape 8"/>
          <p:cNvSpPr/>
          <p:nvPr/>
        </p:nvSpPr>
        <p:spPr>
          <a:xfrm>
            <a:off x="914341" y="4079382"/>
            <a:ext cx="8096348" cy="3004713"/>
          </a:xfrm>
          <a:prstGeom prst="roundRect">
            <a:avLst>
              <a:gd name="adj" fmla="val 1268"/>
            </a:avLst>
          </a:prstGeom>
          <a:solidFill>
            <a:srgbClr val="EFECE4"/>
          </a:solidFill>
          <a:ln w="6311">
            <a:solidFill>
              <a:srgbClr val="16241C">
                <a:alpha val="14000"/>
              </a:srgbClr>
            </a:solidFill>
            <a:prstDash val="solid"/>
          </a:ln>
        </p:spPr>
      </p:sp>
      <p:sp>
        <p:nvSpPr>
          <p:cNvPr id="11" name="Text 9"/>
          <p:cNvSpPr/>
          <p:nvPr/>
        </p:nvSpPr>
        <p:spPr>
          <a:xfrm>
            <a:off x="1225432" y="4447622"/>
            <a:ext cx="838200" cy="655095"/>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6580"/>
                </a:solidFill>
                <a:latin typeface="Courier New" pitchFamily="34" charset="0"/>
                <a:ea typeface="Courier New" pitchFamily="34" charset="-122"/>
                <a:cs typeface="Courier New" pitchFamily="34" charset="-120"/>
              </a:rPr>
              <a:t>Item 19</a:t>
            </a:r>
            <a:endParaRPr lang="en-US" sz="1800" dirty="0"/>
          </a:p>
        </p:txBody>
      </p:sp>
      <p:sp>
        <p:nvSpPr>
          <p:cNvPr id="12" name="Text 10"/>
          <p:cNvSpPr/>
          <p:nvPr/>
        </p:nvSpPr>
        <p:spPr>
          <a:xfrm>
            <a:off x="2215992" y="4390472"/>
            <a:ext cx="6678114" cy="834414"/>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Restore accessibility </a:t>
            </a:r>
            <a:pPr algn="l" indent="0" marL="0">
              <a:lnSpc>
                <a:spcPct val="110000"/>
              </a:lnSpc>
              <a:buNone/>
            </a:pPr>
            <a:r>
              <a:rPr lang="en-US" sz="2850" b="1" i="1" spc="-29" kern="0" dirty="0">
                <a:solidFill>
                  <a:srgbClr val="4A6580"/>
                </a:solidFill>
                <a:latin typeface="Georgia" pitchFamily="34" charset="0"/>
                <a:ea typeface="Georgia" pitchFamily="34" charset="-122"/>
                <a:cs typeface="Georgia" pitchFamily="34" charset="-120"/>
              </a:rPr>
              <a:t>the viewport meta tag broke.</a:t>
            </a:r>
            <a:endParaRPr lang="en-US" sz="2850" dirty="0"/>
          </a:p>
        </p:txBody>
      </p:sp>
      <p:sp>
        <p:nvSpPr>
          <p:cNvPr id="13" name="Text 11"/>
          <p:cNvSpPr/>
          <p:nvPr/>
        </p:nvSpPr>
        <p:spPr>
          <a:xfrm>
            <a:off x="2215992" y="5301067"/>
            <a:ext cx="6678114" cy="1093935"/>
          </a:xfrm>
          <a:prstGeom prst="rect">
            <a:avLst/>
          </a:prstGeom>
          <a:noFill/>
          <a:ln/>
        </p:spPr>
        <p:txBody>
          <a:bodyPr wrap="square" lIns="25400" tIns="25400" rIns="25400" bIns="25400" rtlCol="0" anchor="t">
            <a:normAutofit/>
          </a:bodyPr>
          <a:lstStyle/>
          <a:p>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user-scalable=no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in </a:t>
            </a:r>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index.html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directly violates WCAG 1.4.4. Run axe-core across all three role homes and triage the rest. Accessibility for minors is not optional.</a:t>
            </a:r>
            <a:endParaRPr lang="en-US" sz="1950" dirty="0"/>
          </a:p>
        </p:txBody>
      </p:sp>
      <p:sp>
        <p:nvSpPr>
          <p:cNvPr id="14" name="Text 12"/>
          <p:cNvSpPr/>
          <p:nvPr/>
        </p:nvSpPr>
        <p:spPr>
          <a:xfrm>
            <a:off x="2215992" y="6490212"/>
            <a:ext cx="6678114" cy="320892"/>
          </a:xfrm>
          <a:prstGeom prst="rect">
            <a:avLst/>
          </a:prstGeom>
          <a:noFill/>
          <a:ln/>
        </p:spPr>
        <p:txBody>
          <a:bodyPr wrap="square" lIns="25400" tIns="25400" rIns="25400" bIns="25400" rtlCol="0" anchor="t">
            <a:normAutofit/>
          </a:bodyPr>
          <a:lstStyle/>
          <a:p>
            <a:pPr algn="l" indent="0" marL="0">
              <a:lnSpc>
                <a:spcPct val="135000"/>
              </a:lnSpc>
              <a:buNone/>
            </a:pPr>
            <a:r>
              <a:rPr lang="en-US" sz="1650" spc="99" kern="0" dirty="0">
                <a:solidFill>
                  <a:srgbClr val="7C8A82"/>
                </a:solidFill>
                <a:latin typeface="Courier New" pitchFamily="34" charset="0"/>
                <a:ea typeface="Courier New" pitchFamily="34" charset="-122"/>
                <a:cs typeface="Courier New" pitchFamily="34" charset="-120"/>
              </a:rPr>
              <a:t>ACCESSIBILITY</a:t>
            </a:r>
            <a:endParaRPr lang="en-US" sz="1650" dirty="0"/>
          </a:p>
        </p:txBody>
      </p:sp>
      <p:sp>
        <p:nvSpPr>
          <p:cNvPr id="15" name="Shape 13"/>
          <p:cNvSpPr/>
          <p:nvPr/>
        </p:nvSpPr>
        <p:spPr>
          <a:xfrm>
            <a:off x="9277310" y="4079382"/>
            <a:ext cx="8096348" cy="3004713"/>
          </a:xfrm>
          <a:prstGeom prst="roundRect">
            <a:avLst>
              <a:gd name="adj" fmla="val 1268"/>
            </a:avLst>
          </a:prstGeom>
          <a:solidFill>
            <a:srgbClr val="EFECE4"/>
          </a:solidFill>
          <a:ln w="6311">
            <a:solidFill>
              <a:srgbClr val="16241C">
                <a:alpha val="14000"/>
              </a:srgbClr>
            </a:solidFill>
            <a:prstDash val="solid"/>
          </a:ln>
        </p:spPr>
      </p:sp>
      <p:sp>
        <p:nvSpPr>
          <p:cNvPr id="16" name="Text 14"/>
          <p:cNvSpPr/>
          <p:nvPr/>
        </p:nvSpPr>
        <p:spPr>
          <a:xfrm>
            <a:off x="9588401" y="4447622"/>
            <a:ext cx="838200" cy="655095"/>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6580"/>
                </a:solidFill>
                <a:latin typeface="Courier New" pitchFamily="34" charset="0"/>
                <a:ea typeface="Courier New" pitchFamily="34" charset="-122"/>
                <a:cs typeface="Courier New" pitchFamily="34" charset="-120"/>
              </a:rPr>
              <a:t>Item 20</a:t>
            </a:r>
            <a:endParaRPr lang="en-US" sz="1800" dirty="0"/>
          </a:p>
        </p:txBody>
      </p:sp>
      <p:sp>
        <p:nvSpPr>
          <p:cNvPr id="17" name="Text 15"/>
          <p:cNvSpPr/>
          <p:nvPr/>
        </p:nvSpPr>
        <p:spPr>
          <a:xfrm>
            <a:off x="10578961" y="4390472"/>
            <a:ext cx="6678114" cy="436257"/>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Replace manual deploys </a:t>
            </a:r>
            <a:pPr algn="l" indent="0" marL="0">
              <a:lnSpc>
                <a:spcPct val="110000"/>
              </a:lnSpc>
              <a:buNone/>
            </a:pPr>
            <a:r>
              <a:rPr lang="en-US" sz="2850" b="1" i="1" spc="-29" kern="0" dirty="0">
                <a:solidFill>
                  <a:srgbClr val="4A6580"/>
                </a:solidFill>
                <a:latin typeface="Georgia" pitchFamily="34" charset="0"/>
                <a:ea typeface="Georgia" pitchFamily="34" charset="-122"/>
                <a:cs typeface="Georgia" pitchFamily="34" charset="-120"/>
              </a:rPr>
              <a:t>with a real pipeline.</a:t>
            </a:r>
            <a:endParaRPr lang="en-US" sz="2850" dirty="0"/>
          </a:p>
        </p:txBody>
      </p:sp>
      <p:sp>
        <p:nvSpPr>
          <p:cNvPr id="18" name="Text 16"/>
          <p:cNvSpPr/>
          <p:nvPr/>
        </p:nvSpPr>
        <p:spPr>
          <a:xfrm>
            <a:off x="10578961" y="4902909"/>
            <a:ext cx="6678114" cy="1440622"/>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No </a:t>
            </a:r>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.github/workflows/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exists. Every deploy is a person clicking through Lovable. That's a single point of failure and an audit problem the moment a second engineer joins the project.</a:t>
            </a:r>
            <a:endParaRPr lang="en-US" sz="1950" dirty="0"/>
          </a:p>
        </p:txBody>
      </p:sp>
      <p:sp>
        <p:nvSpPr>
          <p:cNvPr id="19" name="Text 17"/>
          <p:cNvSpPr/>
          <p:nvPr/>
        </p:nvSpPr>
        <p:spPr>
          <a:xfrm>
            <a:off x="10578961" y="6438742"/>
            <a:ext cx="6678114" cy="320892"/>
          </a:xfrm>
          <a:prstGeom prst="rect">
            <a:avLst/>
          </a:prstGeom>
          <a:noFill/>
          <a:ln/>
        </p:spPr>
        <p:txBody>
          <a:bodyPr wrap="square" lIns="25400" tIns="25400" rIns="25400" bIns="25400" rtlCol="0" anchor="t">
            <a:normAutofit/>
          </a:bodyPr>
          <a:lstStyle/>
          <a:p>
            <a:pPr algn="l" indent="0" marL="0">
              <a:lnSpc>
                <a:spcPct val="135000"/>
              </a:lnSpc>
              <a:buNone/>
            </a:pPr>
            <a:r>
              <a:rPr lang="en-US" sz="1650" spc="99" kern="0" dirty="0">
                <a:solidFill>
                  <a:srgbClr val="7C8A82"/>
                </a:solidFill>
                <a:latin typeface="Courier New" pitchFamily="34" charset="0"/>
                <a:ea typeface="Courier New" pitchFamily="34" charset="-122"/>
                <a:cs typeface="Courier New" pitchFamily="34" charset="-120"/>
              </a:rPr>
              <a:t>OPERATIONS</a:t>
            </a:r>
            <a:endParaRPr lang="en-US" sz="1650" dirty="0"/>
          </a:p>
        </p:txBody>
      </p:sp>
      <p:sp>
        <p:nvSpPr>
          <p:cNvPr id="20" name="Shape 18"/>
          <p:cNvSpPr/>
          <p:nvPr/>
        </p:nvSpPr>
        <p:spPr>
          <a:xfrm>
            <a:off x="914341" y="7350716"/>
            <a:ext cx="8096348" cy="3351400"/>
          </a:xfrm>
          <a:prstGeom prst="roundRect">
            <a:avLst>
              <a:gd name="adj" fmla="val 1137"/>
            </a:avLst>
          </a:prstGeom>
          <a:solidFill>
            <a:srgbClr val="EFECE4"/>
          </a:solidFill>
          <a:ln w="6311">
            <a:solidFill>
              <a:srgbClr val="16241C">
                <a:alpha val="14000"/>
              </a:srgbClr>
            </a:solidFill>
            <a:prstDash val="solid"/>
          </a:ln>
        </p:spPr>
      </p:sp>
      <p:sp>
        <p:nvSpPr>
          <p:cNvPr id="21" name="Text 19"/>
          <p:cNvSpPr/>
          <p:nvPr/>
        </p:nvSpPr>
        <p:spPr>
          <a:xfrm>
            <a:off x="1225432" y="7718957"/>
            <a:ext cx="838200" cy="655095"/>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6580"/>
                </a:solidFill>
                <a:latin typeface="Courier New" pitchFamily="34" charset="0"/>
                <a:ea typeface="Courier New" pitchFamily="34" charset="-122"/>
                <a:cs typeface="Courier New" pitchFamily="34" charset="-120"/>
              </a:rPr>
              <a:t>Item 21</a:t>
            </a:r>
            <a:endParaRPr lang="en-US" sz="1800" dirty="0"/>
          </a:p>
        </p:txBody>
      </p:sp>
      <p:sp>
        <p:nvSpPr>
          <p:cNvPr id="22" name="Text 20"/>
          <p:cNvSpPr/>
          <p:nvPr/>
        </p:nvSpPr>
        <p:spPr>
          <a:xfrm>
            <a:off x="2215992" y="7661807"/>
            <a:ext cx="6678114" cy="834414"/>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Wire up logging — </a:t>
            </a:r>
            <a:pPr algn="l" indent="0" marL="0">
              <a:lnSpc>
                <a:spcPct val="110000"/>
              </a:lnSpc>
              <a:buNone/>
            </a:pPr>
            <a:r>
              <a:rPr lang="en-US" sz="2850" b="1" i="1" spc="-29" kern="0" dirty="0">
                <a:solidFill>
                  <a:srgbClr val="4A6580"/>
                </a:solidFill>
                <a:latin typeface="Georgia" pitchFamily="34" charset="0"/>
                <a:ea typeface="Georgia" pitchFamily="34" charset="-122"/>
                <a:cs typeface="Georgia" pitchFamily="34" charset="-120"/>
              </a:rPr>
              <a:t>three calls is not observability.</a:t>
            </a:r>
            <a:endParaRPr lang="en-US" sz="2850" dirty="0"/>
          </a:p>
        </p:txBody>
      </p:sp>
      <p:sp>
        <p:nvSpPr>
          <p:cNvPr id="23" name="Text 21"/>
          <p:cNvSpPr/>
          <p:nvPr/>
        </p:nvSpPr>
        <p:spPr>
          <a:xfrm>
            <a:off x="2215992" y="8572401"/>
            <a:ext cx="6678114" cy="1440622"/>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Three </a:t>
            </a:r>
            <a:pPr algn="l" indent="0" marL="0">
              <a:lnSpc>
                <a:spcPct val="140000"/>
              </a:lnSpc>
              <a:buNone/>
            </a:pPr>
            <a:r>
              <a:rPr lang="en-US" sz="1755" spc="-11" kern="0" dirty="0">
                <a:solidFill>
                  <a:srgbClr val="4A5A51"/>
                </a:solidFill>
                <a:highlight>
                  <a:srgbClr val="EFECE4"/>
                </a:highlight>
                <a:latin typeface="Courier New" pitchFamily="34" charset="0"/>
                <a:ea typeface="Courier New" pitchFamily="34" charset="-122"/>
                <a:cs typeface="Courier New" pitchFamily="34" charset="-120"/>
              </a:rPr>
              <a:t>console.error </a:t>
            </a:r>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calls across 132 files is effectively zero visibility. Pick Sentry (or equivalent), wire it into the error boundary from item 04, and start every incident with data instead of a guess.</a:t>
            </a:r>
            <a:endParaRPr lang="en-US" sz="1950" dirty="0"/>
          </a:p>
        </p:txBody>
      </p:sp>
      <p:sp>
        <p:nvSpPr>
          <p:cNvPr id="24" name="Text 22"/>
          <p:cNvSpPr/>
          <p:nvPr/>
        </p:nvSpPr>
        <p:spPr>
          <a:xfrm>
            <a:off x="2215992" y="10108233"/>
            <a:ext cx="6678114" cy="320892"/>
          </a:xfrm>
          <a:prstGeom prst="rect">
            <a:avLst/>
          </a:prstGeom>
          <a:noFill/>
          <a:ln/>
        </p:spPr>
        <p:txBody>
          <a:bodyPr wrap="square" lIns="25400" tIns="25400" rIns="25400" bIns="25400" rtlCol="0" anchor="t">
            <a:normAutofit/>
          </a:bodyPr>
          <a:lstStyle/>
          <a:p>
            <a:pPr algn="l" indent="0" marL="0">
              <a:lnSpc>
                <a:spcPct val="135000"/>
              </a:lnSpc>
              <a:buNone/>
            </a:pPr>
            <a:r>
              <a:rPr lang="en-US" sz="1650" spc="99" kern="0" dirty="0">
                <a:solidFill>
                  <a:srgbClr val="7C8A82"/>
                </a:solidFill>
                <a:latin typeface="Courier New" pitchFamily="34" charset="0"/>
                <a:ea typeface="Courier New" pitchFamily="34" charset="-122"/>
                <a:cs typeface="Courier New" pitchFamily="34" charset="-120"/>
              </a:rPr>
              <a:t>OPERATIONS</a:t>
            </a:r>
            <a:endParaRPr lang="en-US" sz="1650" dirty="0"/>
          </a:p>
        </p:txBody>
      </p:sp>
      <p:sp>
        <p:nvSpPr>
          <p:cNvPr id="25" name="Shape 23"/>
          <p:cNvSpPr/>
          <p:nvPr/>
        </p:nvSpPr>
        <p:spPr>
          <a:xfrm>
            <a:off x="9277310" y="7350716"/>
            <a:ext cx="8096348" cy="3351400"/>
          </a:xfrm>
          <a:prstGeom prst="roundRect">
            <a:avLst>
              <a:gd name="adj" fmla="val 1137"/>
            </a:avLst>
          </a:prstGeom>
          <a:solidFill>
            <a:srgbClr val="EFECE4"/>
          </a:solidFill>
          <a:ln w="6311">
            <a:solidFill>
              <a:srgbClr val="16241C">
                <a:alpha val="14000"/>
              </a:srgbClr>
            </a:solidFill>
            <a:prstDash val="solid"/>
          </a:ln>
        </p:spPr>
      </p:sp>
      <p:sp>
        <p:nvSpPr>
          <p:cNvPr id="26" name="Text 24"/>
          <p:cNvSpPr/>
          <p:nvPr/>
        </p:nvSpPr>
        <p:spPr>
          <a:xfrm>
            <a:off x="9588401" y="7718957"/>
            <a:ext cx="838200" cy="655095"/>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6580"/>
                </a:solidFill>
                <a:latin typeface="Courier New" pitchFamily="34" charset="0"/>
                <a:ea typeface="Courier New" pitchFamily="34" charset="-122"/>
                <a:cs typeface="Courier New" pitchFamily="34" charset="-120"/>
              </a:rPr>
              <a:t>Item 23</a:t>
            </a:r>
            <a:endParaRPr lang="en-US" sz="1800" dirty="0"/>
          </a:p>
        </p:txBody>
      </p:sp>
      <p:sp>
        <p:nvSpPr>
          <p:cNvPr id="27" name="Text 25"/>
          <p:cNvSpPr/>
          <p:nvPr/>
        </p:nvSpPr>
        <p:spPr>
          <a:xfrm>
            <a:off x="10578961" y="7661807"/>
            <a:ext cx="6678114" cy="436257"/>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Refresh Storybook </a:t>
            </a:r>
            <a:pPr algn="l" indent="0" marL="0">
              <a:lnSpc>
                <a:spcPct val="110000"/>
              </a:lnSpc>
              <a:buNone/>
            </a:pPr>
            <a:r>
              <a:rPr lang="en-US" sz="2850" b="1" i="1" spc="-29" kern="0" dirty="0">
                <a:solidFill>
                  <a:srgbClr val="4A6580"/>
                </a:solidFill>
                <a:latin typeface="Georgia" pitchFamily="34" charset="0"/>
                <a:ea typeface="Georgia" pitchFamily="34" charset="-122"/>
                <a:cs typeface="Georgia" pitchFamily="34" charset="-120"/>
              </a:rPr>
              <a:t>or retire it.</a:t>
            </a:r>
            <a:endParaRPr lang="en-US" sz="2850" dirty="0"/>
          </a:p>
        </p:txBody>
      </p:sp>
      <p:sp>
        <p:nvSpPr>
          <p:cNvPr id="28" name="Text 26"/>
          <p:cNvSpPr/>
          <p:nvPr/>
        </p:nvSpPr>
        <p:spPr>
          <a:xfrm>
            <a:off x="10578961" y="8174244"/>
            <a:ext cx="6678114" cy="1424845"/>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Storybook v10 is installed; the stories were written against early scaffolding and have drifted. Either bring them current to the shipped components or remove the dependency. Stale stories are worse than no stories.</a:t>
            </a:r>
            <a:endParaRPr lang="en-US" sz="1950" dirty="0"/>
          </a:p>
        </p:txBody>
      </p:sp>
      <p:sp>
        <p:nvSpPr>
          <p:cNvPr id="29" name="Text 27"/>
          <p:cNvSpPr/>
          <p:nvPr/>
        </p:nvSpPr>
        <p:spPr>
          <a:xfrm>
            <a:off x="10578961" y="9694300"/>
            <a:ext cx="6678114" cy="320892"/>
          </a:xfrm>
          <a:prstGeom prst="rect">
            <a:avLst/>
          </a:prstGeom>
          <a:noFill/>
          <a:ln/>
        </p:spPr>
        <p:txBody>
          <a:bodyPr wrap="square" lIns="25400" tIns="25400" rIns="25400" bIns="25400" rtlCol="0" anchor="t">
            <a:normAutofit/>
          </a:bodyPr>
          <a:lstStyle/>
          <a:p>
            <a:pPr algn="l" indent="0" marL="0">
              <a:lnSpc>
                <a:spcPct val="135000"/>
              </a:lnSpc>
              <a:buNone/>
            </a:pPr>
            <a:r>
              <a:rPr lang="en-US" sz="1650" spc="99" kern="0" dirty="0">
                <a:solidFill>
                  <a:srgbClr val="7C8A82"/>
                </a:solidFill>
                <a:latin typeface="Courier New" pitchFamily="34" charset="0"/>
                <a:ea typeface="Courier New" pitchFamily="34" charset="-122"/>
                <a:cs typeface="Courier New" pitchFamily="34" charset="-120"/>
              </a:rPr>
              <a:t>TESTING</a:t>
            </a:r>
            <a:endParaRPr lang="en-US" sz="1650" dirty="0"/>
          </a:p>
        </p:txBody>
      </p:sp>
      <p:sp>
        <p:nvSpPr>
          <p:cNvPr id="30" name="Shape 28"/>
          <p:cNvSpPr/>
          <p:nvPr/>
        </p:nvSpPr>
        <p:spPr>
          <a:xfrm>
            <a:off x="914341" y="9381730"/>
            <a:ext cx="16459317" cy="9525"/>
          </a:xfrm>
          <a:prstGeom prst="rect">
            <a:avLst/>
          </a:prstGeom>
          <a:solidFill>
            <a:srgbClr val="16241C">
              <a:alpha val="14000"/>
            </a:srgbClr>
          </a:solidFill>
          <a:ln/>
        </p:spPr>
      </p:sp>
      <p:sp>
        <p:nvSpPr>
          <p:cNvPr id="31" name="Text 29"/>
          <p:cNvSpPr/>
          <p:nvPr/>
        </p:nvSpPr>
        <p:spPr>
          <a:xfrm>
            <a:off x="914341" y="9559412"/>
            <a:ext cx="557577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P3 · CLUSTER A — QUALITY &amp; OPERATIONS</a:t>
            </a:r>
            <a:endParaRPr lang="en-US" sz="1800" dirty="0"/>
          </a:p>
        </p:txBody>
      </p:sp>
      <p:sp>
        <p:nvSpPr>
          <p:cNvPr id="32" name="Text 30"/>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16 / 25</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9911916" y="419061"/>
            <a:ext cx="768559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P3 · ITEMS 22, 24, 25 OF 25 · COMPLIANCE &amp; STRATEGY</a:t>
            </a:r>
            <a:endParaRPr lang="en-US" sz="1800" dirty="0"/>
          </a:p>
        </p:txBody>
      </p:sp>
      <p:sp>
        <p:nvSpPr>
          <p:cNvPr id="5" name="Text 3"/>
          <p:cNvSpPr/>
          <p:nvPr/>
        </p:nvSpPr>
        <p:spPr>
          <a:xfrm>
            <a:off x="914341" y="1219121"/>
            <a:ext cx="1373504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P3 · CLUSTER B</a:t>
            </a:r>
            <a:endParaRPr lang="en-US" sz="1800" dirty="0"/>
          </a:p>
        </p:txBody>
      </p:sp>
      <p:sp>
        <p:nvSpPr>
          <p:cNvPr id="6" name="Shape 4"/>
          <p:cNvSpPr/>
          <p:nvPr/>
        </p:nvSpPr>
        <p:spPr>
          <a:xfrm>
            <a:off x="914341" y="1527648"/>
            <a:ext cx="2074793" cy="517959"/>
          </a:xfrm>
          <a:prstGeom prst="roundRect">
            <a:avLst>
              <a:gd name="adj" fmla="val 50000"/>
            </a:avLst>
          </a:prstGeom>
          <a:solidFill>
            <a:srgbClr val="4A6580"/>
          </a:solidFill>
          <a:ln/>
        </p:spPr>
      </p:sp>
      <p:sp>
        <p:nvSpPr>
          <p:cNvPr id="7" name="Text 5"/>
          <p:cNvSpPr/>
          <p:nvPr/>
        </p:nvSpPr>
        <p:spPr>
          <a:xfrm>
            <a:off x="1085712" y="1622898"/>
            <a:ext cx="35504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08" kern="0" dirty="0">
                <a:solidFill>
                  <a:srgbClr val="F4F7FB"/>
                </a:solidFill>
                <a:latin typeface="Courier New" pitchFamily="34" charset="0"/>
                <a:ea typeface="Courier New" pitchFamily="34" charset="-122"/>
                <a:cs typeface="Courier New" pitchFamily="34" charset="-120"/>
              </a:rPr>
              <a:t>P3</a:t>
            </a:r>
            <a:endParaRPr lang="en-US" sz="1800" dirty="0"/>
          </a:p>
        </p:txBody>
      </p:sp>
      <p:sp>
        <p:nvSpPr>
          <p:cNvPr id="8" name="Text 6"/>
          <p:cNvSpPr/>
          <p:nvPr/>
        </p:nvSpPr>
        <p:spPr>
          <a:xfrm>
            <a:off x="1459810" y="1641830"/>
            <a:ext cx="143415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4F7FB"/>
                </a:solidFill>
                <a:latin typeface="Courier New" pitchFamily="34" charset="0"/>
                <a:ea typeface="Courier New" pitchFamily="34" charset="-122"/>
                <a:cs typeface="Courier New" pitchFamily="34" charset="-120"/>
              </a:rPr>
              <a:t>PRE-SCALE</a:t>
            </a:r>
            <a:endParaRPr lang="en-US" sz="1800" dirty="0"/>
          </a:p>
        </p:txBody>
      </p:sp>
      <p:sp>
        <p:nvSpPr>
          <p:cNvPr id="9" name="Text 7"/>
          <p:cNvSpPr/>
          <p:nvPr/>
        </p:nvSpPr>
        <p:spPr>
          <a:xfrm>
            <a:off x="914341" y="2236107"/>
            <a:ext cx="13735049" cy="2265727"/>
          </a:xfrm>
          <a:prstGeom prst="rect">
            <a:avLst/>
          </a:prstGeom>
          <a:noFill/>
          <a:ln/>
        </p:spPr>
        <p:txBody>
          <a:bodyPr wrap="square" lIns="25400" tIns="25400" rIns="25400" bIns="25400" rtlCol="0" anchor="t">
            <a:normAutofit/>
          </a:bodyPr>
          <a:lstStyle/>
          <a:p>
            <a:pPr algn="l" indent="0" marL="0">
              <a:lnSpc>
                <a:spcPct val="102000"/>
              </a:lnSpc>
              <a:buNone/>
            </a:pPr>
            <a:r>
              <a:rPr lang="en-US" sz="5700" spc="-114" kern="0" dirty="0">
                <a:solidFill>
                  <a:srgbClr val="16241C"/>
                </a:solidFill>
                <a:latin typeface="Georgia" pitchFamily="34" charset="0"/>
                <a:ea typeface="Georgia" pitchFamily="34" charset="-122"/>
                <a:cs typeface="Georgia" pitchFamily="34" charset="-120"/>
              </a:rPr>
              <a:t>Build the deletion path </a:t>
            </a:r>
            <a:pPr algn="l" indent="0" marL="0">
              <a:lnSpc>
                <a:spcPct val="102000"/>
              </a:lnSpc>
              <a:buNone/>
            </a:pPr>
            <a:r>
              <a:rPr lang="en-US" sz="5700" i="1" spc="-114" kern="0" dirty="0">
                <a:solidFill>
                  <a:srgbClr val="4A6580"/>
                </a:solidFill>
                <a:latin typeface="Georgia" pitchFamily="34" charset="0"/>
                <a:ea typeface="Georgia" pitchFamily="34" charset="-122"/>
                <a:cs typeface="Georgia" pitchFamily="34" charset="-120"/>
              </a:rPr>
              <a:t>the minors regulation demands, </a:t>
            </a:r>
            <a:pPr algn="l" indent="0" marL="0">
              <a:lnSpc>
                <a:spcPct val="102000"/>
              </a:lnSpc>
              <a:buNone/>
            </a:pPr>
            <a:r>
              <a:rPr lang="en-US" sz="5700" spc="-114" kern="0" dirty="0">
                <a:solidFill>
                  <a:srgbClr val="16241C"/>
                </a:solidFill>
                <a:latin typeface="Georgia" pitchFamily="34" charset="0"/>
                <a:ea typeface="Georgia" pitchFamily="34" charset="-122"/>
                <a:cs typeface="Georgia" pitchFamily="34" charset="-120"/>
              </a:rPr>
              <a:t>trim the bundle, name the business model.</a:t>
            </a:r>
            <a:endParaRPr lang="en-US" sz="5700" dirty="0"/>
          </a:p>
        </p:txBody>
      </p:sp>
      <p:sp>
        <p:nvSpPr>
          <p:cNvPr id="10" name="Shape 8"/>
          <p:cNvSpPr/>
          <p:nvPr/>
        </p:nvSpPr>
        <p:spPr>
          <a:xfrm>
            <a:off x="914341" y="4997075"/>
            <a:ext cx="5308659" cy="5612749"/>
          </a:xfrm>
          <a:prstGeom prst="roundRect">
            <a:avLst>
              <a:gd name="adj" fmla="val 718"/>
            </a:avLst>
          </a:prstGeom>
          <a:solidFill>
            <a:srgbClr val="EFECE4"/>
          </a:solidFill>
          <a:ln w="6311">
            <a:solidFill>
              <a:srgbClr val="16241C">
                <a:alpha val="14000"/>
              </a:srgbClr>
            </a:solidFill>
            <a:prstDash val="solid"/>
          </a:ln>
        </p:spPr>
      </p:sp>
      <p:sp>
        <p:nvSpPr>
          <p:cNvPr id="11" name="Text 9"/>
          <p:cNvSpPr/>
          <p:nvPr/>
        </p:nvSpPr>
        <p:spPr>
          <a:xfrm>
            <a:off x="1225432" y="5346227"/>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6580"/>
                </a:solidFill>
                <a:latin typeface="Courier New" pitchFamily="34" charset="0"/>
                <a:ea typeface="Courier New" pitchFamily="34" charset="-122"/>
                <a:cs typeface="Courier New" pitchFamily="34" charset="-120"/>
              </a:rPr>
              <a:t>Item 22</a:t>
            </a:r>
            <a:endParaRPr lang="en-US" sz="1800" dirty="0"/>
          </a:p>
        </p:txBody>
      </p:sp>
      <p:sp>
        <p:nvSpPr>
          <p:cNvPr id="12" name="Text 10"/>
          <p:cNvSpPr/>
          <p:nvPr/>
        </p:nvSpPr>
        <p:spPr>
          <a:xfrm>
            <a:off x="2446919" y="5346227"/>
            <a:ext cx="194166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COMPLIANCE</a:t>
            </a:r>
            <a:endParaRPr lang="en-US" sz="1800" dirty="0"/>
          </a:p>
        </p:txBody>
      </p:sp>
      <p:sp>
        <p:nvSpPr>
          <p:cNvPr id="13" name="Text 11"/>
          <p:cNvSpPr/>
          <p:nvPr/>
        </p:nvSpPr>
        <p:spPr>
          <a:xfrm>
            <a:off x="1225432" y="5826125"/>
            <a:ext cx="4827071" cy="908365"/>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Build the </a:t>
            </a:r>
            <a:pPr algn="l" indent="0" marL="0">
              <a:lnSpc>
                <a:spcPct val="108000"/>
              </a:lnSpc>
              <a:buNone/>
            </a:pPr>
            <a:r>
              <a:rPr lang="en-US" sz="3150" b="1" i="1" spc="-31" kern="0" dirty="0">
                <a:solidFill>
                  <a:srgbClr val="4A6580"/>
                </a:solidFill>
                <a:latin typeface="Georgia" pitchFamily="34" charset="0"/>
                <a:ea typeface="Georgia" pitchFamily="34" charset="-122"/>
                <a:cs typeface="Georgia" pitchFamily="34" charset="-120"/>
              </a:rPr>
              <a:t>data-deletion path </a:t>
            </a:r>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for minors.</a:t>
            </a:r>
            <a:endParaRPr lang="en-US" sz="3150" dirty="0"/>
          </a:p>
        </p:txBody>
      </p:sp>
      <p:sp>
        <p:nvSpPr>
          <p:cNvPr id="14" name="Text 12"/>
          <p:cNvSpPr/>
          <p:nvPr/>
        </p:nvSpPr>
        <p:spPr>
          <a:xfrm>
            <a:off x="1225432" y="6867761"/>
            <a:ext cx="4827071" cy="2118218"/>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The pilot involves minors. Parental consent and deletion rights are legal obligations, not nice-to-haves. We need a self-serve account deletion flow and a privacy policy linked from the app — both before pilot close.</a:t>
            </a:r>
            <a:endParaRPr lang="en-US" sz="1950" dirty="0"/>
          </a:p>
        </p:txBody>
      </p:sp>
      <p:sp>
        <p:nvSpPr>
          <p:cNvPr id="15" name="Shape 13"/>
          <p:cNvSpPr/>
          <p:nvPr/>
        </p:nvSpPr>
        <p:spPr>
          <a:xfrm>
            <a:off x="1225432" y="9465936"/>
            <a:ext cx="4686477" cy="9525"/>
          </a:xfrm>
          <a:prstGeom prst="rect">
            <a:avLst/>
          </a:prstGeom>
          <a:solidFill>
            <a:srgbClr val="16241C">
              <a:alpha val="14000"/>
            </a:srgbClr>
          </a:solidFill>
          <a:ln/>
        </p:spPr>
      </p:sp>
      <p:sp>
        <p:nvSpPr>
          <p:cNvPr id="16" name="Text 14"/>
          <p:cNvSpPr/>
          <p:nvPr/>
        </p:nvSpPr>
        <p:spPr>
          <a:xfrm>
            <a:off x="1225432" y="9643697"/>
            <a:ext cx="4827071" cy="655075"/>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DELETION ENDPOINT + LINKED PRIVACY POLICY.</a:t>
            </a:r>
            <a:endParaRPr lang="en-US" sz="1800" dirty="0"/>
          </a:p>
        </p:txBody>
      </p:sp>
      <p:sp>
        <p:nvSpPr>
          <p:cNvPr id="17" name="Shape 15"/>
          <p:cNvSpPr/>
          <p:nvPr/>
        </p:nvSpPr>
        <p:spPr>
          <a:xfrm>
            <a:off x="6489621" y="4997075"/>
            <a:ext cx="5308659" cy="5612749"/>
          </a:xfrm>
          <a:prstGeom prst="roundRect">
            <a:avLst>
              <a:gd name="adj" fmla="val 718"/>
            </a:avLst>
          </a:prstGeom>
          <a:solidFill>
            <a:srgbClr val="EFECE4"/>
          </a:solidFill>
          <a:ln w="6311">
            <a:solidFill>
              <a:srgbClr val="16241C">
                <a:alpha val="14000"/>
              </a:srgbClr>
            </a:solidFill>
            <a:prstDash val="solid"/>
          </a:ln>
        </p:spPr>
      </p:sp>
      <p:sp>
        <p:nvSpPr>
          <p:cNvPr id="18" name="Text 16"/>
          <p:cNvSpPr/>
          <p:nvPr/>
        </p:nvSpPr>
        <p:spPr>
          <a:xfrm>
            <a:off x="6800712" y="5346227"/>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6580"/>
                </a:solidFill>
                <a:latin typeface="Courier New" pitchFamily="34" charset="0"/>
                <a:ea typeface="Courier New" pitchFamily="34" charset="-122"/>
                <a:cs typeface="Courier New" pitchFamily="34" charset="-120"/>
              </a:rPr>
              <a:t>Item 24</a:t>
            </a:r>
            <a:endParaRPr lang="en-US" sz="1800" dirty="0"/>
          </a:p>
        </p:txBody>
      </p:sp>
      <p:sp>
        <p:nvSpPr>
          <p:cNvPr id="19" name="Text 17"/>
          <p:cNvSpPr/>
          <p:nvPr/>
        </p:nvSpPr>
        <p:spPr>
          <a:xfrm>
            <a:off x="8022199" y="5346227"/>
            <a:ext cx="209715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PERFORMANCE</a:t>
            </a:r>
            <a:endParaRPr lang="en-US" sz="1800" dirty="0"/>
          </a:p>
        </p:txBody>
      </p:sp>
      <p:sp>
        <p:nvSpPr>
          <p:cNvPr id="20" name="Text 18"/>
          <p:cNvSpPr/>
          <p:nvPr/>
        </p:nvSpPr>
        <p:spPr>
          <a:xfrm>
            <a:off x="6800712" y="5826125"/>
            <a:ext cx="4827071" cy="914676"/>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Tree-shake Recharts </a:t>
            </a:r>
            <a:pPr algn="l" indent="0" marL="0">
              <a:lnSpc>
                <a:spcPct val="108000"/>
              </a:lnSpc>
              <a:buNone/>
            </a:pPr>
            <a:r>
              <a:rPr lang="en-US" sz="3150" b="1" i="1" spc="-31" kern="0" dirty="0">
                <a:solidFill>
                  <a:srgbClr val="4A6580"/>
                </a:solidFill>
                <a:latin typeface="Georgia" pitchFamily="34" charset="0"/>
                <a:ea typeface="Georgia" pitchFamily="34" charset="-122"/>
                <a:cs typeface="Georgia" pitchFamily="34" charset="-120"/>
              </a:rPr>
              <a:t>and audit icon imports.</a:t>
            </a:r>
            <a:endParaRPr lang="en-US" sz="3150" dirty="0"/>
          </a:p>
        </p:txBody>
      </p:sp>
      <p:sp>
        <p:nvSpPr>
          <p:cNvPr id="21" name="Text 19"/>
          <p:cNvSpPr/>
          <p:nvPr/>
        </p:nvSpPr>
        <p:spPr>
          <a:xfrm>
            <a:off x="6800712" y="6874072"/>
            <a:ext cx="4827071" cy="2118218"/>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A wildcard Recharts import adds ~200KB un-tree-shaken. Combined with multiple icon sets we already ship, the bundle is heavier than it needs to be. One afternoon of import discipline saves a perceptible amount on mobile.</a:t>
            </a:r>
            <a:endParaRPr lang="en-US" sz="1950" dirty="0"/>
          </a:p>
        </p:txBody>
      </p:sp>
      <p:sp>
        <p:nvSpPr>
          <p:cNvPr id="22" name="Shape 20"/>
          <p:cNvSpPr/>
          <p:nvPr/>
        </p:nvSpPr>
        <p:spPr>
          <a:xfrm>
            <a:off x="6800712" y="9157409"/>
            <a:ext cx="4686477" cy="9525"/>
          </a:xfrm>
          <a:prstGeom prst="rect">
            <a:avLst/>
          </a:prstGeom>
          <a:solidFill>
            <a:srgbClr val="16241C">
              <a:alpha val="14000"/>
            </a:srgbClr>
          </a:solidFill>
          <a:ln/>
        </p:spPr>
      </p:sp>
      <p:sp>
        <p:nvSpPr>
          <p:cNvPr id="23" name="Text 21"/>
          <p:cNvSpPr/>
          <p:nvPr/>
        </p:nvSpPr>
        <p:spPr>
          <a:xfrm>
            <a:off x="6800712" y="9335170"/>
            <a:ext cx="4827071" cy="963603"/>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SWITCH TO NAMED IMPORTS; MEASURE DELTA IN </a:t>
            </a:r>
            <a:pPr algn="l" indent="0" marL="0">
              <a:lnSpc>
                <a:spcPct val="135000"/>
              </a:lnSpc>
              <a:buNone/>
            </a:pPr>
            <a:r>
              <a:rPr lang="en-US" sz="1620" spc="108" kern="0" dirty="0">
                <a:solidFill>
                  <a:srgbClr val="16241C"/>
                </a:solidFill>
                <a:highlight>
                  <a:srgbClr val="EFECE4"/>
                </a:highlight>
                <a:latin typeface="Courier New" pitchFamily="34" charset="0"/>
                <a:ea typeface="Courier New" pitchFamily="34" charset="-122"/>
                <a:cs typeface="Courier New" pitchFamily="34" charset="-120"/>
              </a:rPr>
              <a:t>DIST/</a:t>
            </a:r>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t>
            </a:r>
            <a:endParaRPr lang="en-US" sz="1800" dirty="0"/>
          </a:p>
        </p:txBody>
      </p:sp>
      <p:sp>
        <p:nvSpPr>
          <p:cNvPr id="24" name="Shape 22"/>
          <p:cNvSpPr/>
          <p:nvPr/>
        </p:nvSpPr>
        <p:spPr>
          <a:xfrm>
            <a:off x="12064901" y="4997075"/>
            <a:ext cx="5308659" cy="5612749"/>
          </a:xfrm>
          <a:prstGeom prst="roundRect">
            <a:avLst>
              <a:gd name="adj" fmla="val 718"/>
            </a:avLst>
          </a:prstGeom>
          <a:solidFill>
            <a:srgbClr val="EFECE4"/>
          </a:solidFill>
          <a:ln w="6311">
            <a:solidFill>
              <a:srgbClr val="16241C">
                <a:alpha val="14000"/>
              </a:srgbClr>
            </a:solidFill>
            <a:prstDash val="solid"/>
          </a:ln>
        </p:spPr>
      </p:sp>
      <p:sp>
        <p:nvSpPr>
          <p:cNvPr id="25" name="Text 23"/>
          <p:cNvSpPr/>
          <p:nvPr/>
        </p:nvSpPr>
        <p:spPr>
          <a:xfrm>
            <a:off x="12375991" y="5346227"/>
            <a:ext cx="116437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4A6580"/>
                </a:solidFill>
                <a:latin typeface="Courier New" pitchFamily="34" charset="0"/>
                <a:ea typeface="Courier New" pitchFamily="34" charset="-122"/>
                <a:cs typeface="Courier New" pitchFamily="34" charset="-120"/>
              </a:rPr>
              <a:t>Item 25</a:t>
            </a:r>
            <a:endParaRPr lang="en-US" sz="1800" dirty="0"/>
          </a:p>
        </p:txBody>
      </p:sp>
      <p:sp>
        <p:nvSpPr>
          <p:cNvPr id="26" name="Text 24"/>
          <p:cNvSpPr/>
          <p:nvPr/>
        </p:nvSpPr>
        <p:spPr>
          <a:xfrm>
            <a:off x="13597479" y="5346227"/>
            <a:ext cx="163076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 BUSINESS</a:t>
            </a:r>
            <a:endParaRPr lang="en-US" sz="1800" dirty="0"/>
          </a:p>
        </p:txBody>
      </p:sp>
      <p:sp>
        <p:nvSpPr>
          <p:cNvPr id="27" name="Text 25"/>
          <p:cNvSpPr/>
          <p:nvPr/>
        </p:nvSpPr>
        <p:spPr>
          <a:xfrm>
            <a:off x="12375991" y="5826125"/>
            <a:ext cx="4827071" cy="908365"/>
          </a:xfrm>
          <a:prstGeom prst="rect">
            <a:avLst/>
          </a:prstGeom>
          <a:noFill/>
          <a:ln/>
        </p:spPr>
        <p:txBody>
          <a:bodyPr wrap="square" lIns="25400" tIns="25400" rIns="25400" bIns="25400" rtlCol="0" anchor="t">
            <a:normAutofit/>
          </a:bodyPr>
          <a:lstStyle/>
          <a:p>
            <a:pPr algn="l" indent="0" marL="0">
              <a:lnSpc>
                <a:spcPct val="108000"/>
              </a:lnSpc>
              <a:buNone/>
            </a:pPr>
            <a:r>
              <a:rPr lang="en-US" sz="3150" b="1" spc="-31" kern="0" dirty="0">
                <a:solidFill>
                  <a:srgbClr val="16241C"/>
                </a:solidFill>
                <a:latin typeface="Georgia" pitchFamily="34" charset="0"/>
                <a:ea typeface="Georgia" pitchFamily="34" charset="-122"/>
                <a:cs typeface="Georgia" pitchFamily="34" charset="-120"/>
              </a:rPr>
              <a:t>Pick a monetization model </a:t>
            </a:r>
            <a:pPr algn="l" indent="0" marL="0">
              <a:lnSpc>
                <a:spcPct val="108000"/>
              </a:lnSpc>
              <a:buNone/>
            </a:pPr>
            <a:r>
              <a:rPr lang="en-US" sz="3150" b="1" i="1" spc="-31" kern="0" dirty="0">
                <a:solidFill>
                  <a:srgbClr val="4A6580"/>
                </a:solidFill>
                <a:latin typeface="Georgia" pitchFamily="34" charset="0"/>
                <a:ea typeface="Georgia" pitchFamily="34" charset="-122"/>
                <a:cs typeface="Georgia" pitchFamily="34" charset="-120"/>
              </a:rPr>
              <a:t>before the pilot ends.</a:t>
            </a:r>
            <a:endParaRPr lang="en-US" sz="3150" dirty="0"/>
          </a:p>
        </p:txBody>
      </p:sp>
      <p:sp>
        <p:nvSpPr>
          <p:cNvPr id="28" name="Text 26"/>
          <p:cNvSpPr/>
          <p:nvPr/>
        </p:nvSpPr>
        <p:spPr>
          <a:xfrm>
            <a:off x="12375991" y="6867761"/>
            <a:ext cx="4827071" cy="2464904"/>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No monetization is documented anywhere in the project. The coach is identified as the acquisition channel — but no pricing, conversion point, or paid tier is named. We need a working hypothesis before the pilot's last week, so the next conversation with users includes "how much".</a:t>
            </a:r>
            <a:endParaRPr lang="en-US" sz="1950" dirty="0"/>
          </a:p>
        </p:txBody>
      </p:sp>
      <p:sp>
        <p:nvSpPr>
          <p:cNvPr id="29" name="Shape 27"/>
          <p:cNvSpPr/>
          <p:nvPr/>
        </p:nvSpPr>
        <p:spPr>
          <a:xfrm>
            <a:off x="12375991" y="9465936"/>
            <a:ext cx="4686477" cy="9525"/>
          </a:xfrm>
          <a:prstGeom prst="rect">
            <a:avLst/>
          </a:prstGeom>
          <a:solidFill>
            <a:srgbClr val="16241C">
              <a:alpha val="14000"/>
            </a:srgbClr>
          </a:solidFill>
          <a:ln/>
        </p:spPr>
      </p:sp>
      <p:sp>
        <p:nvSpPr>
          <p:cNvPr id="30" name="Text 28"/>
          <p:cNvSpPr/>
          <p:nvPr/>
        </p:nvSpPr>
        <p:spPr>
          <a:xfrm>
            <a:off x="12375991" y="9643697"/>
            <a:ext cx="4827071" cy="655075"/>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16241C"/>
                </a:solidFill>
                <a:latin typeface="Courier New" pitchFamily="34" charset="0"/>
                <a:ea typeface="Courier New" pitchFamily="34" charset="-122"/>
                <a:cs typeface="Courier New" pitchFamily="34" charset="-120"/>
              </a:rPr>
              <a:t>ACTION: WRITTEN PRICING HYPOTHESIS + CONVERSION MOMENT.</a:t>
            </a:r>
            <a:endParaRPr lang="en-US" sz="1800" dirty="0"/>
          </a:p>
        </p:txBody>
      </p:sp>
      <p:sp>
        <p:nvSpPr>
          <p:cNvPr id="31" name="Shape 29"/>
          <p:cNvSpPr/>
          <p:nvPr/>
        </p:nvSpPr>
        <p:spPr>
          <a:xfrm>
            <a:off x="914341" y="9381730"/>
            <a:ext cx="16459317" cy="9525"/>
          </a:xfrm>
          <a:prstGeom prst="rect">
            <a:avLst/>
          </a:prstGeom>
          <a:solidFill>
            <a:srgbClr val="16241C">
              <a:alpha val="14000"/>
            </a:srgbClr>
          </a:solidFill>
          <a:ln/>
        </p:spPr>
      </p:sp>
      <p:sp>
        <p:nvSpPr>
          <p:cNvPr id="32" name="Text 30"/>
          <p:cNvSpPr/>
          <p:nvPr/>
        </p:nvSpPr>
        <p:spPr>
          <a:xfrm>
            <a:off x="914341" y="9559412"/>
            <a:ext cx="572649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P3 · CLUSTER B — COMPLIANCE &amp; STRATEGY</a:t>
            </a:r>
            <a:endParaRPr lang="en-US" sz="1800" dirty="0"/>
          </a:p>
        </p:txBody>
      </p:sp>
      <p:sp>
        <p:nvSpPr>
          <p:cNvPr id="33" name="Text 31"/>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17 / 25</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1960283" y="419061"/>
            <a:ext cx="557577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WHERE THE RISK CONCENTRATES · 18 / 25</a:t>
            </a:r>
            <a:endParaRPr lang="en-US" sz="1800" dirty="0"/>
          </a:p>
        </p:txBody>
      </p:sp>
      <p:sp>
        <p:nvSpPr>
          <p:cNvPr id="5" name="Text 3"/>
          <p:cNvSpPr/>
          <p:nvPr/>
        </p:nvSpPr>
        <p:spPr>
          <a:xfrm>
            <a:off x="914341" y="1219121"/>
            <a:ext cx="1471612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DOMAIN HEATMAP</a:t>
            </a:r>
            <a:endParaRPr lang="en-US" sz="1800" dirty="0"/>
          </a:p>
        </p:txBody>
      </p:sp>
      <p:sp>
        <p:nvSpPr>
          <p:cNvPr id="6" name="Text 4"/>
          <p:cNvSpPr/>
          <p:nvPr/>
        </p:nvSpPr>
        <p:spPr>
          <a:xfrm>
            <a:off x="914341" y="1737178"/>
            <a:ext cx="14716124" cy="1521081"/>
          </a:xfrm>
          <a:prstGeom prst="rect">
            <a:avLst/>
          </a:prstGeom>
          <a:noFill/>
          <a:ln/>
        </p:spPr>
        <p:txBody>
          <a:bodyPr wrap="square" lIns="25400" tIns="25400" rIns="25400" bIns="25400" rtlCol="0" anchor="t">
            <a:normAutofit/>
          </a:bodyPr>
          <a:lstStyle/>
          <a:p>
            <a:pPr algn="l" indent="0" marL="0">
              <a:lnSpc>
                <a:spcPct val="102000"/>
              </a:lnSpc>
              <a:buNone/>
            </a:pPr>
            <a:r>
              <a:rPr lang="en-US" sz="5700" spc="-114" kern="0" dirty="0">
                <a:solidFill>
                  <a:srgbClr val="16241C"/>
                </a:solidFill>
                <a:latin typeface="Georgia" pitchFamily="34" charset="0"/>
                <a:ea typeface="Georgia" pitchFamily="34" charset="-122"/>
                <a:cs typeface="Georgia" pitchFamily="34" charset="-120"/>
              </a:rPr>
              <a:t>Security and database </a:t>
            </a:r>
            <a:pPr algn="l" indent="0" marL="0">
              <a:lnSpc>
                <a:spcPct val="102000"/>
              </a:lnSpc>
              <a:buNone/>
            </a:pPr>
            <a:r>
              <a:rPr lang="en-US" sz="5700" i="1" spc="-114" kern="0" dirty="0">
                <a:solidFill>
                  <a:srgbClr val="1F6F43"/>
                </a:solidFill>
                <a:latin typeface="Georgia" pitchFamily="34" charset="0"/>
                <a:ea typeface="Georgia" pitchFamily="34" charset="-122"/>
                <a:cs typeface="Georgia" pitchFamily="34" charset="-120"/>
              </a:rPr>
              <a:t>concentrate the urgency. </a:t>
            </a:r>
            <a:pPr algn="l" indent="0" marL="0">
              <a:lnSpc>
                <a:spcPct val="102000"/>
              </a:lnSpc>
              <a:buNone/>
            </a:pPr>
            <a:r>
              <a:rPr lang="en-US" sz="5700" spc="-114" kern="0" dirty="0">
                <a:solidFill>
                  <a:srgbClr val="16241C"/>
                </a:solidFill>
                <a:latin typeface="Georgia" pitchFamily="34" charset="0"/>
                <a:ea typeface="Georgia" pitchFamily="34" charset="-122"/>
                <a:cs typeface="Georgia" pitchFamily="34" charset="-120"/>
              </a:rPr>
              <a:t>Ops and accessibility wait.</a:t>
            </a:r>
            <a:endParaRPr lang="en-US" sz="5700" dirty="0"/>
          </a:p>
        </p:txBody>
      </p:sp>
      <p:sp>
        <p:nvSpPr>
          <p:cNvPr id="7" name="Shape 5"/>
          <p:cNvSpPr/>
          <p:nvPr/>
        </p:nvSpPr>
        <p:spPr>
          <a:xfrm>
            <a:off x="914341" y="3677281"/>
            <a:ext cx="10566439" cy="9525"/>
          </a:xfrm>
          <a:prstGeom prst="rect">
            <a:avLst/>
          </a:prstGeom>
          <a:solidFill>
            <a:srgbClr val="16241C"/>
          </a:solidFill>
          <a:ln/>
        </p:spPr>
      </p:sp>
      <p:sp>
        <p:nvSpPr>
          <p:cNvPr id="8" name="Shape 6"/>
          <p:cNvSpPr/>
          <p:nvPr/>
        </p:nvSpPr>
        <p:spPr>
          <a:xfrm>
            <a:off x="914341" y="4296800"/>
            <a:ext cx="10566439" cy="9525"/>
          </a:xfrm>
          <a:prstGeom prst="rect">
            <a:avLst/>
          </a:prstGeom>
          <a:solidFill>
            <a:srgbClr val="16241C">
              <a:alpha val="14000"/>
            </a:srgbClr>
          </a:solidFill>
          <a:ln/>
        </p:spPr>
      </p:sp>
      <p:sp>
        <p:nvSpPr>
          <p:cNvPr id="9" name="Text 7"/>
          <p:cNvSpPr/>
          <p:nvPr/>
        </p:nvSpPr>
        <p:spPr>
          <a:xfrm>
            <a:off x="1028621" y="3835932"/>
            <a:ext cx="2938045"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DOMAIN</a:t>
            </a:r>
            <a:endParaRPr lang="en-US" sz="1800" dirty="0"/>
          </a:p>
        </p:txBody>
      </p:sp>
      <p:sp>
        <p:nvSpPr>
          <p:cNvPr id="10" name="Text 8"/>
          <p:cNvSpPr/>
          <p:nvPr/>
        </p:nvSpPr>
        <p:spPr>
          <a:xfrm>
            <a:off x="4033433" y="3835932"/>
            <a:ext cx="150238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P0</a:t>
            </a:r>
            <a:endParaRPr lang="en-US" sz="1800" dirty="0"/>
          </a:p>
        </p:txBody>
      </p:sp>
      <p:sp>
        <p:nvSpPr>
          <p:cNvPr id="11" name="Text 9"/>
          <p:cNvSpPr/>
          <p:nvPr/>
        </p:nvSpPr>
        <p:spPr>
          <a:xfrm>
            <a:off x="5611960" y="3835932"/>
            <a:ext cx="1502485"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P1</a:t>
            </a:r>
            <a:endParaRPr lang="en-US" sz="1800" dirty="0"/>
          </a:p>
        </p:txBody>
      </p:sp>
      <p:sp>
        <p:nvSpPr>
          <p:cNvPr id="12" name="Text 10"/>
          <p:cNvSpPr/>
          <p:nvPr/>
        </p:nvSpPr>
        <p:spPr>
          <a:xfrm>
            <a:off x="7190586" y="3835932"/>
            <a:ext cx="1502386"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P2</a:t>
            </a:r>
            <a:endParaRPr lang="en-US" sz="1800" dirty="0"/>
          </a:p>
        </p:txBody>
      </p:sp>
      <p:sp>
        <p:nvSpPr>
          <p:cNvPr id="13" name="Text 11"/>
          <p:cNvSpPr/>
          <p:nvPr/>
        </p:nvSpPr>
        <p:spPr>
          <a:xfrm>
            <a:off x="8769113" y="3835932"/>
            <a:ext cx="1502485"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P3</a:t>
            </a:r>
            <a:endParaRPr lang="en-US" sz="1800" dirty="0"/>
          </a:p>
        </p:txBody>
      </p:sp>
      <p:sp>
        <p:nvSpPr>
          <p:cNvPr id="14" name="Text 12"/>
          <p:cNvSpPr/>
          <p:nvPr/>
        </p:nvSpPr>
        <p:spPr>
          <a:xfrm>
            <a:off x="10347738" y="3835932"/>
            <a:ext cx="109496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TOTAL</a:t>
            </a:r>
            <a:endParaRPr lang="en-US" sz="1800" dirty="0"/>
          </a:p>
        </p:txBody>
      </p:sp>
      <p:sp>
        <p:nvSpPr>
          <p:cNvPr id="15" name="Shape 13"/>
          <p:cNvSpPr/>
          <p:nvPr/>
        </p:nvSpPr>
        <p:spPr>
          <a:xfrm>
            <a:off x="914341" y="5070731"/>
            <a:ext cx="10566439" cy="9525"/>
          </a:xfrm>
          <a:prstGeom prst="rect">
            <a:avLst/>
          </a:prstGeom>
          <a:solidFill>
            <a:srgbClr val="16241C">
              <a:alpha val="14000"/>
            </a:srgbClr>
          </a:solidFill>
          <a:ln/>
        </p:spPr>
      </p:sp>
      <p:sp>
        <p:nvSpPr>
          <p:cNvPr id="16" name="Text 14"/>
          <p:cNvSpPr/>
          <p:nvPr/>
        </p:nvSpPr>
        <p:spPr>
          <a:xfrm>
            <a:off x="1028621" y="4519740"/>
            <a:ext cx="293804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Security</a:t>
            </a:r>
            <a:endParaRPr lang="en-US" sz="1950" dirty="0"/>
          </a:p>
        </p:txBody>
      </p:sp>
      <p:sp>
        <p:nvSpPr>
          <p:cNvPr id="17" name="Shape 15"/>
          <p:cNvSpPr/>
          <p:nvPr/>
        </p:nvSpPr>
        <p:spPr>
          <a:xfrm>
            <a:off x="4033433" y="4491244"/>
            <a:ext cx="440852" cy="391353"/>
          </a:xfrm>
          <a:prstGeom prst="roundRect">
            <a:avLst>
              <a:gd name="adj" fmla="val 9735"/>
            </a:avLst>
          </a:prstGeom>
          <a:solidFill>
            <a:srgbClr val="B94A2A"/>
          </a:solidFill>
          <a:ln/>
        </p:spPr>
      </p:sp>
      <p:sp>
        <p:nvSpPr>
          <p:cNvPr id="18" name="Text 16"/>
          <p:cNvSpPr/>
          <p:nvPr/>
        </p:nvSpPr>
        <p:spPr>
          <a:xfrm>
            <a:off x="4119158" y="4519819"/>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FF8F3"/>
                </a:solidFill>
                <a:latin typeface="Courier New" pitchFamily="34" charset="0"/>
                <a:ea typeface="Courier New" pitchFamily="34" charset="-122"/>
                <a:cs typeface="Courier New" pitchFamily="34" charset="-120"/>
              </a:rPr>
              <a:t>01</a:t>
            </a:r>
            <a:endParaRPr lang="en-US" sz="1950" dirty="0"/>
          </a:p>
        </p:txBody>
      </p:sp>
      <p:sp>
        <p:nvSpPr>
          <p:cNvPr id="19" name="Shape 17"/>
          <p:cNvSpPr/>
          <p:nvPr/>
        </p:nvSpPr>
        <p:spPr>
          <a:xfrm>
            <a:off x="4531375" y="4491244"/>
            <a:ext cx="440852" cy="391353"/>
          </a:xfrm>
          <a:prstGeom prst="roundRect">
            <a:avLst>
              <a:gd name="adj" fmla="val 9735"/>
            </a:avLst>
          </a:prstGeom>
          <a:solidFill>
            <a:srgbClr val="B94A2A"/>
          </a:solidFill>
          <a:ln/>
        </p:spPr>
      </p:sp>
      <p:sp>
        <p:nvSpPr>
          <p:cNvPr id="20" name="Text 18"/>
          <p:cNvSpPr/>
          <p:nvPr/>
        </p:nvSpPr>
        <p:spPr>
          <a:xfrm>
            <a:off x="4617100" y="4519819"/>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FF8F3"/>
                </a:solidFill>
                <a:latin typeface="Courier New" pitchFamily="34" charset="0"/>
                <a:ea typeface="Courier New" pitchFamily="34" charset="-122"/>
                <a:cs typeface="Courier New" pitchFamily="34" charset="-120"/>
              </a:rPr>
              <a:t>03</a:t>
            </a:r>
            <a:endParaRPr lang="en-US" sz="1950" dirty="0"/>
          </a:p>
        </p:txBody>
      </p:sp>
      <p:sp>
        <p:nvSpPr>
          <p:cNvPr id="21" name="Shape 19"/>
          <p:cNvSpPr/>
          <p:nvPr/>
        </p:nvSpPr>
        <p:spPr>
          <a:xfrm>
            <a:off x="5611960" y="4491244"/>
            <a:ext cx="440852" cy="391353"/>
          </a:xfrm>
          <a:prstGeom prst="roundRect">
            <a:avLst>
              <a:gd name="adj" fmla="val 9735"/>
            </a:avLst>
          </a:prstGeom>
          <a:solidFill>
            <a:srgbClr val="C8923A"/>
          </a:solidFill>
          <a:ln/>
        </p:spPr>
      </p:sp>
      <p:sp>
        <p:nvSpPr>
          <p:cNvPr id="22" name="Text 20"/>
          <p:cNvSpPr/>
          <p:nvPr/>
        </p:nvSpPr>
        <p:spPr>
          <a:xfrm>
            <a:off x="5697685" y="4519819"/>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A1408"/>
                </a:solidFill>
                <a:latin typeface="Courier New" pitchFamily="34" charset="0"/>
                <a:ea typeface="Courier New" pitchFamily="34" charset="-122"/>
                <a:cs typeface="Courier New" pitchFamily="34" charset="-120"/>
              </a:rPr>
              <a:t>10</a:t>
            </a:r>
            <a:endParaRPr lang="en-US" sz="1950" dirty="0"/>
          </a:p>
        </p:txBody>
      </p:sp>
      <p:sp>
        <p:nvSpPr>
          <p:cNvPr id="23" name="Shape 21"/>
          <p:cNvSpPr/>
          <p:nvPr/>
        </p:nvSpPr>
        <p:spPr>
          <a:xfrm>
            <a:off x="7190586" y="4491244"/>
            <a:ext cx="440852" cy="391353"/>
          </a:xfrm>
          <a:prstGeom prst="roundRect">
            <a:avLst>
              <a:gd name="adj" fmla="val 9735"/>
            </a:avLst>
          </a:prstGeom>
          <a:solidFill>
            <a:srgbClr val="1F6F43"/>
          </a:solidFill>
          <a:ln/>
        </p:spPr>
      </p:sp>
      <p:sp>
        <p:nvSpPr>
          <p:cNvPr id="24" name="Text 22"/>
          <p:cNvSpPr/>
          <p:nvPr/>
        </p:nvSpPr>
        <p:spPr>
          <a:xfrm>
            <a:off x="7276311" y="4519819"/>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1FBF5"/>
                </a:solidFill>
                <a:latin typeface="Courier New" pitchFamily="34" charset="0"/>
                <a:ea typeface="Courier New" pitchFamily="34" charset="-122"/>
                <a:cs typeface="Courier New" pitchFamily="34" charset="-120"/>
              </a:rPr>
              <a:t>14</a:t>
            </a:r>
            <a:endParaRPr lang="en-US" sz="1950" dirty="0"/>
          </a:p>
        </p:txBody>
      </p:sp>
      <p:sp>
        <p:nvSpPr>
          <p:cNvPr id="25" name="Shape 23"/>
          <p:cNvSpPr/>
          <p:nvPr/>
        </p:nvSpPr>
        <p:spPr>
          <a:xfrm>
            <a:off x="8769113" y="4491244"/>
            <a:ext cx="440852" cy="391353"/>
          </a:xfrm>
          <a:prstGeom prst="roundRect">
            <a:avLst>
              <a:gd name="adj" fmla="val 9735"/>
            </a:avLst>
          </a:prstGeom>
          <a:solidFill>
            <a:srgbClr val="4A6580"/>
          </a:solidFill>
          <a:ln/>
        </p:spPr>
      </p:sp>
      <p:sp>
        <p:nvSpPr>
          <p:cNvPr id="26" name="Text 24"/>
          <p:cNvSpPr/>
          <p:nvPr/>
        </p:nvSpPr>
        <p:spPr>
          <a:xfrm>
            <a:off x="8854838" y="4519819"/>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4F7FB"/>
                </a:solidFill>
                <a:latin typeface="Courier New" pitchFamily="34" charset="0"/>
                <a:ea typeface="Courier New" pitchFamily="34" charset="-122"/>
                <a:cs typeface="Courier New" pitchFamily="34" charset="-120"/>
              </a:rPr>
              <a:t>22</a:t>
            </a:r>
            <a:endParaRPr lang="en-US" sz="1950" dirty="0"/>
          </a:p>
        </p:txBody>
      </p:sp>
      <p:sp>
        <p:nvSpPr>
          <p:cNvPr id="27" name="Text 25"/>
          <p:cNvSpPr/>
          <p:nvPr/>
        </p:nvSpPr>
        <p:spPr>
          <a:xfrm>
            <a:off x="10271538" y="4455452"/>
            <a:ext cx="1094961" cy="501039"/>
          </a:xfrm>
          <a:prstGeom prst="rect">
            <a:avLst/>
          </a:prstGeom>
          <a:noFill/>
          <a:ln/>
        </p:spPr>
        <p:txBody>
          <a:bodyPr wrap="square" lIns="25400" tIns="25400" rIns="25400" bIns="25400" rtlCol="0" anchor="t">
            <a:normAutofit/>
          </a:bodyPr>
          <a:lstStyle/>
          <a:p>
            <a:pPr algn="r" indent="0" marL="0">
              <a:lnSpc>
                <a:spcPct val="135000"/>
              </a:lnSpc>
              <a:buNone/>
            </a:pPr>
            <a:r>
              <a:rPr lang="en-US" sz="2700" i="1" spc="-11" kern="0" dirty="0">
                <a:solidFill>
                  <a:srgbClr val="16241C"/>
                </a:solidFill>
                <a:latin typeface="Georgia" pitchFamily="34" charset="0"/>
                <a:ea typeface="Georgia" pitchFamily="34" charset="-122"/>
                <a:cs typeface="Georgia" pitchFamily="34" charset="-120"/>
              </a:rPr>
              <a:t>5</a:t>
            </a:r>
            <a:endParaRPr lang="en-US" sz="2700" dirty="0"/>
          </a:p>
        </p:txBody>
      </p:sp>
      <p:sp>
        <p:nvSpPr>
          <p:cNvPr id="28" name="Shape 26"/>
          <p:cNvSpPr/>
          <p:nvPr/>
        </p:nvSpPr>
        <p:spPr>
          <a:xfrm>
            <a:off x="914341" y="6221521"/>
            <a:ext cx="10566439" cy="9525"/>
          </a:xfrm>
          <a:prstGeom prst="rect">
            <a:avLst/>
          </a:prstGeom>
          <a:solidFill>
            <a:srgbClr val="16241C">
              <a:alpha val="14000"/>
            </a:srgbClr>
          </a:solidFill>
          <a:ln/>
        </p:spPr>
      </p:sp>
      <p:sp>
        <p:nvSpPr>
          <p:cNvPr id="29" name="Text 27"/>
          <p:cNvSpPr/>
          <p:nvPr/>
        </p:nvSpPr>
        <p:spPr>
          <a:xfrm>
            <a:off x="1028621" y="5482100"/>
            <a:ext cx="293804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Database</a:t>
            </a:r>
            <a:endParaRPr lang="en-US" sz="1950" dirty="0"/>
          </a:p>
        </p:txBody>
      </p:sp>
      <p:sp>
        <p:nvSpPr>
          <p:cNvPr id="30" name="Shape 28"/>
          <p:cNvSpPr/>
          <p:nvPr/>
        </p:nvSpPr>
        <p:spPr>
          <a:xfrm>
            <a:off x="4033433" y="5453604"/>
            <a:ext cx="440852" cy="391353"/>
          </a:xfrm>
          <a:prstGeom prst="roundRect">
            <a:avLst>
              <a:gd name="adj" fmla="val 9735"/>
            </a:avLst>
          </a:prstGeom>
          <a:solidFill>
            <a:srgbClr val="B94A2A"/>
          </a:solidFill>
          <a:ln/>
        </p:spPr>
      </p:sp>
      <p:sp>
        <p:nvSpPr>
          <p:cNvPr id="31" name="Text 29"/>
          <p:cNvSpPr/>
          <p:nvPr/>
        </p:nvSpPr>
        <p:spPr>
          <a:xfrm>
            <a:off x="4119158" y="5482179"/>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FF8F3"/>
                </a:solidFill>
                <a:latin typeface="Courier New" pitchFamily="34" charset="0"/>
                <a:ea typeface="Courier New" pitchFamily="34" charset="-122"/>
                <a:cs typeface="Courier New" pitchFamily="34" charset="-120"/>
              </a:rPr>
              <a:t>05</a:t>
            </a:r>
            <a:endParaRPr lang="en-US" sz="1950" dirty="0"/>
          </a:p>
        </p:txBody>
      </p:sp>
      <p:sp>
        <p:nvSpPr>
          <p:cNvPr id="32" name="Text 30"/>
          <p:cNvSpPr/>
          <p:nvPr/>
        </p:nvSpPr>
        <p:spPr>
          <a:xfrm>
            <a:off x="5611960" y="5482100"/>
            <a:ext cx="150248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33" name="Shape 31"/>
          <p:cNvSpPr/>
          <p:nvPr/>
        </p:nvSpPr>
        <p:spPr>
          <a:xfrm>
            <a:off x="7190586" y="5229383"/>
            <a:ext cx="440852" cy="391353"/>
          </a:xfrm>
          <a:prstGeom prst="roundRect">
            <a:avLst>
              <a:gd name="adj" fmla="val 9735"/>
            </a:avLst>
          </a:prstGeom>
          <a:solidFill>
            <a:srgbClr val="1F6F43"/>
          </a:solidFill>
          <a:ln/>
        </p:spPr>
      </p:sp>
      <p:sp>
        <p:nvSpPr>
          <p:cNvPr id="34" name="Text 32"/>
          <p:cNvSpPr/>
          <p:nvPr/>
        </p:nvSpPr>
        <p:spPr>
          <a:xfrm>
            <a:off x="7276311" y="5257958"/>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1FBF5"/>
                </a:solidFill>
                <a:latin typeface="Courier New" pitchFamily="34" charset="0"/>
                <a:ea typeface="Courier New" pitchFamily="34" charset="-122"/>
                <a:cs typeface="Courier New" pitchFamily="34" charset="-120"/>
              </a:rPr>
              <a:t>12</a:t>
            </a:r>
            <a:endParaRPr lang="en-US" sz="1950" dirty="0"/>
          </a:p>
        </p:txBody>
      </p:sp>
      <p:sp>
        <p:nvSpPr>
          <p:cNvPr id="35" name="Shape 33"/>
          <p:cNvSpPr/>
          <p:nvPr/>
        </p:nvSpPr>
        <p:spPr>
          <a:xfrm>
            <a:off x="7688528" y="5229383"/>
            <a:ext cx="440852" cy="391353"/>
          </a:xfrm>
          <a:prstGeom prst="roundRect">
            <a:avLst>
              <a:gd name="adj" fmla="val 9735"/>
            </a:avLst>
          </a:prstGeom>
          <a:solidFill>
            <a:srgbClr val="1F6F43"/>
          </a:solidFill>
          <a:ln/>
        </p:spPr>
      </p:sp>
      <p:sp>
        <p:nvSpPr>
          <p:cNvPr id="36" name="Text 34"/>
          <p:cNvSpPr/>
          <p:nvPr/>
        </p:nvSpPr>
        <p:spPr>
          <a:xfrm>
            <a:off x="7774253" y="5257958"/>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1FBF5"/>
                </a:solidFill>
                <a:latin typeface="Courier New" pitchFamily="34" charset="0"/>
                <a:ea typeface="Courier New" pitchFamily="34" charset="-122"/>
                <a:cs typeface="Courier New" pitchFamily="34" charset="-120"/>
              </a:rPr>
              <a:t>15</a:t>
            </a:r>
            <a:endParaRPr lang="en-US" sz="1950" dirty="0"/>
          </a:p>
        </p:txBody>
      </p:sp>
      <p:sp>
        <p:nvSpPr>
          <p:cNvPr id="37" name="Shape 35"/>
          <p:cNvSpPr/>
          <p:nvPr/>
        </p:nvSpPr>
        <p:spPr>
          <a:xfrm>
            <a:off x="7190586" y="5677827"/>
            <a:ext cx="440852" cy="391353"/>
          </a:xfrm>
          <a:prstGeom prst="roundRect">
            <a:avLst>
              <a:gd name="adj" fmla="val 9735"/>
            </a:avLst>
          </a:prstGeom>
          <a:solidFill>
            <a:srgbClr val="1F6F43"/>
          </a:solidFill>
          <a:ln/>
        </p:spPr>
      </p:sp>
      <p:sp>
        <p:nvSpPr>
          <p:cNvPr id="38" name="Text 36"/>
          <p:cNvSpPr/>
          <p:nvPr/>
        </p:nvSpPr>
        <p:spPr>
          <a:xfrm>
            <a:off x="7276311" y="5706402"/>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1FBF5"/>
                </a:solidFill>
                <a:latin typeface="Courier New" pitchFamily="34" charset="0"/>
                <a:ea typeface="Courier New" pitchFamily="34" charset="-122"/>
                <a:cs typeface="Courier New" pitchFamily="34" charset="-120"/>
              </a:rPr>
              <a:t>16</a:t>
            </a:r>
            <a:endParaRPr lang="en-US" sz="1950" dirty="0"/>
          </a:p>
        </p:txBody>
      </p:sp>
      <p:sp>
        <p:nvSpPr>
          <p:cNvPr id="39" name="Text 37"/>
          <p:cNvSpPr/>
          <p:nvPr/>
        </p:nvSpPr>
        <p:spPr>
          <a:xfrm>
            <a:off x="8769113" y="5482100"/>
            <a:ext cx="150248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40" name="Text 38"/>
          <p:cNvSpPr/>
          <p:nvPr/>
        </p:nvSpPr>
        <p:spPr>
          <a:xfrm>
            <a:off x="10271538" y="5417812"/>
            <a:ext cx="1094961" cy="501039"/>
          </a:xfrm>
          <a:prstGeom prst="rect">
            <a:avLst/>
          </a:prstGeom>
          <a:noFill/>
          <a:ln/>
        </p:spPr>
        <p:txBody>
          <a:bodyPr wrap="square" lIns="25400" tIns="25400" rIns="25400" bIns="25400" rtlCol="0" anchor="t">
            <a:normAutofit/>
          </a:bodyPr>
          <a:lstStyle/>
          <a:p>
            <a:pPr algn="r" indent="0" marL="0">
              <a:lnSpc>
                <a:spcPct val="135000"/>
              </a:lnSpc>
              <a:buNone/>
            </a:pPr>
            <a:r>
              <a:rPr lang="en-US" sz="2700" i="1" spc="-11" kern="0" dirty="0">
                <a:solidFill>
                  <a:srgbClr val="16241C"/>
                </a:solidFill>
                <a:latin typeface="Georgia" pitchFamily="34" charset="0"/>
                <a:ea typeface="Georgia" pitchFamily="34" charset="-122"/>
                <a:cs typeface="Georgia" pitchFamily="34" charset="-120"/>
              </a:rPr>
              <a:t>4</a:t>
            </a:r>
            <a:endParaRPr lang="en-US" sz="2700" dirty="0"/>
          </a:p>
        </p:txBody>
      </p:sp>
      <p:sp>
        <p:nvSpPr>
          <p:cNvPr id="41" name="Shape 39"/>
          <p:cNvSpPr/>
          <p:nvPr/>
        </p:nvSpPr>
        <p:spPr>
          <a:xfrm>
            <a:off x="914341" y="6995451"/>
            <a:ext cx="10566439" cy="9525"/>
          </a:xfrm>
          <a:prstGeom prst="rect">
            <a:avLst/>
          </a:prstGeom>
          <a:solidFill>
            <a:srgbClr val="16241C">
              <a:alpha val="14000"/>
            </a:srgbClr>
          </a:solidFill>
          <a:ln/>
        </p:spPr>
      </p:sp>
      <p:sp>
        <p:nvSpPr>
          <p:cNvPr id="42" name="Text 40"/>
          <p:cNvSpPr/>
          <p:nvPr/>
        </p:nvSpPr>
        <p:spPr>
          <a:xfrm>
            <a:off x="1028621" y="6444461"/>
            <a:ext cx="293804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Error handling</a:t>
            </a:r>
            <a:endParaRPr lang="en-US" sz="1950" dirty="0"/>
          </a:p>
        </p:txBody>
      </p:sp>
      <p:sp>
        <p:nvSpPr>
          <p:cNvPr id="43" name="Shape 41"/>
          <p:cNvSpPr/>
          <p:nvPr/>
        </p:nvSpPr>
        <p:spPr>
          <a:xfrm>
            <a:off x="4033433" y="6415965"/>
            <a:ext cx="440852" cy="391353"/>
          </a:xfrm>
          <a:prstGeom prst="roundRect">
            <a:avLst>
              <a:gd name="adj" fmla="val 9735"/>
            </a:avLst>
          </a:prstGeom>
          <a:solidFill>
            <a:srgbClr val="B94A2A"/>
          </a:solidFill>
          <a:ln/>
        </p:spPr>
      </p:sp>
      <p:sp>
        <p:nvSpPr>
          <p:cNvPr id="44" name="Text 42"/>
          <p:cNvSpPr/>
          <p:nvPr/>
        </p:nvSpPr>
        <p:spPr>
          <a:xfrm>
            <a:off x="4119158" y="6444540"/>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FF8F3"/>
                </a:solidFill>
                <a:latin typeface="Courier New" pitchFamily="34" charset="0"/>
                <a:ea typeface="Courier New" pitchFamily="34" charset="-122"/>
                <a:cs typeface="Courier New" pitchFamily="34" charset="-120"/>
              </a:rPr>
              <a:t>04</a:t>
            </a:r>
            <a:endParaRPr lang="en-US" sz="1950" dirty="0"/>
          </a:p>
        </p:txBody>
      </p:sp>
      <p:sp>
        <p:nvSpPr>
          <p:cNvPr id="45" name="Shape 43"/>
          <p:cNvSpPr/>
          <p:nvPr/>
        </p:nvSpPr>
        <p:spPr>
          <a:xfrm>
            <a:off x="5611960" y="6415965"/>
            <a:ext cx="440852" cy="391353"/>
          </a:xfrm>
          <a:prstGeom prst="roundRect">
            <a:avLst>
              <a:gd name="adj" fmla="val 9735"/>
            </a:avLst>
          </a:prstGeom>
          <a:solidFill>
            <a:srgbClr val="C8923A"/>
          </a:solidFill>
          <a:ln/>
        </p:spPr>
      </p:sp>
      <p:sp>
        <p:nvSpPr>
          <p:cNvPr id="46" name="Text 44"/>
          <p:cNvSpPr/>
          <p:nvPr/>
        </p:nvSpPr>
        <p:spPr>
          <a:xfrm>
            <a:off x="5697685" y="6444540"/>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A1408"/>
                </a:solidFill>
                <a:latin typeface="Courier New" pitchFamily="34" charset="0"/>
                <a:ea typeface="Courier New" pitchFamily="34" charset="-122"/>
                <a:cs typeface="Courier New" pitchFamily="34" charset="-120"/>
              </a:rPr>
              <a:t>08</a:t>
            </a:r>
            <a:endParaRPr lang="en-US" sz="1950" dirty="0"/>
          </a:p>
        </p:txBody>
      </p:sp>
      <p:sp>
        <p:nvSpPr>
          <p:cNvPr id="47" name="Shape 45"/>
          <p:cNvSpPr/>
          <p:nvPr/>
        </p:nvSpPr>
        <p:spPr>
          <a:xfrm>
            <a:off x="6109903" y="6415965"/>
            <a:ext cx="440852" cy="391353"/>
          </a:xfrm>
          <a:prstGeom prst="roundRect">
            <a:avLst>
              <a:gd name="adj" fmla="val 9735"/>
            </a:avLst>
          </a:prstGeom>
          <a:solidFill>
            <a:srgbClr val="C8923A"/>
          </a:solidFill>
          <a:ln/>
        </p:spPr>
      </p:sp>
      <p:sp>
        <p:nvSpPr>
          <p:cNvPr id="48" name="Text 46"/>
          <p:cNvSpPr/>
          <p:nvPr/>
        </p:nvSpPr>
        <p:spPr>
          <a:xfrm>
            <a:off x="6195628" y="6444540"/>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A1408"/>
                </a:solidFill>
                <a:latin typeface="Courier New" pitchFamily="34" charset="0"/>
                <a:ea typeface="Courier New" pitchFamily="34" charset="-122"/>
                <a:cs typeface="Courier New" pitchFamily="34" charset="-120"/>
              </a:rPr>
              <a:t>09</a:t>
            </a:r>
            <a:endParaRPr lang="en-US" sz="1950" dirty="0"/>
          </a:p>
        </p:txBody>
      </p:sp>
      <p:sp>
        <p:nvSpPr>
          <p:cNvPr id="49" name="Text 47"/>
          <p:cNvSpPr/>
          <p:nvPr/>
        </p:nvSpPr>
        <p:spPr>
          <a:xfrm>
            <a:off x="7190586" y="6444461"/>
            <a:ext cx="1502386"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50" name="Text 48"/>
          <p:cNvSpPr/>
          <p:nvPr/>
        </p:nvSpPr>
        <p:spPr>
          <a:xfrm>
            <a:off x="8769113" y="6444461"/>
            <a:ext cx="150248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51" name="Text 49"/>
          <p:cNvSpPr/>
          <p:nvPr/>
        </p:nvSpPr>
        <p:spPr>
          <a:xfrm>
            <a:off x="10271538" y="6380172"/>
            <a:ext cx="1094961" cy="501039"/>
          </a:xfrm>
          <a:prstGeom prst="rect">
            <a:avLst/>
          </a:prstGeom>
          <a:noFill/>
          <a:ln/>
        </p:spPr>
        <p:txBody>
          <a:bodyPr wrap="square" lIns="25400" tIns="25400" rIns="25400" bIns="25400" rtlCol="0" anchor="t">
            <a:normAutofit/>
          </a:bodyPr>
          <a:lstStyle/>
          <a:p>
            <a:pPr algn="r" indent="0" marL="0">
              <a:lnSpc>
                <a:spcPct val="135000"/>
              </a:lnSpc>
              <a:buNone/>
            </a:pPr>
            <a:r>
              <a:rPr lang="en-US" sz="2700" i="1" spc="-11" kern="0" dirty="0">
                <a:solidFill>
                  <a:srgbClr val="16241C"/>
                </a:solidFill>
                <a:latin typeface="Georgia" pitchFamily="34" charset="0"/>
                <a:ea typeface="Georgia" pitchFamily="34" charset="-122"/>
                <a:cs typeface="Georgia" pitchFamily="34" charset="-120"/>
              </a:rPr>
              <a:t>3</a:t>
            </a:r>
            <a:endParaRPr lang="en-US" sz="2700" dirty="0"/>
          </a:p>
        </p:txBody>
      </p:sp>
      <p:sp>
        <p:nvSpPr>
          <p:cNvPr id="52" name="Shape 50"/>
          <p:cNvSpPr/>
          <p:nvPr/>
        </p:nvSpPr>
        <p:spPr>
          <a:xfrm>
            <a:off x="914341" y="7769382"/>
            <a:ext cx="10566439" cy="9525"/>
          </a:xfrm>
          <a:prstGeom prst="rect">
            <a:avLst/>
          </a:prstGeom>
          <a:solidFill>
            <a:srgbClr val="16241C">
              <a:alpha val="14000"/>
            </a:srgbClr>
          </a:solidFill>
          <a:ln/>
        </p:spPr>
      </p:sp>
      <p:sp>
        <p:nvSpPr>
          <p:cNvPr id="53" name="Text 51"/>
          <p:cNvSpPr/>
          <p:nvPr/>
        </p:nvSpPr>
        <p:spPr>
          <a:xfrm>
            <a:off x="1028621" y="7218391"/>
            <a:ext cx="293804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Code quality</a:t>
            </a:r>
            <a:endParaRPr lang="en-US" sz="1950" dirty="0"/>
          </a:p>
        </p:txBody>
      </p:sp>
      <p:sp>
        <p:nvSpPr>
          <p:cNvPr id="54" name="Text 52"/>
          <p:cNvSpPr/>
          <p:nvPr/>
        </p:nvSpPr>
        <p:spPr>
          <a:xfrm>
            <a:off x="4033433" y="7218391"/>
            <a:ext cx="1502386"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55" name="Shape 53"/>
          <p:cNvSpPr/>
          <p:nvPr/>
        </p:nvSpPr>
        <p:spPr>
          <a:xfrm>
            <a:off x="5611960" y="7189895"/>
            <a:ext cx="440852" cy="391353"/>
          </a:xfrm>
          <a:prstGeom prst="roundRect">
            <a:avLst>
              <a:gd name="adj" fmla="val 9735"/>
            </a:avLst>
          </a:prstGeom>
          <a:solidFill>
            <a:srgbClr val="C8923A"/>
          </a:solidFill>
          <a:ln/>
        </p:spPr>
      </p:sp>
      <p:sp>
        <p:nvSpPr>
          <p:cNvPr id="56" name="Text 54"/>
          <p:cNvSpPr/>
          <p:nvPr/>
        </p:nvSpPr>
        <p:spPr>
          <a:xfrm>
            <a:off x="5697685" y="7218470"/>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A1408"/>
                </a:solidFill>
                <a:latin typeface="Courier New" pitchFamily="34" charset="0"/>
                <a:ea typeface="Courier New" pitchFamily="34" charset="-122"/>
                <a:cs typeface="Courier New" pitchFamily="34" charset="-120"/>
              </a:rPr>
              <a:t>07</a:t>
            </a:r>
            <a:endParaRPr lang="en-US" sz="1950" dirty="0"/>
          </a:p>
        </p:txBody>
      </p:sp>
      <p:sp>
        <p:nvSpPr>
          <p:cNvPr id="57" name="Shape 55"/>
          <p:cNvSpPr/>
          <p:nvPr/>
        </p:nvSpPr>
        <p:spPr>
          <a:xfrm>
            <a:off x="6109903" y="7189895"/>
            <a:ext cx="440852" cy="391353"/>
          </a:xfrm>
          <a:prstGeom prst="roundRect">
            <a:avLst>
              <a:gd name="adj" fmla="val 9735"/>
            </a:avLst>
          </a:prstGeom>
          <a:solidFill>
            <a:srgbClr val="C8923A"/>
          </a:solidFill>
          <a:ln/>
        </p:spPr>
      </p:sp>
      <p:sp>
        <p:nvSpPr>
          <p:cNvPr id="58" name="Text 56"/>
          <p:cNvSpPr/>
          <p:nvPr/>
        </p:nvSpPr>
        <p:spPr>
          <a:xfrm>
            <a:off x="6195628" y="7218470"/>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A1408"/>
                </a:solidFill>
                <a:latin typeface="Courier New" pitchFamily="34" charset="0"/>
                <a:ea typeface="Courier New" pitchFamily="34" charset="-122"/>
                <a:cs typeface="Courier New" pitchFamily="34" charset="-120"/>
              </a:rPr>
              <a:t>11</a:t>
            </a:r>
            <a:endParaRPr lang="en-US" sz="1950" dirty="0"/>
          </a:p>
        </p:txBody>
      </p:sp>
      <p:sp>
        <p:nvSpPr>
          <p:cNvPr id="59" name="Shape 57"/>
          <p:cNvSpPr/>
          <p:nvPr/>
        </p:nvSpPr>
        <p:spPr>
          <a:xfrm>
            <a:off x="7190586" y="7189895"/>
            <a:ext cx="440852" cy="391353"/>
          </a:xfrm>
          <a:prstGeom prst="roundRect">
            <a:avLst>
              <a:gd name="adj" fmla="val 9735"/>
            </a:avLst>
          </a:prstGeom>
          <a:solidFill>
            <a:srgbClr val="1F6F43"/>
          </a:solidFill>
          <a:ln/>
        </p:spPr>
      </p:sp>
      <p:sp>
        <p:nvSpPr>
          <p:cNvPr id="60" name="Text 58"/>
          <p:cNvSpPr/>
          <p:nvPr/>
        </p:nvSpPr>
        <p:spPr>
          <a:xfrm>
            <a:off x="7276311" y="7218470"/>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1FBF5"/>
                </a:solidFill>
                <a:latin typeface="Courier New" pitchFamily="34" charset="0"/>
                <a:ea typeface="Courier New" pitchFamily="34" charset="-122"/>
                <a:cs typeface="Courier New" pitchFamily="34" charset="-120"/>
              </a:rPr>
              <a:t>17</a:t>
            </a:r>
            <a:endParaRPr lang="en-US" sz="1950" dirty="0"/>
          </a:p>
        </p:txBody>
      </p:sp>
      <p:sp>
        <p:nvSpPr>
          <p:cNvPr id="61" name="Shape 59"/>
          <p:cNvSpPr/>
          <p:nvPr/>
        </p:nvSpPr>
        <p:spPr>
          <a:xfrm>
            <a:off x="7688528" y="7189895"/>
            <a:ext cx="440852" cy="391353"/>
          </a:xfrm>
          <a:prstGeom prst="roundRect">
            <a:avLst>
              <a:gd name="adj" fmla="val 9735"/>
            </a:avLst>
          </a:prstGeom>
          <a:solidFill>
            <a:srgbClr val="1F6F43"/>
          </a:solidFill>
          <a:ln/>
        </p:spPr>
      </p:sp>
      <p:sp>
        <p:nvSpPr>
          <p:cNvPr id="62" name="Text 60"/>
          <p:cNvSpPr/>
          <p:nvPr/>
        </p:nvSpPr>
        <p:spPr>
          <a:xfrm>
            <a:off x="7774253" y="7218470"/>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1FBF5"/>
                </a:solidFill>
                <a:latin typeface="Courier New" pitchFamily="34" charset="0"/>
                <a:ea typeface="Courier New" pitchFamily="34" charset="-122"/>
                <a:cs typeface="Courier New" pitchFamily="34" charset="-120"/>
              </a:rPr>
              <a:t>18</a:t>
            </a:r>
            <a:endParaRPr lang="en-US" sz="1950" dirty="0"/>
          </a:p>
        </p:txBody>
      </p:sp>
      <p:sp>
        <p:nvSpPr>
          <p:cNvPr id="63" name="Text 61"/>
          <p:cNvSpPr/>
          <p:nvPr/>
        </p:nvSpPr>
        <p:spPr>
          <a:xfrm>
            <a:off x="8769113" y="7218391"/>
            <a:ext cx="150248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64" name="Text 62"/>
          <p:cNvSpPr/>
          <p:nvPr/>
        </p:nvSpPr>
        <p:spPr>
          <a:xfrm>
            <a:off x="10271538" y="7154103"/>
            <a:ext cx="1094961" cy="501039"/>
          </a:xfrm>
          <a:prstGeom prst="rect">
            <a:avLst/>
          </a:prstGeom>
          <a:noFill/>
          <a:ln/>
        </p:spPr>
        <p:txBody>
          <a:bodyPr wrap="square" lIns="25400" tIns="25400" rIns="25400" bIns="25400" rtlCol="0" anchor="t">
            <a:normAutofit/>
          </a:bodyPr>
          <a:lstStyle/>
          <a:p>
            <a:pPr algn="r" indent="0" marL="0">
              <a:lnSpc>
                <a:spcPct val="135000"/>
              </a:lnSpc>
              <a:buNone/>
            </a:pPr>
            <a:r>
              <a:rPr lang="en-US" sz="2700" i="1" spc="-11" kern="0" dirty="0">
                <a:solidFill>
                  <a:srgbClr val="16241C"/>
                </a:solidFill>
                <a:latin typeface="Georgia" pitchFamily="34" charset="0"/>
                <a:ea typeface="Georgia" pitchFamily="34" charset="-122"/>
                <a:cs typeface="Georgia" pitchFamily="34" charset="-120"/>
              </a:rPr>
              <a:t>4</a:t>
            </a:r>
            <a:endParaRPr lang="en-US" sz="2700" dirty="0"/>
          </a:p>
        </p:txBody>
      </p:sp>
      <p:sp>
        <p:nvSpPr>
          <p:cNvPr id="65" name="Shape 63"/>
          <p:cNvSpPr/>
          <p:nvPr/>
        </p:nvSpPr>
        <p:spPr>
          <a:xfrm>
            <a:off x="914341" y="8543313"/>
            <a:ext cx="10566439" cy="9525"/>
          </a:xfrm>
          <a:prstGeom prst="rect">
            <a:avLst/>
          </a:prstGeom>
          <a:solidFill>
            <a:srgbClr val="16241C">
              <a:alpha val="14000"/>
            </a:srgbClr>
          </a:solidFill>
          <a:ln/>
        </p:spPr>
      </p:sp>
      <p:sp>
        <p:nvSpPr>
          <p:cNvPr id="66" name="Text 64"/>
          <p:cNvSpPr/>
          <p:nvPr/>
        </p:nvSpPr>
        <p:spPr>
          <a:xfrm>
            <a:off x="1028621" y="7992323"/>
            <a:ext cx="293804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Performance</a:t>
            </a:r>
            <a:endParaRPr lang="en-US" sz="1950" dirty="0"/>
          </a:p>
        </p:txBody>
      </p:sp>
      <p:sp>
        <p:nvSpPr>
          <p:cNvPr id="67" name="Text 65"/>
          <p:cNvSpPr/>
          <p:nvPr/>
        </p:nvSpPr>
        <p:spPr>
          <a:xfrm>
            <a:off x="4033433" y="7992323"/>
            <a:ext cx="1502386"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68" name="Text 66"/>
          <p:cNvSpPr/>
          <p:nvPr/>
        </p:nvSpPr>
        <p:spPr>
          <a:xfrm>
            <a:off x="5611960" y="7992323"/>
            <a:ext cx="150248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69" name="Shape 67"/>
          <p:cNvSpPr/>
          <p:nvPr/>
        </p:nvSpPr>
        <p:spPr>
          <a:xfrm>
            <a:off x="7190586" y="7963826"/>
            <a:ext cx="440852" cy="391353"/>
          </a:xfrm>
          <a:prstGeom prst="roundRect">
            <a:avLst>
              <a:gd name="adj" fmla="val 9735"/>
            </a:avLst>
          </a:prstGeom>
          <a:solidFill>
            <a:srgbClr val="1F6F43"/>
          </a:solidFill>
          <a:ln/>
        </p:spPr>
      </p:sp>
      <p:sp>
        <p:nvSpPr>
          <p:cNvPr id="70" name="Text 68"/>
          <p:cNvSpPr/>
          <p:nvPr/>
        </p:nvSpPr>
        <p:spPr>
          <a:xfrm>
            <a:off x="7276311" y="7992401"/>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1FBF5"/>
                </a:solidFill>
                <a:latin typeface="Courier New" pitchFamily="34" charset="0"/>
                <a:ea typeface="Courier New" pitchFamily="34" charset="-122"/>
                <a:cs typeface="Courier New" pitchFamily="34" charset="-120"/>
              </a:rPr>
              <a:t>12</a:t>
            </a:r>
            <a:endParaRPr lang="en-US" sz="1950" dirty="0"/>
          </a:p>
        </p:txBody>
      </p:sp>
      <p:sp>
        <p:nvSpPr>
          <p:cNvPr id="71" name="Shape 69"/>
          <p:cNvSpPr/>
          <p:nvPr/>
        </p:nvSpPr>
        <p:spPr>
          <a:xfrm>
            <a:off x="7688528" y="7963826"/>
            <a:ext cx="440852" cy="391353"/>
          </a:xfrm>
          <a:prstGeom prst="roundRect">
            <a:avLst>
              <a:gd name="adj" fmla="val 9735"/>
            </a:avLst>
          </a:prstGeom>
          <a:solidFill>
            <a:srgbClr val="1F6F43"/>
          </a:solidFill>
          <a:ln/>
        </p:spPr>
      </p:sp>
      <p:sp>
        <p:nvSpPr>
          <p:cNvPr id="72" name="Text 70"/>
          <p:cNvSpPr/>
          <p:nvPr/>
        </p:nvSpPr>
        <p:spPr>
          <a:xfrm>
            <a:off x="7774253" y="7992401"/>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1FBF5"/>
                </a:solidFill>
                <a:latin typeface="Courier New" pitchFamily="34" charset="0"/>
                <a:ea typeface="Courier New" pitchFamily="34" charset="-122"/>
                <a:cs typeface="Courier New" pitchFamily="34" charset="-120"/>
              </a:rPr>
              <a:t>13</a:t>
            </a:r>
            <a:endParaRPr lang="en-US" sz="1950" dirty="0"/>
          </a:p>
        </p:txBody>
      </p:sp>
      <p:sp>
        <p:nvSpPr>
          <p:cNvPr id="73" name="Shape 71"/>
          <p:cNvSpPr/>
          <p:nvPr/>
        </p:nvSpPr>
        <p:spPr>
          <a:xfrm>
            <a:off x="8769113" y="7963826"/>
            <a:ext cx="440852" cy="391353"/>
          </a:xfrm>
          <a:prstGeom prst="roundRect">
            <a:avLst>
              <a:gd name="adj" fmla="val 9735"/>
            </a:avLst>
          </a:prstGeom>
          <a:solidFill>
            <a:srgbClr val="4A6580"/>
          </a:solidFill>
          <a:ln/>
        </p:spPr>
      </p:sp>
      <p:sp>
        <p:nvSpPr>
          <p:cNvPr id="74" name="Text 72"/>
          <p:cNvSpPr/>
          <p:nvPr/>
        </p:nvSpPr>
        <p:spPr>
          <a:xfrm>
            <a:off x="8854838" y="7992401"/>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4F7FB"/>
                </a:solidFill>
                <a:latin typeface="Courier New" pitchFamily="34" charset="0"/>
                <a:ea typeface="Courier New" pitchFamily="34" charset="-122"/>
                <a:cs typeface="Courier New" pitchFamily="34" charset="-120"/>
              </a:rPr>
              <a:t>24</a:t>
            </a:r>
            <a:endParaRPr lang="en-US" sz="1950" dirty="0"/>
          </a:p>
        </p:txBody>
      </p:sp>
      <p:sp>
        <p:nvSpPr>
          <p:cNvPr id="75" name="Text 73"/>
          <p:cNvSpPr/>
          <p:nvPr/>
        </p:nvSpPr>
        <p:spPr>
          <a:xfrm>
            <a:off x="10271538" y="7928034"/>
            <a:ext cx="1094961" cy="501039"/>
          </a:xfrm>
          <a:prstGeom prst="rect">
            <a:avLst/>
          </a:prstGeom>
          <a:noFill/>
          <a:ln/>
        </p:spPr>
        <p:txBody>
          <a:bodyPr wrap="square" lIns="25400" tIns="25400" rIns="25400" bIns="25400" rtlCol="0" anchor="t">
            <a:normAutofit/>
          </a:bodyPr>
          <a:lstStyle/>
          <a:p>
            <a:pPr algn="r" indent="0" marL="0">
              <a:lnSpc>
                <a:spcPct val="135000"/>
              </a:lnSpc>
              <a:buNone/>
            </a:pPr>
            <a:r>
              <a:rPr lang="en-US" sz="2700" i="1" spc="-11" kern="0" dirty="0">
                <a:solidFill>
                  <a:srgbClr val="16241C"/>
                </a:solidFill>
                <a:latin typeface="Georgia" pitchFamily="34" charset="0"/>
                <a:ea typeface="Georgia" pitchFamily="34" charset="-122"/>
                <a:cs typeface="Georgia" pitchFamily="34" charset="-120"/>
              </a:rPr>
              <a:t>3</a:t>
            </a:r>
            <a:endParaRPr lang="en-US" sz="2700" dirty="0"/>
          </a:p>
        </p:txBody>
      </p:sp>
      <p:sp>
        <p:nvSpPr>
          <p:cNvPr id="76" name="Shape 74"/>
          <p:cNvSpPr/>
          <p:nvPr/>
        </p:nvSpPr>
        <p:spPr>
          <a:xfrm>
            <a:off x="914341" y="9317244"/>
            <a:ext cx="10566439" cy="9525"/>
          </a:xfrm>
          <a:prstGeom prst="rect">
            <a:avLst/>
          </a:prstGeom>
          <a:solidFill>
            <a:srgbClr val="16241C">
              <a:alpha val="14000"/>
            </a:srgbClr>
          </a:solidFill>
          <a:ln/>
        </p:spPr>
      </p:sp>
      <p:sp>
        <p:nvSpPr>
          <p:cNvPr id="77" name="Text 75"/>
          <p:cNvSpPr/>
          <p:nvPr/>
        </p:nvSpPr>
        <p:spPr>
          <a:xfrm>
            <a:off x="1028621" y="8766253"/>
            <a:ext cx="293804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Fidelity / testing</a:t>
            </a:r>
            <a:endParaRPr lang="en-US" sz="1950" dirty="0"/>
          </a:p>
        </p:txBody>
      </p:sp>
      <p:sp>
        <p:nvSpPr>
          <p:cNvPr id="78" name="Shape 76"/>
          <p:cNvSpPr/>
          <p:nvPr/>
        </p:nvSpPr>
        <p:spPr>
          <a:xfrm>
            <a:off x="4033433" y="8737757"/>
            <a:ext cx="440852" cy="391353"/>
          </a:xfrm>
          <a:prstGeom prst="roundRect">
            <a:avLst>
              <a:gd name="adj" fmla="val 9735"/>
            </a:avLst>
          </a:prstGeom>
          <a:solidFill>
            <a:srgbClr val="B94A2A"/>
          </a:solidFill>
          <a:ln/>
        </p:spPr>
      </p:sp>
      <p:sp>
        <p:nvSpPr>
          <p:cNvPr id="79" name="Text 77"/>
          <p:cNvSpPr/>
          <p:nvPr/>
        </p:nvSpPr>
        <p:spPr>
          <a:xfrm>
            <a:off x="4119158" y="8766332"/>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FF8F3"/>
                </a:solidFill>
                <a:latin typeface="Courier New" pitchFamily="34" charset="0"/>
                <a:ea typeface="Courier New" pitchFamily="34" charset="-122"/>
                <a:cs typeface="Courier New" pitchFamily="34" charset="-120"/>
              </a:rPr>
              <a:t>02</a:t>
            </a:r>
            <a:endParaRPr lang="en-US" sz="1950" dirty="0"/>
          </a:p>
        </p:txBody>
      </p:sp>
      <p:sp>
        <p:nvSpPr>
          <p:cNvPr id="80" name="Shape 78"/>
          <p:cNvSpPr/>
          <p:nvPr/>
        </p:nvSpPr>
        <p:spPr>
          <a:xfrm>
            <a:off x="5611960" y="8737757"/>
            <a:ext cx="440852" cy="391353"/>
          </a:xfrm>
          <a:prstGeom prst="roundRect">
            <a:avLst>
              <a:gd name="adj" fmla="val 9735"/>
            </a:avLst>
          </a:prstGeom>
          <a:solidFill>
            <a:srgbClr val="C8923A"/>
          </a:solidFill>
          <a:ln/>
        </p:spPr>
      </p:sp>
      <p:sp>
        <p:nvSpPr>
          <p:cNvPr id="81" name="Text 79"/>
          <p:cNvSpPr/>
          <p:nvPr/>
        </p:nvSpPr>
        <p:spPr>
          <a:xfrm>
            <a:off x="5697685" y="8766332"/>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A1408"/>
                </a:solidFill>
                <a:latin typeface="Courier New" pitchFamily="34" charset="0"/>
                <a:ea typeface="Courier New" pitchFamily="34" charset="-122"/>
                <a:cs typeface="Courier New" pitchFamily="34" charset="-120"/>
              </a:rPr>
              <a:t>06</a:t>
            </a:r>
            <a:endParaRPr lang="en-US" sz="1950" dirty="0"/>
          </a:p>
        </p:txBody>
      </p:sp>
      <p:sp>
        <p:nvSpPr>
          <p:cNvPr id="82" name="Text 80"/>
          <p:cNvSpPr/>
          <p:nvPr/>
        </p:nvSpPr>
        <p:spPr>
          <a:xfrm>
            <a:off x="7190586" y="8766253"/>
            <a:ext cx="1502386"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83" name="Shape 81"/>
          <p:cNvSpPr/>
          <p:nvPr/>
        </p:nvSpPr>
        <p:spPr>
          <a:xfrm>
            <a:off x="8769113" y="8737757"/>
            <a:ext cx="440852" cy="391353"/>
          </a:xfrm>
          <a:prstGeom prst="roundRect">
            <a:avLst>
              <a:gd name="adj" fmla="val 9735"/>
            </a:avLst>
          </a:prstGeom>
          <a:solidFill>
            <a:srgbClr val="4A6580"/>
          </a:solidFill>
          <a:ln/>
        </p:spPr>
      </p:sp>
      <p:sp>
        <p:nvSpPr>
          <p:cNvPr id="84" name="Text 82"/>
          <p:cNvSpPr/>
          <p:nvPr/>
        </p:nvSpPr>
        <p:spPr>
          <a:xfrm>
            <a:off x="8854838" y="8766332"/>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4F7FB"/>
                </a:solidFill>
                <a:latin typeface="Courier New" pitchFamily="34" charset="0"/>
                <a:ea typeface="Courier New" pitchFamily="34" charset="-122"/>
                <a:cs typeface="Courier New" pitchFamily="34" charset="-120"/>
              </a:rPr>
              <a:t>23</a:t>
            </a:r>
            <a:endParaRPr lang="en-US" sz="1950" dirty="0"/>
          </a:p>
        </p:txBody>
      </p:sp>
      <p:sp>
        <p:nvSpPr>
          <p:cNvPr id="85" name="Text 83"/>
          <p:cNvSpPr/>
          <p:nvPr/>
        </p:nvSpPr>
        <p:spPr>
          <a:xfrm>
            <a:off x="10271538" y="8701964"/>
            <a:ext cx="1094961" cy="501039"/>
          </a:xfrm>
          <a:prstGeom prst="rect">
            <a:avLst/>
          </a:prstGeom>
          <a:noFill/>
          <a:ln/>
        </p:spPr>
        <p:txBody>
          <a:bodyPr wrap="square" lIns="25400" tIns="25400" rIns="25400" bIns="25400" rtlCol="0" anchor="t">
            <a:normAutofit/>
          </a:bodyPr>
          <a:lstStyle/>
          <a:p>
            <a:pPr algn="r" indent="0" marL="0">
              <a:lnSpc>
                <a:spcPct val="135000"/>
              </a:lnSpc>
              <a:buNone/>
            </a:pPr>
            <a:r>
              <a:rPr lang="en-US" sz="2700" i="1" spc="-11" kern="0" dirty="0">
                <a:solidFill>
                  <a:srgbClr val="16241C"/>
                </a:solidFill>
                <a:latin typeface="Georgia" pitchFamily="34" charset="0"/>
                <a:ea typeface="Georgia" pitchFamily="34" charset="-122"/>
                <a:cs typeface="Georgia" pitchFamily="34" charset="-120"/>
              </a:rPr>
              <a:t>3</a:t>
            </a:r>
            <a:endParaRPr lang="en-US" sz="2700" dirty="0"/>
          </a:p>
        </p:txBody>
      </p:sp>
      <p:sp>
        <p:nvSpPr>
          <p:cNvPr id="86" name="Shape 84"/>
          <p:cNvSpPr/>
          <p:nvPr/>
        </p:nvSpPr>
        <p:spPr>
          <a:xfrm>
            <a:off x="914341" y="10091175"/>
            <a:ext cx="10566439" cy="9525"/>
          </a:xfrm>
          <a:prstGeom prst="rect">
            <a:avLst/>
          </a:prstGeom>
          <a:solidFill>
            <a:srgbClr val="16241C">
              <a:alpha val="14000"/>
            </a:srgbClr>
          </a:solidFill>
          <a:ln/>
        </p:spPr>
      </p:sp>
      <p:sp>
        <p:nvSpPr>
          <p:cNvPr id="87" name="Text 85"/>
          <p:cNvSpPr/>
          <p:nvPr/>
        </p:nvSpPr>
        <p:spPr>
          <a:xfrm>
            <a:off x="1028621" y="9540184"/>
            <a:ext cx="293804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Operations</a:t>
            </a:r>
            <a:endParaRPr lang="en-US" sz="1950" dirty="0"/>
          </a:p>
        </p:txBody>
      </p:sp>
      <p:sp>
        <p:nvSpPr>
          <p:cNvPr id="88" name="Text 86"/>
          <p:cNvSpPr/>
          <p:nvPr/>
        </p:nvSpPr>
        <p:spPr>
          <a:xfrm>
            <a:off x="4033433" y="9540184"/>
            <a:ext cx="1502386"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89" name="Text 87"/>
          <p:cNvSpPr/>
          <p:nvPr/>
        </p:nvSpPr>
        <p:spPr>
          <a:xfrm>
            <a:off x="5611960" y="9540184"/>
            <a:ext cx="150248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90" name="Text 88"/>
          <p:cNvSpPr/>
          <p:nvPr/>
        </p:nvSpPr>
        <p:spPr>
          <a:xfrm>
            <a:off x="7190586" y="9540184"/>
            <a:ext cx="1502386"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91" name="Shape 89"/>
          <p:cNvSpPr/>
          <p:nvPr/>
        </p:nvSpPr>
        <p:spPr>
          <a:xfrm>
            <a:off x="8769113" y="9511688"/>
            <a:ext cx="440852" cy="391353"/>
          </a:xfrm>
          <a:prstGeom prst="roundRect">
            <a:avLst>
              <a:gd name="adj" fmla="val 9735"/>
            </a:avLst>
          </a:prstGeom>
          <a:solidFill>
            <a:srgbClr val="4A6580"/>
          </a:solidFill>
          <a:ln/>
        </p:spPr>
      </p:sp>
      <p:sp>
        <p:nvSpPr>
          <p:cNvPr id="92" name="Text 90"/>
          <p:cNvSpPr/>
          <p:nvPr/>
        </p:nvSpPr>
        <p:spPr>
          <a:xfrm>
            <a:off x="8854838" y="9540263"/>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4F7FB"/>
                </a:solidFill>
                <a:latin typeface="Courier New" pitchFamily="34" charset="0"/>
                <a:ea typeface="Courier New" pitchFamily="34" charset="-122"/>
                <a:cs typeface="Courier New" pitchFamily="34" charset="-120"/>
              </a:rPr>
              <a:t>20</a:t>
            </a:r>
            <a:endParaRPr lang="en-US" sz="1950" dirty="0"/>
          </a:p>
        </p:txBody>
      </p:sp>
      <p:sp>
        <p:nvSpPr>
          <p:cNvPr id="93" name="Shape 91"/>
          <p:cNvSpPr/>
          <p:nvPr/>
        </p:nvSpPr>
        <p:spPr>
          <a:xfrm>
            <a:off x="9267055" y="9511688"/>
            <a:ext cx="440852" cy="391353"/>
          </a:xfrm>
          <a:prstGeom prst="roundRect">
            <a:avLst>
              <a:gd name="adj" fmla="val 9735"/>
            </a:avLst>
          </a:prstGeom>
          <a:solidFill>
            <a:srgbClr val="4A6580"/>
          </a:solidFill>
          <a:ln/>
        </p:spPr>
      </p:sp>
      <p:sp>
        <p:nvSpPr>
          <p:cNvPr id="94" name="Text 92"/>
          <p:cNvSpPr/>
          <p:nvPr/>
        </p:nvSpPr>
        <p:spPr>
          <a:xfrm>
            <a:off x="9352780" y="9540263"/>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4F7FB"/>
                </a:solidFill>
                <a:latin typeface="Courier New" pitchFamily="34" charset="0"/>
                <a:ea typeface="Courier New" pitchFamily="34" charset="-122"/>
                <a:cs typeface="Courier New" pitchFamily="34" charset="-120"/>
              </a:rPr>
              <a:t>21</a:t>
            </a:r>
            <a:endParaRPr lang="en-US" sz="1950" dirty="0"/>
          </a:p>
        </p:txBody>
      </p:sp>
      <p:sp>
        <p:nvSpPr>
          <p:cNvPr id="95" name="Text 93"/>
          <p:cNvSpPr/>
          <p:nvPr/>
        </p:nvSpPr>
        <p:spPr>
          <a:xfrm>
            <a:off x="10271538" y="9475895"/>
            <a:ext cx="1094961" cy="501039"/>
          </a:xfrm>
          <a:prstGeom prst="rect">
            <a:avLst/>
          </a:prstGeom>
          <a:noFill/>
          <a:ln/>
        </p:spPr>
        <p:txBody>
          <a:bodyPr wrap="square" lIns="25400" tIns="25400" rIns="25400" bIns="25400" rtlCol="0" anchor="t">
            <a:normAutofit/>
          </a:bodyPr>
          <a:lstStyle/>
          <a:p>
            <a:pPr algn="r" indent="0" marL="0">
              <a:lnSpc>
                <a:spcPct val="135000"/>
              </a:lnSpc>
              <a:buNone/>
            </a:pPr>
            <a:r>
              <a:rPr lang="en-US" sz="2700" i="1" spc="-11" kern="0" dirty="0">
                <a:solidFill>
                  <a:srgbClr val="16241C"/>
                </a:solidFill>
                <a:latin typeface="Georgia" pitchFamily="34" charset="0"/>
                <a:ea typeface="Georgia" pitchFamily="34" charset="-122"/>
                <a:cs typeface="Georgia" pitchFamily="34" charset="-120"/>
              </a:rPr>
              <a:t>2</a:t>
            </a:r>
            <a:endParaRPr lang="en-US" sz="2700" dirty="0"/>
          </a:p>
        </p:txBody>
      </p:sp>
      <p:sp>
        <p:nvSpPr>
          <p:cNvPr id="96" name="Shape 94"/>
          <p:cNvSpPr/>
          <p:nvPr/>
        </p:nvSpPr>
        <p:spPr>
          <a:xfrm>
            <a:off x="914341" y="10865105"/>
            <a:ext cx="10566439" cy="9525"/>
          </a:xfrm>
          <a:prstGeom prst="rect">
            <a:avLst/>
          </a:prstGeom>
          <a:solidFill>
            <a:srgbClr val="16241C">
              <a:alpha val="14000"/>
            </a:srgbClr>
          </a:solidFill>
          <a:ln/>
        </p:spPr>
      </p:sp>
      <p:sp>
        <p:nvSpPr>
          <p:cNvPr id="97" name="Text 95"/>
          <p:cNvSpPr/>
          <p:nvPr/>
        </p:nvSpPr>
        <p:spPr>
          <a:xfrm>
            <a:off x="1028621" y="10314115"/>
            <a:ext cx="293804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16241C"/>
                </a:solidFill>
                <a:latin typeface="Arial" pitchFamily="34" charset="0"/>
                <a:ea typeface="Arial" pitchFamily="34" charset="-122"/>
                <a:cs typeface="Arial" pitchFamily="34" charset="-120"/>
              </a:rPr>
              <a:t>Accessibility &amp; business</a:t>
            </a:r>
            <a:endParaRPr lang="en-US" sz="1950" dirty="0"/>
          </a:p>
        </p:txBody>
      </p:sp>
      <p:sp>
        <p:nvSpPr>
          <p:cNvPr id="98" name="Text 96"/>
          <p:cNvSpPr/>
          <p:nvPr/>
        </p:nvSpPr>
        <p:spPr>
          <a:xfrm>
            <a:off x="4033433" y="10314115"/>
            <a:ext cx="1502386"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99" name="Text 97"/>
          <p:cNvSpPr/>
          <p:nvPr/>
        </p:nvSpPr>
        <p:spPr>
          <a:xfrm>
            <a:off x="5611960" y="10314115"/>
            <a:ext cx="1502485"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100" name="Text 98"/>
          <p:cNvSpPr/>
          <p:nvPr/>
        </p:nvSpPr>
        <p:spPr>
          <a:xfrm>
            <a:off x="7190586" y="10314115"/>
            <a:ext cx="1502386"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4A5A51"/>
                </a:solidFill>
                <a:latin typeface="Courier New" pitchFamily="34" charset="0"/>
                <a:ea typeface="Courier New" pitchFamily="34" charset="-122"/>
                <a:cs typeface="Courier New" pitchFamily="34" charset="-120"/>
              </a:rPr>
              <a:t>—</a:t>
            </a:r>
            <a:endParaRPr lang="en-US" sz="1950" dirty="0"/>
          </a:p>
        </p:txBody>
      </p:sp>
      <p:sp>
        <p:nvSpPr>
          <p:cNvPr id="101" name="Shape 99"/>
          <p:cNvSpPr/>
          <p:nvPr/>
        </p:nvSpPr>
        <p:spPr>
          <a:xfrm>
            <a:off x="8769113" y="10285619"/>
            <a:ext cx="440852" cy="391353"/>
          </a:xfrm>
          <a:prstGeom prst="roundRect">
            <a:avLst>
              <a:gd name="adj" fmla="val 9735"/>
            </a:avLst>
          </a:prstGeom>
          <a:solidFill>
            <a:srgbClr val="4A6580"/>
          </a:solidFill>
          <a:ln/>
        </p:spPr>
      </p:sp>
      <p:sp>
        <p:nvSpPr>
          <p:cNvPr id="102" name="Text 100"/>
          <p:cNvSpPr/>
          <p:nvPr/>
        </p:nvSpPr>
        <p:spPr>
          <a:xfrm>
            <a:off x="8854838" y="10314194"/>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4F7FB"/>
                </a:solidFill>
                <a:latin typeface="Courier New" pitchFamily="34" charset="0"/>
                <a:ea typeface="Courier New" pitchFamily="34" charset="-122"/>
                <a:cs typeface="Courier New" pitchFamily="34" charset="-120"/>
              </a:rPr>
              <a:t>19</a:t>
            </a:r>
            <a:endParaRPr lang="en-US" sz="1950" dirty="0"/>
          </a:p>
        </p:txBody>
      </p:sp>
      <p:sp>
        <p:nvSpPr>
          <p:cNvPr id="103" name="Shape 101"/>
          <p:cNvSpPr/>
          <p:nvPr/>
        </p:nvSpPr>
        <p:spPr>
          <a:xfrm>
            <a:off x="9267055" y="10285619"/>
            <a:ext cx="440852" cy="391353"/>
          </a:xfrm>
          <a:prstGeom prst="roundRect">
            <a:avLst>
              <a:gd name="adj" fmla="val 9735"/>
            </a:avLst>
          </a:prstGeom>
          <a:solidFill>
            <a:srgbClr val="4A6580"/>
          </a:solidFill>
          <a:ln/>
        </p:spPr>
      </p:sp>
      <p:sp>
        <p:nvSpPr>
          <p:cNvPr id="104" name="Text 102"/>
          <p:cNvSpPr/>
          <p:nvPr/>
        </p:nvSpPr>
        <p:spPr>
          <a:xfrm>
            <a:off x="9352780" y="10314194"/>
            <a:ext cx="345602" cy="372303"/>
          </a:xfrm>
          <a:prstGeom prst="rect">
            <a:avLst/>
          </a:prstGeom>
          <a:noFill/>
          <a:ln/>
        </p:spPr>
        <p:txBody>
          <a:bodyPr wrap="square" lIns="25400" tIns="25400" rIns="25400" bIns="25400" rtlCol="0" anchor="t">
            <a:normAutofit/>
          </a:bodyPr>
          <a:lstStyle/>
          <a:p>
            <a:pPr algn="l" indent="0" marL="0">
              <a:lnSpc>
                <a:spcPct val="135000"/>
              </a:lnSpc>
              <a:buNone/>
            </a:pPr>
            <a:r>
              <a:rPr lang="en-US" sz="1950" spc="-11" kern="0" dirty="0">
                <a:solidFill>
                  <a:srgbClr val="F4F7FB"/>
                </a:solidFill>
                <a:latin typeface="Courier New" pitchFamily="34" charset="0"/>
                <a:ea typeface="Courier New" pitchFamily="34" charset="-122"/>
                <a:cs typeface="Courier New" pitchFamily="34" charset="-120"/>
              </a:rPr>
              <a:t>25</a:t>
            </a:r>
            <a:endParaRPr lang="en-US" sz="1950" dirty="0"/>
          </a:p>
        </p:txBody>
      </p:sp>
      <p:sp>
        <p:nvSpPr>
          <p:cNvPr id="105" name="Text 103"/>
          <p:cNvSpPr/>
          <p:nvPr/>
        </p:nvSpPr>
        <p:spPr>
          <a:xfrm>
            <a:off x="10271538" y="10249827"/>
            <a:ext cx="1094961" cy="501039"/>
          </a:xfrm>
          <a:prstGeom prst="rect">
            <a:avLst/>
          </a:prstGeom>
          <a:noFill/>
          <a:ln/>
        </p:spPr>
        <p:txBody>
          <a:bodyPr wrap="square" lIns="25400" tIns="25400" rIns="25400" bIns="25400" rtlCol="0" anchor="t">
            <a:normAutofit/>
          </a:bodyPr>
          <a:lstStyle/>
          <a:p>
            <a:pPr algn="r" indent="0" marL="0">
              <a:lnSpc>
                <a:spcPct val="135000"/>
              </a:lnSpc>
              <a:buNone/>
            </a:pPr>
            <a:r>
              <a:rPr lang="en-US" sz="2700" i="1" spc="-11" kern="0" dirty="0">
                <a:solidFill>
                  <a:srgbClr val="16241C"/>
                </a:solidFill>
                <a:latin typeface="Georgia" pitchFamily="34" charset="0"/>
                <a:ea typeface="Georgia" pitchFamily="34" charset="-122"/>
                <a:cs typeface="Georgia" pitchFamily="34" charset="-120"/>
              </a:rPr>
              <a:t>2</a:t>
            </a:r>
            <a:endParaRPr lang="en-US" sz="2700" dirty="0"/>
          </a:p>
        </p:txBody>
      </p:sp>
      <p:sp>
        <p:nvSpPr>
          <p:cNvPr id="106" name="Shape 104"/>
          <p:cNvSpPr/>
          <p:nvPr/>
        </p:nvSpPr>
        <p:spPr>
          <a:xfrm>
            <a:off x="12090340" y="3677281"/>
            <a:ext cx="5283219" cy="6151217"/>
          </a:xfrm>
          <a:prstGeom prst="roundRect">
            <a:avLst>
              <a:gd name="adj" fmla="val 721"/>
            </a:avLst>
          </a:prstGeom>
          <a:solidFill>
            <a:srgbClr val="EFECE4"/>
          </a:solidFill>
          <a:ln w="6311">
            <a:solidFill>
              <a:srgbClr val="16241C">
                <a:alpha val="14000"/>
              </a:srgbClr>
            </a:solidFill>
            <a:prstDash val="solid"/>
          </a:ln>
        </p:spPr>
      </p:sp>
      <p:sp>
        <p:nvSpPr>
          <p:cNvPr id="107" name="Text 105"/>
          <p:cNvSpPr/>
          <p:nvPr/>
        </p:nvSpPr>
        <p:spPr>
          <a:xfrm>
            <a:off x="12401430" y="3988372"/>
            <a:ext cx="480086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b="1" spc="180" kern="0" dirty="0">
                <a:solidFill>
                  <a:srgbClr val="7C8A82"/>
                </a:solidFill>
                <a:latin typeface="Courier New" pitchFamily="34" charset="0"/>
                <a:ea typeface="Courier New" pitchFamily="34" charset="-122"/>
                <a:cs typeface="Courier New" pitchFamily="34" charset="-120"/>
              </a:rPr>
              <a:t>WHAT THIS TELLS US</a:t>
            </a:r>
            <a:endParaRPr lang="en-US" sz="1800" dirty="0"/>
          </a:p>
        </p:txBody>
      </p:sp>
      <p:sp>
        <p:nvSpPr>
          <p:cNvPr id="108" name="Text 106"/>
          <p:cNvSpPr/>
          <p:nvPr/>
        </p:nvSpPr>
        <p:spPr>
          <a:xfrm>
            <a:off x="12401430" y="4506429"/>
            <a:ext cx="4800869" cy="1846272"/>
          </a:xfrm>
          <a:prstGeom prst="rect">
            <a:avLst/>
          </a:prstGeom>
          <a:noFill/>
          <a:ln/>
        </p:spPr>
        <p:txBody>
          <a:bodyPr wrap="square" lIns="25400" tIns="25400" rIns="25400" bIns="25400" rtlCol="0" anchor="t">
            <a:normAutofit/>
          </a:bodyPr>
          <a:lstStyle/>
          <a:p>
            <a:pPr algn="l" indent="0" marL="0">
              <a:lnSpc>
                <a:spcPct val="145000"/>
              </a:lnSpc>
              <a:buNone/>
            </a:pPr>
            <a:r>
              <a:rPr lang="en-US" sz="1950" b="1" spc="-11" kern="0" dirty="0">
                <a:solidFill>
                  <a:srgbClr val="16241C"/>
                </a:solidFill>
                <a:latin typeface="Arial" pitchFamily="34" charset="0"/>
                <a:ea typeface="Arial" pitchFamily="34" charset="-122"/>
                <a:cs typeface="Arial" pitchFamily="34" charset="-120"/>
              </a:rPr>
              <a:t>Security and database items dominate the urgent tiers. </a:t>
            </a:r>
            <a:pPr algn="l" indent="0" marL="0">
              <a:lnSpc>
                <a:spcPct val="145000"/>
              </a:lnSpc>
              <a:buNone/>
            </a:pPr>
            <a:r>
              <a:rPr lang="en-US" sz="1950" spc="-11" kern="0" dirty="0">
                <a:solidFill>
                  <a:srgbClr val="4A5A51"/>
                </a:solidFill>
                <a:latin typeface="Arial" pitchFamily="34" charset="0"/>
                <a:ea typeface="Arial" pitchFamily="34" charset="-122"/>
                <a:cs typeface="Arial" pitchFamily="34" charset="-120"/>
              </a:rPr>
              <a:t>Three of five P0 items live there — which means the people most likely to be busy this week are the backend lead and a security reviewer.</a:t>
            </a:r>
            <a:endParaRPr lang="en-US" sz="1950" dirty="0"/>
          </a:p>
        </p:txBody>
      </p:sp>
      <p:sp>
        <p:nvSpPr>
          <p:cNvPr id="109" name="Text 107"/>
          <p:cNvSpPr/>
          <p:nvPr/>
        </p:nvSpPr>
        <p:spPr>
          <a:xfrm>
            <a:off x="12401430" y="6466942"/>
            <a:ext cx="4800869" cy="1846272"/>
          </a:xfrm>
          <a:prstGeom prst="rect">
            <a:avLst/>
          </a:prstGeom>
          <a:noFill/>
          <a:ln/>
        </p:spPr>
        <p:txBody>
          <a:bodyPr wrap="square" lIns="25400" tIns="25400" rIns="25400" bIns="25400" rtlCol="0" anchor="t">
            <a:normAutofit/>
          </a:bodyPr>
          <a:lstStyle/>
          <a:p>
            <a:pPr algn="l" indent="0" marL="0">
              <a:lnSpc>
                <a:spcPct val="145000"/>
              </a:lnSpc>
              <a:buNone/>
            </a:pPr>
            <a:r>
              <a:rPr lang="en-US" sz="1950" b="1" spc="-11" kern="0" dirty="0">
                <a:solidFill>
                  <a:srgbClr val="16241C"/>
                </a:solidFill>
                <a:latin typeface="Arial" pitchFamily="34" charset="0"/>
                <a:ea typeface="Arial" pitchFamily="34" charset="-122"/>
                <a:cs typeface="Arial" pitchFamily="34" charset="-120"/>
              </a:rPr>
              <a:t>Operations and accessibility wait — but not forever. </a:t>
            </a:r>
            <a:pPr algn="l" indent="0" marL="0">
              <a:lnSpc>
                <a:spcPct val="145000"/>
              </a:lnSpc>
              <a:buNone/>
            </a:pPr>
            <a:r>
              <a:rPr lang="en-US" sz="1950" spc="-11" kern="0" dirty="0">
                <a:solidFill>
                  <a:srgbClr val="4A5A51"/>
                </a:solidFill>
                <a:latin typeface="Arial" pitchFamily="34" charset="0"/>
                <a:ea typeface="Arial" pitchFamily="34" charset="-122"/>
                <a:cs typeface="Arial" pitchFamily="34" charset="-120"/>
              </a:rPr>
              <a:t>Both are entirely in P3. The cost of leaving them open is small during a 30-user pilot, large at the second customer.</a:t>
            </a:r>
            <a:endParaRPr lang="en-US" sz="1950" dirty="0"/>
          </a:p>
        </p:txBody>
      </p:sp>
      <p:sp>
        <p:nvSpPr>
          <p:cNvPr id="110" name="Text 108"/>
          <p:cNvSpPr/>
          <p:nvPr/>
        </p:nvSpPr>
        <p:spPr>
          <a:xfrm>
            <a:off x="12401430" y="8427455"/>
            <a:ext cx="4800869" cy="1128052"/>
          </a:xfrm>
          <a:prstGeom prst="rect">
            <a:avLst/>
          </a:prstGeom>
          <a:noFill/>
          <a:ln/>
        </p:spPr>
        <p:txBody>
          <a:bodyPr wrap="square" lIns="25400" tIns="25400" rIns="25400" bIns="25400" rtlCol="0" anchor="t">
            <a:normAutofit/>
          </a:bodyPr>
          <a:lstStyle/>
          <a:p>
            <a:pPr algn="l" indent="0" marL="0">
              <a:lnSpc>
                <a:spcPct val="145000"/>
              </a:lnSpc>
              <a:buNone/>
            </a:pPr>
            <a:r>
              <a:rPr lang="en-US" sz="1950" b="1" spc="-11" kern="0" dirty="0">
                <a:solidFill>
                  <a:srgbClr val="16241C"/>
                </a:solidFill>
                <a:latin typeface="Arial" pitchFamily="34" charset="0"/>
                <a:ea typeface="Arial" pitchFamily="34" charset="-122"/>
                <a:cs typeface="Arial" pitchFamily="34" charset="-120"/>
              </a:rPr>
              <a:t>The business model is the only strategy item. </a:t>
            </a:r>
            <a:pPr algn="l" indent="0" marL="0">
              <a:lnSpc>
                <a:spcPct val="145000"/>
              </a:lnSpc>
              <a:buNone/>
            </a:pPr>
            <a:r>
              <a:rPr lang="en-US" sz="1950" spc="-11" kern="0" dirty="0">
                <a:solidFill>
                  <a:srgbClr val="4A5A51"/>
                </a:solidFill>
                <a:latin typeface="Arial" pitchFamily="34" charset="0"/>
                <a:ea typeface="Arial" pitchFamily="34" charset="-122"/>
                <a:cs typeface="Arial" pitchFamily="34" charset="-120"/>
              </a:rPr>
              <a:t>Item 25 is the one entry that won't be solved in the IDE.</a:t>
            </a:r>
            <a:endParaRPr lang="en-US" sz="1950" dirty="0"/>
          </a:p>
        </p:txBody>
      </p:sp>
      <p:sp>
        <p:nvSpPr>
          <p:cNvPr id="111" name="Shape 109"/>
          <p:cNvSpPr/>
          <p:nvPr/>
        </p:nvSpPr>
        <p:spPr>
          <a:xfrm>
            <a:off x="914341" y="9381730"/>
            <a:ext cx="16459317" cy="9525"/>
          </a:xfrm>
          <a:prstGeom prst="rect">
            <a:avLst/>
          </a:prstGeom>
          <a:solidFill>
            <a:srgbClr val="16241C">
              <a:alpha val="14000"/>
            </a:srgbClr>
          </a:solidFill>
          <a:ln/>
        </p:spPr>
      </p:sp>
      <p:sp>
        <p:nvSpPr>
          <p:cNvPr id="112" name="Text 110"/>
          <p:cNvSpPr/>
          <p:nvPr/>
        </p:nvSpPr>
        <p:spPr>
          <a:xfrm>
            <a:off x="914341" y="9559412"/>
            <a:ext cx="2563448"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HEATMAP BY DOMAIN</a:t>
            </a:r>
            <a:endParaRPr lang="en-US" sz="1800" dirty="0"/>
          </a:p>
        </p:txBody>
      </p:sp>
      <p:sp>
        <p:nvSpPr>
          <p:cNvPr id="113" name="Text 111"/>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18 / 25</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4740084" y="419061"/>
            <a:ext cx="271258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SEQUENCE · 19 / 25</a:t>
            </a:r>
            <a:endParaRPr lang="en-US" sz="1800" dirty="0"/>
          </a:p>
        </p:txBody>
      </p:sp>
      <p:sp>
        <p:nvSpPr>
          <p:cNvPr id="5" name="Text 3"/>
          <p:cNvSpPr/>
          <p:nvPr/>
        </p:nvSpPr>
        <p:spPr>
          <a:xfrm>
            <a:off x="914341" y="1219121"/>
            <a:ext cx="1471612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THIS WEEK · SUGGESTED ORDER</a:t>
            </a:r>
            <a:endParaRPr lang="en-US" sz="1800" dirty="0"/>
          </a:p>
        </p:txBody>
      </p:sp>
      <p:sp>
        <p:nvSpPr>
          <p:cNvPr id="6" name="Text 4"/>
          <p:cNvSpPr/>
          <p:nvPr/>
        </p:nvSpPr>
        <p:spPr>
          <a:xfrm>
            <a:off x="914341" y="1737178"/>
            <a:ext cx="14716124" cy="1598780"/>
          </a:xfrm>
          <a:prstGeom prst="rect">
            <a:avLst/>
          </a:prstGeom>
          <a:noFill/>
          <a:ln/>
        </p:spPr>
        <p:txBody>
          <a:bodyPr wrap="square" lIns="25400" tIns="25400" rIns="25400" bIns="25400" rtlCol="0" anchor="t">
            <a:normAutofit/>
          </a:bodyPr>
          <a:lstStyle/>
          <a:p>
            <a:pPr algn="l" indent="0" marL="0">
              <a:lnSpc>
                <a:spcPct val="102000"/>
              </a:lnSpc>
              <a:buNone/>
            </a:pPr>
            <a:r>
              <a:rPr lang="en-US" sz="6000" spc="-120" kern="0" dirty="0">
                <a:solidFill>
                  <a:srgbClr val="16241C"/>
                </a:solidFill>
                <a:latin typeface="Georgia" pitchFamily="34" charset="0"/>
                <a:ea typeface="Georgia" pitchFamily="34" charset="-122"/>
                <a:cs typeface="Georgia" pitchFamily="34" charset="-120"/>
              </a:rPr>
              <a:t>Run the five P0 items </a:t>
            </a:r>
            <a:pPr algn="l" indent="0" marL="0">
              <a:lnSpc>
                <a:spcPct val="102000"/>
              </a:lnSpc>
              <a:buNone/>
            </a:pPr>
            <a:r>
              <a:rPr lang="en-US" sz="6000" i="1" spc="-120" kern="0" dirty="0">
                <a:solidFill>
                  <a:srgbClr val="1F6F43"/>
                </a:solidFill>
                <a:latin typeface="Georgia" pitchFamily="34" charset="0"/>
                <a:ea typeface="Georgia" pitchFamily="34" charset="-122"/>
                <a:cs typeface="Georgia" pitchFamily="34" charset="-120"/>
              </a:rPr>
              <a:t>in this order. </a:t>
            </a:r>
            <a:pPr algn="l" indent="0" marL="0">
              <a:lnSpc>
                <a:spcPct val="102000"/>
              </a:lnSpc>
              <a:buNone/>
            </a:pPr>
            <a:r>
              <a:rPr lang="en-US" sz="6000" spc="-120" kern="0" dirty="0">
                <a:solidFill>
                  <a:srgbClr val="16241C"/>
                </a:solidFill>
                <a:latin typeface="Georgia" pitchFamily="34" charset="0"/>
                <a:ea typeface="Georgia" pitchFamily="34" charset="-122"/>
                <a:cs typeface="Georgia" pitchFamily="34" charset="-120"/>
              </a:rPr>
              <a:t>Each unblocks the next.</a:t>
            </a:r>
            <a:endParaRPr lang="en-US" sz="6000" dirty="0"/>
          </a:p>
        </p:txBody>
      </p:sp>
      <p:sp>
        <p:nvSpPr>
          <p:cNvPr id="7" name="Shape 5"/>
          <p:cNvSpPr/>
          <p:nvPr/>
        </p:nvSpPr>
        <p:spPr>
          <a:xfrm>
            <a:off x="914341" y="4478919"/>
            <a:ext cx="16459317" cy="19030"/>
          </a:xfrm>
          <a:prstGeom prst="rect">
            <a:avLst/>
          </a:prstGeom>
          <a:solidFill>
            <a:srgbClr val="16241C">
              <a:alpha val="14000"/>
            </a:srgbClr>
          </a:solidFill>
          <a:ln/>
        </p:spPr>
      </p:sp>
      <p:sp>
        <p:nvSpPr>
          <p:cNvPr id="8" name="Shape 6"/>
          <p:cNvSpPr/>
          <p:nvPr/>
        </p:nvSpPr>
        <p:spPr>
          <a:xfrm>
            <a:off x="914341" y="4326480"/>
            <a:ext cx="342841" cy="342841"/>
          </a:xfrm>
          <a:prstGeom prst="ellipse">
            <a:avLst/>
          </a:prstGeom>
          <a:solidFill>
            <a:srgbClr val="B94A2A"/>
          </a:solidFill>
          <a:ln/>
        </p:spPr>
      </p:sp>
      <p:sp>
        <p:nvSpPr>
          <p:cNvPr id="9" name="Text 7"/>
          <p:cNvSpPr/>
          <p:nvPr/>
        </p:nvSpPr>
        <p:spPr>
          <a:xfrm>
            <a:off x="876241" y="4326480"/>
            <a:ext cx="419041" cy="380941"/>
          </a:xfrm>
          <a:prstGeom prst="rect">
            <a:avLst/>
          </a:prstGeom>
          <a:noFill/>
          <a:ln/>
        </p:spPr>
        <p:txBody>
          <a:bodyPr wrap="square" lIns="25400" tIns="25400" rIns="25400" bIns="25400" rtlCol="0" anchor="ctr">
            <a:normAutofit/>
          </a:bodyPr>
          <a:lstStyle/>
          <a:p>
            <a:pPr algn="ctr" indent="0" marL="0">
              <a:lnSpc>
                <a:spcPct val="135000"/>
              </a:lnSpc>
              <a:buNone/>
            </a:pPr>
            <a:r>
              <a:rPr lang="en-US" sz="1650" b="1" spc="-11" kern="0" dirty="0">
                <a:solidFill>
                  <a:srgbClr val="FFF8F3"/>
                </a:solidFill>
                <a:latin typeface="Courier New" pitchFamily="34" charset="0"/>
                <a:ea typeface="Courier New" pitchFamily="34" charset="-122"/>
                <a:cs typeface="Courier New" pitchFamily="34" charset="-120"/>
              </a:rPr>
              <a:t>1</a:t>
            </a:r>
            <a:endParaRPr lang="en-US" sz="1650" dirty="0"/>
          </a:p>
        </p:txBody>
      </p:sp>
      <p:sp>
        <p:nvSpPr>
          <p:cNvPr id="10" name="Text 8"/>
          <p:cNvSpPr/>
          <p:nvPr/>
        </p:nvSpPr>
        <p:spPr>
          <a:xfrm>
            <a:off x="914341" y="4955169"/>
            <a:ext cx="317092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MON</a:t>
            </a:r>
            <a:endParaRPr lang="en-US" sz="1800" dirty="0"/>
          </a:p>
        </p:txBody>
      </p:sp>
      <p:sp>
        <p:nvSpPr>
          <p:cNvPr id="11" name="Text 9"/>
          <p:cNvSpPr/>
          <p:nvPr/>
        </p:nvSpPr>
        <p:spPr>
          <a:xfrm>
            <a:off x="914341" y="5377976"/>
            <a:ext cx="3170923" cy="436257"/>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Audit </a:t>
            </a:r>
            <a:pPr algn="l" indent="0" marL="0">
              <a:lnSpc>
                <a:spcPct val="110000"/>
              </a:lnSpc>
              <a:buNone/>
            </a:pPr>
            <a:r>
              <a:rPr lang="en-US" sz="2850" b="1" i="1" spc="-29" kern="0" dirty="0">
                <a:solidFill>
                  <a:srgbClr val="1F6F43"/>
                </a:solidFill>
                <a:latin typeface="Georgia" pitchFamily="34" charset="0"/>
                <a:ea typeface="Georgia" pitchFamily="34" charset="-122"/>
                <a:cs typeface="Georgia" pitchFamily="34" charset="-120"/>
              </a:rPr>
              <a:t>git history</a:t>
            </a:r>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a:t>
            </a:r>
            <a:endParaRPr lang="en-US" sz="2850" dirty="0"/>
          </a:p>
        </p:txBody>
      </p:sp>
      <p:sp>
        <p:nvSpPr>
          <p:cNvPr id="12" name="Text 10"/>
          <p:cNvSpPr/>
          <p:nvPr/>
        </p:nvSpPr>
        <p:spPr>
          <a:xfrm>
            <a:off x="914341" y="5928474"/>
            <a:ext cx="3170923" cy="1771532"/>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Cheapest, fastest, and the only one that has to land before any deploy. If keys leaked, today is the day to rotate.</a:t>
            </a:r>
            <a:endParaRPr lang="en-US" sz="1950" dirty="0"/>
          </a:p>
        </p:txBody>
      </p:sp>
      <p:sp>
        <p:nvSpPr>
          <p:cNvPr id="13" name="Shape 11"/>
          <p:cNvSpPr/>
          <p:nvPr/>
        </p:nvSpPr>
        <p:spPr>
          <a:xfrm>
            <a:off x="4259528" y="4326480"/>
            <a:ext cx="342841" cy="342841"/>
          </a:xfrm>
          <a:prstGeom prst="ellipse">
            <a:avLst/>
          </a:prstGeom>
          <a:solidFill>
            <a:srgbClr val="B94A2A"/>
          </a:solidFill>
          <a:ln/>
        </p:spPr>
      </p:sp>
      <p:sp>
        <p:nvSpPr>
          <p:cNvPr id="14" name="Text 12"/>
          <p:cNvSpPr/>
          <p:nvPr/>
        </p:nvSpPr>
        <p:spPr>
          <a:xfrm>
            <a:off x="4221428" y="4326480"/>
            <a:ext cx="419041" cy="380941"/>
          </a:xfrm>
          <a:prstGeom prst="rect">
            <a:avLst/>
          </a:prstGeom>
          <a:noFill/>
          <a:ln/>
        </p:spPr>
        <p:txBody>
          <a:bodyPr wrap="square" lIns="25400" tIns="25400" rIns="25400" bIns="25400" rtlCol="0" anchor="ctr">
            <a:normAutofit/>
          </a:bodyPr>
          <a:lstStyle/>
          <a:p>
            <a:pPr algn="ctr" indent="0" marL="0">
              <a:lnSpc>
                <a:spcPct val="135000"/>
              </a:lnSpc>
              <a:buNone/>
            </a:pPr>
            <a:r>
              <a:rPr lang="en-US" sz="1650" b="1" spc="-11" kern="0" dirty="0">
                <a:solidFill>
                  <a:srgbClr val="FFF8F3"/>
                </a:solidFill>
                <a:latin typeface="Courier New" pitchFamily="34" charset="0"/>
                <a:ea typeface="Courier New" pitchFamily="34" charset="-122"/>
                <a:cs typeface="Courier New" pitchFamily="34" charset="-120"/>
              </a:rPr>
              <a:t>2</a:t>
            </a:r>
            <a:endParaRPr lang="en-US" sz="1650" dirty="0"/>
          </a:p>
        </p:txBody>
      </p:sp>
      <p:sp>
        <p:nvSpPr>
          <p:cNvPr id="15" name="Text 13"/>
          <p:cNvSpPr/>
          <p:nvPr/>
        </p:nvSpPr>
        <p:spPr>
          <a:xfrm>
            <a:off x="4259528" y="4955169"/>
            <a:ext cx="317092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MON – TUE</a:t>
            </a:r>
            <a:endParaRPr lang="en-US" sz="1800" dirty="0"/>
          </a:p>
        </p:txBody>
      </p:sp>
      <p:sp>
        <p:nvSpPr>
          <p:cNvPr id="16" name="Text 14"/>
          <p:cNvSpPr/>
          <p:nvPr/>
        </p:nvSpPr>
        <p:spPr>
          <a:xfrm>
            <a:off x="4259528" y="5377976"/>
            <a:ext cx="3170923" cy="436257"/>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Reconcile </a:t>
            </a:r>
            <a:pPr algn="l" indent="0" marL="0">
              <a:lnSpc>
                <a:spcPct val="110000"/>
              </a:lnSpc>
              <a:buNone/>
            </a:pPr>
            <a:r>
              <a:rPr lang="en-US" sz="2850" b="1" i="1" spc="-29" kern="0" dirty="0">
                <a:solidFill>
                  <a:srgbClr val="1F6F43"/>
                </a:solidFill>
                <a:latin typeface="Georgia" pitchFamily="34" charset="0"/>
                <a:ea typeface="Georgia" pitchFamily="34" charset="-122"/>
                <a:cs typeface="Georgia" pitchFamily="34" charset="-120"/>
              </a:rPr>
              <a:t>STATE.md</a:t>
            </a:r>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a:t>
            </a:r>
            <a:endParaRPr lang="en-US" sz="2850" dirty="0"/>
          </a:p>
        </p:txBody>
      </p:sp>
      <p:sp>
        <p:nvSpPr>
          <p:cNvPr id="17" name="Text 15"/>
          <p:cNvSpPr/>
          <p:nvPr/>
        </p:nvSpPr>
        <p:spPr>
          <a:xfrm>
            <a:off x="4259528" y="5928474"/>
            <a:ext cx="3170923" cy="1771532"/>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Gives the rest of the week an honest picture of what's actually done. Without it, every other item is guesswork.</a:t>
            </a:r>
            <a:endParaRPr lang="en-US" sz="1950" dirty="0"/>
          </a:p>
        </p:txBody>
      </p:sp>
      <p:sp>
        <p:nvSpPr>
          <p:cNvPr id="18" name="Shape 16"/>
          <p:cNvSpPr/>
          <p:nvPr/>
        </p:nvSpPr>
        <p:spPr>
          <a:xfrm>
            <a:off x="7604716" y="4326480"/>
            <a:ext cx="342841" cy="342841"/>
          </a:xfrm>
          <a:prstGeom prst="ellipse">
            <a:avLst/>
          </a:prstGeom>
          <a:solidFill>
            <a:srgbClr val="B94A2A"/>
          </a:solidFill>
          <a:ln/>
        </p:spPr>
      </p:sp>
      <p:sp>
        <p:nvSpPr>
          <p:cNvPr id="19" name="Text 17"/>
          <p:cNvSpPr/>
          <p:nvPr/>
        </p:nvSpPr>
        <p:spPr>
          <a:xfrm>
            <a:off x="7566616" y="4326480"/>
            <a:ext cx="419041" cy="380941"/>
          </a:xfrm>
          <a:prstGeom prst="rect">
            <a:avLst/>
          </a:prstGeom>
          <a:noFill/>
          <a:ln/>
        </p:spPr>
        <p:txBody>
          <a:bodyPr wrap="square" lIns="25400" tIns="25400" rIns="25400" bIns="25400" rtlCol="0" anchor="ctr">
            <a:normAutofit/>
          </a:bodyPr>
          <a:lstStyle/>
          <a:p>
            <a:pPr algn="ctr" indent="0" marL="0">
              <a:lnSpc>
                <a:spcPct val="135000"/>
              </a:lnSpc>
              <a:buNone/>
            </a:pPr>
            <a:r>
              <a:rPr lang="en-US" sz="1650" b="1" spc="-11" kern="0" dirty="0">
                <a:solidFill>
                  <a:srgbClr val="FFF8F3"/>
                </a:solidFill>
                <a:latin typeface="Courier New" pitchFamily="34" charset="0"/>
                <a:ea typeface="Courier New" pitchFamily="34" charset="-122"/>
                <a:cs typeface="Courier New" pitchFamily="34" charset="-120"/>
              </a:rPr>
              <a:t>3</a:t>
            </a:r>
            <a:endParaRPr lang="en-US" sz="1650" dirty="0"/>
          </a:p>
        </p:txBody>
      </p:sp>
      <p:sp>
        <p:nvSpPr>
          <p:cNvPr id="20" name="Text 18"/>
          <p:cNvSpPr/>
          <p:nvPr/>
        </p:nvSpPr>
        <p:spPr>
          <a:xfrm>
            <a:off x="7604716" y="4955169"/>
            <a:ext cx="317092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TUE – WED</a:t>
            </a:r>
            <a:endParaRPr lang="en-US" sz="1800" dirty="0"/>
          </a:p>
        </p:txBody>
      </p:sp>
      <p:sp>
        <p:nvSpPr>
          <p:cNvPr id="21" name="Text 19"/>
          <p:cNvSpPr/>
          <p:nvPr/>
        </p:nvSpPr>
        <p:spPr>
          <a:xfrm>
            <a:off x="7604716" y="5377976"/>
            <a:ext cx="3170923" cy="436257"/>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Probe </a:t>
            </a:r>
            <a:pPr algn="l" indent="0" marL="0">
              <a:lnSpc>
                <a:spcPct val="110000"/>
              </a:lnSpc>
              <a:buNone/>
            </a:pPr>
            <a:r>
              <a:rPr lang="en-US" sz="2850" b="1" i="1" spc="-29" kern="0" dirty="0">
                <a:solidFill>
                  <a:srgbClr val="1F6F43"/>
                </a:solidFill>
                <a:latin typeface="Georgia" pitchFamily="34" charset="0"/>
                <a:ea typeface="Georgia" pitchFamily="34" charset="-122"/>
                <a:cs typeface="Georgia" pitchFamily="34" charset="-120"/>
              </a:rPr>
              <a:t>RLS isolation</a:t>
            </a:r>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a:t>
            </a:r>
            <a:endParaRPr lang="en-US" sz="2850" dirty="0"/>
          </a:p>
        </p:txBody>
      </p:sp>
      <p:sp>
        <p:nvSpPr>
          <p:cNvPr id="22" name="Text 20"/>
          <p:cNvSpPr/>
          <p:nvPr/>
        </p:nvSpPr>
        <p:spPr>
          <a:xfrm>
            <a:off x="7604716" y="5928474"/>
            <a:ext cx="3170923" cy="1424845"/>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Manual cross-tenant test in the browser. Surface every leak; tighten policy; codify as a test fixture.</a:t>
            </a:r>
            <a:endParaRPr lang="en-US" sz="1950" dirty="0"/>
          </a:p>
        </p:txBody>
      </p:sp>
      <p:sp>
        <p:nvSpPr>
          <p:cNvPr id="23" name="Shape 21"/>
          <p:cNvSpPr/>
          <p:nvPr/>
        </p:nvSpPr>
        <p:spPr>
          <a:xfrm>
            <a:off x="10949904" y="4326480"/>
            <a:ext cx="342841" cy="342841"/>
          </a:xfrm>
          <a:prstGeom prst="ellipse">
            <a:avLst/>
          </a:prstGeom>
          <a:solidFill>
            <a:srgbClr val="B94A2A"/>
          </a:solidFill>
          <a:ln/>
        </p:spPr>
      </p:sp>
      <p:sp>
        <p:nvSpPr>
          <p:cNvPr id="24" name="Text 22"/>
          <p:cNvSpPr/>
          <p:nvPr/>
        </p:nvSpPr>
        <p:spPr>
          <a:xfrm>
            <a:off x="10911804" y="4326480"/>
            <a:ext cx="419041" cy="380941"/>
          </a:xfrm>
          <a:prstGeom prst="rect">
            <a:avLst/>
          </a:prstGeom>
          <a:noFill/>
          <a:ln/>
        </p:spPr>
        <p:txBody>
          <a:bodyPr wrap="square" lIns="25400" tIns="25400" rIns="25400" bIns="25400" rtlCol="0" anchor="ctr">
            <a:normAutofit/>
          </a:bodyPr>
          <a:lstStyle/>
          <a:p>
            <a:pPr algn="ctr" indent="0" marL="0">
              <a:lnSpc>
                <a:spcPct val="135000"/>
              </a:lnSpc>
              <a:buNone/>
            </a:pPr>
            <a:r>
              <a:rPr lang="en-US" sz="1650" b="1" spc="-11" kern="0" dirty="0">
                <a:solidFill>
                  <a:srgbClr val="FFF8F3"/>
                </a:solidFill>
                <a:latin typeface="Courier New" pitchFamily="34" charset="0"/>
                <a:ea typeface="Courier New" pitchFamily="34" charset="-122"/>
                <a:cs typeface="Courier New" pitchFamily="34" charset="-120"/>
              </a:rPr>
              <a:t>4</a:t>
            </a:r>
            <a:endParaRPr lang="en-US" sz="1650" dirty="0"/>
          </a:p>
        </p:txBody>
      </p:sp>
      <p:sp>
        <p:nvSpPr>
          <p:cNvPr id="25" name="Text 23"/>
          <p:cNvSpPr/>
          <p:nvPr/>
        </p:nvSpPr>
        <p:spPr>
          <a:xfrm>
            <a:off x="10949904" y="4955169"/>
            <a:ext cx="317092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WED – THU</a:t>
            </a:r>
            <a:endParaRPr lang="en-US" sz="1800" dirty="0"/>
          </a:p>
        </p:txBody>
      </p:sp>
      <p:sp>
        <p:nvSpPr>
          <p:cNvPr id="26" name="Text 24"/>
          <p:cNvSpPr/>
          <p:nvPr/>
        </p:nvSpPr>
        <p:spPr>
          <a:xfrm>
            <a:off x="10949904" y="5377976"/>
            <a:ext cx="3170923" cy="834414"/>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Ship the </a:t>
            </a:r>
            <a:pPr algn="l" indent="0" marL="0">
              <a:lnSpc>
                <a:spcPct val="110000"/>
              </a:lnSpc>
              <a:buNone/>
            </a:pPr>
            <a:r>
              <a:rPr lang="en-US" sz="2850" b="1" i="1" spc="-29" kern="0" dirty="0">
                <a:solidFill>
                  <a:srgbClr val="1F6F43"/>
                </a:solidFill>
                <a:latin typeface="Georgia" pitchFamily="34" charset="0"/>
                <a:ea typeface="Georgia" pitchFamily="34" charset="-122"/>
                <a:cs typeface="Georgia" pitchFamily="34" charset="-120"/>
              </a:rPr>
              <a:t>error boundary </a:t>
            </a:r>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a:t>
            </a:r>
            <a:endParaRPr lang="en-US" sz="2850" dirty="0"/>
          </a:p>
        </p:txBody>
      </p:sp>
      <p:sp>
        <p:nvSpPr>
          <p:cNvPr id="27" name="Text 25"/>
          <p:cNvSpPr/>
          <p:nvPr/>
        </p:nvSpPr>
        <p:spPr>
          <a:xfrm>
            <a:off x="10949904" y="6326631"/>
            <a:ext cx="3170923" cy="1424845"/>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Global + per-route. Synthetic error in dev to confirm the fallback renders before merging.</a:t>
            </a:r>
            <a:endParaRPr lang="en-US" sz="1950" dirty="0"/>
          </a:p>
        </p:txBody>
      </p:sp>
      <p:sp>
        <p:nvSpPr>
          <p:cNvPr id="28" name="Shape 26"/>
          <p:cNvSpPr/>
          <p:nvPr/>
        </p:nvSpPr>
        <p:spPr>
          <a:xfrm>
            <a:off x="14295091" y="4326480"/>
            <a:ext cx="342841" cy="342841"/>
          </a:xfrm>
          <a:prstGeom prst="ellipse">
            <a:avLst/>
          </a:prstGeom>
          <a:solidFill>
            <a:srgbClr val="B94A2A"/>
          </a:solidFill>
          <a:ln/>
        </p:spPr>
      </p:sp>
      <p:sp>
        <p:nvSpPr>
          <p:cNvPr id="29" name="Text 27"/>
          <p:cNvSpPr/>
          <p:nvPr/>
        </p:nvSpPr>
        <p:spPr>
          <a:xfrm>
            <a:off x="14256991" y="4326480"/>
            <a:ext cx="419041" cy="380941"/>
          </a:xfrm>
          <a:prstGeom prst="rect">
            <a:avLst/>
          </a:prstGeom>
          <a:noFill/>
          <a:ln/>
        </p:spPr>
        <p:txBody>
          <a:bodyPr wrap="square" lIns="25400" tIns="25400" rIns="25400" bIns="25400" rtlCol="0" anchor="ctr">
            <a:normAutofit/>
          </a:bodyPr>
          <a:lstStyle/>
          <a:p>
            <a:pPr algn="ctr" indent="0" marL="0">
              <a:lnSpc>
                <a:spcPct val="135000"/>
              </a:lnSpc>
              <a:buNone/>
            </a:pPr>
            <a:r>
              <a:rPr lang="en-US" sz="1650" b="1" spc="-11" kern="0" dirty="0">
                <a:solidFill>
                  <a:srgbClr val="FFF8F3"/>
                </a:solidFill>
                <a:latin typeface="Courier New" pitchFamily="34" charset="0"/>
                <a:ea typeface="Courier New" pitchFamily="34" charset="-122"/>
                <a:cs typeface="Courier New" pitchFamily="34" charset="-120"/>
              </a:rPr>
              <a:t>5</a:t>
            </a:r>
            <a:endParaRPr lang="en-US" sz="1650" dirty="0"/>
          </a:p>
        </p:txBody>
      </p:sp>
      <p:sp>
        <p:nvSpPr>
          <p:cNvPr id="30" name="Text 28"/>
          <p:cNvSpPr/>
          <p:nvPr/>
        </p:nvSpPr>
        <p:spPr>
          <a:xfrm>
            <a:off x="14295091" y="4955169"/>
            <a:ext cx="317092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THU – FRI</a:t>
            </a:r>
            <a:endParaRPr lang="en-US" sz="1800" dirty="0"/>
          </a:p>
        </p:txBody>
      </p:sp>
      <p:sp>
        <p:nvSpPr>
          <p:cNvPr id="31" name="Text 29"/>
          <p:cNvSpPr/>
          <p:nvPr/>
        </p:nvSpPr>
        <p:spPr>
          <a:xfrm>
            <a:off x="14295091" y="5377976"/>
            <a:ext cx="3170923" cy="436257"/>
          </a:xfrm>
          <a:prstGeom prst="rect">
            <a:avLst/>
          </a:prstGeom>
          <a:noFill/>
          <a:ln/>
        </p:spPr>
        <p:txBody>
          <a:bodyPr wrap="square" lIns="25400" tIns="25400" rIns="25400" bIns="25400" rtlCol="0" anchor="t">
            <a:normAutofit/>
          </a:bodyPr>
          <a:lstStyle/>
          <a:p>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Add </a:t>
            </a:r>
            <a:pPr algn="l" indent="0" marL="0">
              <a:lnSpc>
                <a:spcPct val="110000"/>
              </a:lnSpc>
              <a:buNone/>
            </a:pPr>
            <a:r>
              <a:rPr lang="en-US" sz="2850" b="1" i="1" spc="-29" kern="0" dirty="0">
                <a:solidFill>
                  <a:srgbClr val="1F6F43"/>
                </a:solidFill>
                <a:latin typeface="Georgia" pitchFamily="34" charset="0"/>
                <a:ea typeface="Georgia" pitchFamily="34" charset="-122"/>
                <a:cs typeface="Georgia" pitchFamily="34" charset="-120"/>
              </a:rPr>
              <a:t>indexes</a:t>
            </a:r>
            <a:pPr algn="l" indent="0" marL="0">
              <a:lnSpc>
                <a:spcPct val="110000"/>
              </a:lnSpc>
              <a:buNone/>
            </a:pPr>
            <a:r>
              <a:rPr lang="en-US" sz="2850" b="1" spc="-29" kern="0" dirty="0">
                <a:solidFill>
                  <a:srgbClr val="16241C"/>
                </a:solidFill>
                <a:latin typeface="Georgia" pitchFamily="34" charset="0"/>
                <a:ea typeface="Georgia" pitchFamily="34" charset="-122"/>
                <a:cs typeface="Georgia" pitchFamily="34" charset="-120"/>
              </a:rPr>
              <a:t>.</a:t>
            </a:r>
            <a:endParaRPr lang="en-US" sz="2850" dirty="0"/>
          </a:p>
        </p:txBody>
      </p:sp>
      <p:sp>
        <p:nvSpPr>
          <p:cNvPr id="32" name="Text 30"/>
          <p:cNvSpPr/>
          <p:nvPr/>
        </p:nvSpPr>
        <p:spPr>
          <a:xfrm>
            <a:off x="14295091" y="5928474"/>
            <a:ext cx="3170923" cy="1424845"/>
          </a:xfrm>
          <a:prstGeom prst="rect">
            <a:avLst/>
          </a:prstGeom>
          <a:noFill/>
          <a:ln/>
        </p:spPr>
        <p:txBody>
          <a:bodyPr wrap="square" lIns="25400" tIns="25400" rIns="25400" bIns="25400" rtlCol="0" anchor="t">
            <a:normAutofit/>
          </a:bodyPr>
          <a:lstStyle/>
          <a:p>
            <a:pPr algn="l" indent="0" marL="0">
              <a:lnSpc>
                <a:spcPct val="140000"/>
              </a:lnSpc>
              <a:buNone/>
            </a:pPr>
            <a:r>
              <a:rPr lang="en-US" sz="1950" spc="-11" kern="0" dirty="0">
                <a:solidFill>
                  <a:srgbClr val="4A5A51"/>
                </a:solidFill>
                <a:latin typeface="Arial" pitchFamily="34" charset="0"/>
                <a:ea typeface="Arial" pitchFamily="34" charset="-122"/>
                <a:cs typeface="Arial" pitchFamily="34" charset="-120"/>
              </a:rPr>
              <a:t>Migrations on the three hot tables. EXPLAIN-verify the worst queries before close-of-week.</a:t>
            </a:r>
            <a:endParaRPr lang="en-US" sz="1950" dirty="0"/>
          </a:p>
        </p:txBody>
      </p:sp>
      <p:sp>
        <p:nvSpPr>
          <p:cNvPr id="33" name="Shape 31"/>
          <p:cNvSpPr/>
          <p:nvPr/>
        </p:nvSpPr>
        <p:spPr>
          <a:xfrm>
            <a:off x="914341" y="8551497"/>
            <a:ext cx="16459317" cy="9525"/>
          </a:xfrm>
          <a:prstGeom prst="rect">
            <a:avLst/>
          </a:prstGeom>
          <a:solidFill>
            <a:srgbClr val="16241C">
              <a:alpha val="14000"/>
            </a:srgbClr>
          </a:solidFill>
          <a:ln/>
        </p:spPr>
      </p:sp>
      <p:sp>
        <p:nvSpPr>
          <p:cNvPr id="34" name="Text 32"/>
          <p:cNvSpPr/>
          <p:nvPr/>
        </p:nvSpPr>
        <p:spPr>
          <a:xfrm>
            <a:off x="914341" y="8824429"/>
            <a:ext cx="824113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OUTCOME BY FRIDAY</a:t>
            </a:r>
            <a:endParaRPr lang="en-US" sz="1800" dirty="0"/>
          </a:p>
        </p:txBody>
      </p:sp>
      <p:sp>
        <p:nvSpPr>
          <p:cNvPr id="35" name="Text 33"/>
          <p:cNvSpPr/>
          <p:nvPr/>
        </p:nvSpPr>
        <p:spPr>
          <a:xfrm>
            <a:off x="914341" y="9209077"/>
            <a:ext cx="8241131" cy="809566"/>
          </a:xfrm>
          <a:prstGeom prst="rect">
            <a:avLst/>
          </a:prstGeom>
          <a:noFill/>
          <a:ln/>
        </p:spPr>
        <p:txBody>
          <a:bodyPr wrap="square" lIns="25400" tIns="25400" rIns="25400" bIns="25400" rtlCol="0" anchor="t">
            <a:normAutofit/>
          </a:bodyPr>
          <a:lstStyle/>
          <a:p>
            <a:pPr algn="l" indent="0" marL="0">
              <a:lnSpc>
                <a:spcPct val="135000"/>
              </a:lnSpc>
              <a:buNone/>
            </a:pPr>
            <a:r>
              <a:rPr lang="en-US" sz="2250" spc="-11" kern="0" dirty="0">
                <a:solidFill>
                  <a:srgbClr val="16241C"/>
                </a:solidFill>
                <a:latin typeface="Arial" pitchFamily="34" charset="0"/>
                <a:ea typeface="Arial" pitchFamily="34" charset="-122"/>
                <a:cs typeface="Arial" pitchFamily="34" charset="-120"/>
              </a:rPr>
              <a:t>All five P0 items closed, owners signed off, evidence captured in the project tracker.</a:t>
            </a:r>
            <a:endParaRPr lang="en-US" sz="2250" dirty="0"/>
          </a:p>
        </p:txBody>
      </p:sp>
      <p:sp>
        <p:nvSpPr>
          <p:cNvPr id="36" name="Text 34"/>
          <p:cNvSpPr/>
          <p:nvPr/>
        </p:nvSpPr>
        <p:spPr>
          <a:xfrm>
            <a:off x="9372560" y="8824429"/>
            <a:ext cx="824113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FRIDAY REVIEW</a:t>
            </a:r>
            <a:endParaRPr lang="en-US" sz="1800" dirty="0"/>
          </a:p>
        </p:txBody>
      </p:sp>
      <p:sp>
        <p:nvSpPr>
          <p:cNvPr id="37" name="Text 35"/>
          <p:cNvSpPr/>
          <p:nvPr/>
        </p:nvSpPr>
        <p:spPr>
          <a:xfrm>
            <a:off x="9372560" y="9209077"/>
            <a:ext cx="8241131" cy="809566"/>
          </a:xfrm>
          <a:prstGeom prst="rect">
            <a:avLst/>
          </a:prstGeom>
          <a:noFill/>
          <a:ln/>
        </p:spPr>
        <p:txBody>
          <a:bodyPr wrap="square" lIns="25400" tIns="25400" rIns="25400" bIns="25400" rtlCol="0" anchor="t">
            <a:normAutofit/>
          </a:bodyPr>
          <a:lstStyle/>
          <a:p>
            <a:pPr algn="l" indent="0" marL="0">
              <a:lnSpc>
                <a:spcPct val="135000"/>
              </a:lnSpc>
              <a:buNone/>
            </a:pPr>
            <a:r>
              <a:rPr lang="en-US" sz="2250" spc="-11" kern="0" dirty="0">
                <a:solidFill>
                  <a:srgbClr val="16241C"/>
                </a:solidFill>
                <a:latin typeface="Arial" pitchFamily="34" charset="0"/>
                <a:ea typeface="Arial" pitchFamily="34" charset="-122"/>
                <a:cs typeface="Arial" pitchFamily="34" charset="-120"/>
              </a:rPr>
              <a:t>15-minute standup: confirm each item is done, decide whether to green-light the following Monday's pilot kickoff.</a:t>
            </a:r>
            <a:endParaRPr lang="en-US" sz="2250" dirty="0"/>
          </a:p>
        </p:txBody>
      </p:sp>
      <p:sp>
        <p:nvSpPr>
          <p:cNvPr id="38" name="Shape 36"/>
          <p:cNvSpPr/>
          <p:nvPr/>
        </p:nvSpPr>
        <p:spPr>
          <a:xfrm>
            <a:off x="914341" y="9381730"/>
            <a:ext cx="16459317" cy="9525"/>
          </a:xfrm>
          <a:prstGeom prst="rect">
            <a:avLst/>
          </a:prstGeom>
          <a:solidFill>
            <a:srgbClr val="16241C">
              <a:alpha val="14000"/>
            </a:srgbClr>
          </a:solidFill>
          <a:ln/>
        </p:spPr>
      </p:sp>
      <p:sp>
        <p:nvSpPr>
          <p:cNvPr id="39" name="Text 37"/>
          <p:cNvSpPr/>
          <p:nvPr/>
        </p:nvSpPr>
        <p:spPr>
          <a:xfrm>
            <a:off x="914341" y="9559412"/>
            <a:ext cx="271258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THIS-WEEK SEQUENCE</a:t>
            </a:r>
            <a:endParaRPr lang="en-US" sz="1800" dirty="0"/>
          </a:p>
        </p:txBody>
      </p:sp>
      <p:sp>
        <p:nvSpPr>
          <p:cNvPr id="40" name="Text 38"/>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19 / 25</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4740084" y="419061"/>
            <a:ext cx="271258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DECISION · 20 / 25</a:t>
            </a:r>
            <a:endParaRPr lang="en-US" sz="1800" dirty="0"/>
          </a:p>
        </p:txBody>
      </p:sp>
      <p:sp>
        <p:nvSpPr>
          <p:cNvPr id="5" name="Text 3"/>
          <p:cNvSpPr/>
          <p:nvPr/>
        </p:nvSpPr>
        <p:spPr>
          <a:xfrm>
            <a:off x="914341" y="2528562"/>
            <a:ext cx="7483591"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GREEN-LIGHT CONDITIONS</a:t>
            </a:r>
            <a:endParaRPr lang="en-US" sz="1800" dirty="0"/>
          </a:p>
        </p:txBody>
      </p:sp>
      <p:sp>
        <p:nvSpPr>
          <p:cNvPr id="6" name="Text 4"/>
          <p:cNvSpPr/>
          <p:nvPr/>
        </p:nvSpPr>
        <p:spPr>
          <a:xfrm>
            <a:off x="914341" y="3065650"/>
            <a:ext cx="7483591" cy="2787729"/>
          </a:xfrm>
          <a:prstGeom prst="rect">
            <a:avLst/>
          </a:prstGeom>
          <a:noFill/>
          <a:ln/>
        </p:spPr>
        <p:txBody>
          <a:bodyPr wrap="square" lIns="25400" tIns="25400" rIns="25400" bIns="25400" rtlCol="0" anchor="t">
            <a:normAutofit/>
          </a:bodyPr>
          <a:lstStyle/>
          <a:p>
            <a:pPr algn="l" indent="0" marL="0">
              <a:lnSpc>
                <a:spcPct val="100000"/>
              </a:lnSpc>
              <a:buNone/>
            </a:pPr>
            <a:r>
              <a:rPr lang="en-US" sz="7200" spc="-144" kern="0" dirty="0">
                <a:solidFill>
                  <a:srgbClr val="16241C"/>
                </a:solidFill>
                <a:latin typeface="Georgia" pitchFamily="34" charset="0"/>
                <a:ea typeface="Georgia" pitchFamily="34" charset="-122"/>
                <a:cs typeface="Georgia" pitchFamily="34" charset="-120"/>
              </a:rPr>
              <a:t>Pilot launches when </a:t>
            </a:r>
            <a:pPr algn="l" indent="0" marL="0">
              <a:lnSpc>
                <a:spcPct val="100000"/>
              </a:lnSpc>
              <a:buNone/>
            </a:pPr>
            <a:r>
              <a:rPr lang="en-US" sz="7200" i="1" spc="-144" kern="0" dirty="0">
                <a:solidFill>
                  <a:srgbClr val="1F6F43"/>
                </a:solidFill>
                <a:latin typeface="Georgia" pitchFamily="34" charset="0"/>
                <a:ea typeface="Georgia" pitchFamily="34" charset="-122"/>
                <a:cs typeface="Georgia" pitchFamily="34" charset="-120"/>
              </a:rPr>
              <a:t>all five boxes </a:t>
            </a:r>
            <a:pPr algn="l" indent="0" marL="0">
              <a:lnSpc>
                <a:spcPct val="100000"/>
              </a:lnSpc>
              <a:buNone/>
            </a:pPr>
            <a:r>
              <a:rPr lang="en-US" sz="7200" spc="-144" kern="0" dirty="0">
                <a:solidFill>
                  <a:srgbClr val="16241C"/>
                </a:solidFill>
                <a:latin typeface="Georgia" pitchFamily="34" charset="0"/>
                <a:ea typeface="Georgia" pitchFamily="34" charset="-122"/>
                <a:cs typeface="Georgia" pitchFamily="34" charset="-120"/>
              </a:rPr>
              <a:t>are checked.</a:t>
            </a:r>
            <a:endParaRPr lang="en-US" sz="7200" dirty="0"/>
          </a:p>
        </p:txBody>
      </p:sp>
      <p:sp>
        <p:nvSpPr>
          <p:cNvPr id="7" name="Text 5"/>
          <p:cNvSpPr/>
          <p:nvPr/>
        </p:nvSpPr>
        <p:spPr>
          <a:xfrm>
            <a:off x="914341" y="6120058"/>
            <a:ext cx="6475094" cy="2514501"/>
          </a:xfrm>
          <a:prstGeom prst="rect">
            <a:avLst/>
          </a:prstGeom>
          <a:noFill/>
          <a:ln/>
        </p:spPr>
        <p:txBody>
          <a:bodyPr wrap="square" lIns="25400" tIns="25400" rIns="25400" bIns="25400" rtlCol="0" anchor="t">
            <a:normAutofit/>
          </a:bodyPr>
          <a:lstStyle/>
          <a:p>
            <a:pPr algn="l" indent="0" marL="0">
              <a:lnSpc>
                <a:spcPct val="130000"/>
              </a:lnSpc>
              <a:buNone/>
            </a:pPr>
            <a:r>
              <a:rPr lang="en-US" sz="3000" spc="-11" kern="0" dirty="0">
                <a:solidFill>
                  <a:srgbClr val="4A5A51"/>
                </a:solidFill>
                <a:latin typeface="Arial" pitchFamily="34" charset="0"/>
                <a:ea typeface="Arial" pitchFamily="34" charset="-122"/>
                <a:cs typeface="Arial" pitchFamily="34" charset="-120"/>
              </a:rPr>
              <a:t>Not before. Not partially. The boxes are deliberately small in number — each is binary, each has a named owner, and each is verifiable from outside the engineering team.</a:t>
            </a:r>
            <a:endParaRPr lang="en-US" sz="3000" dirty="0"/>
          </a:p>
        </p:txBody>
      </p:sp>
      <p:sp>
        <p:nvSpPr>
          <p:cNvPr id="8" name="Shape 6"/>
          <p:cNvSpPr/>
          <p:nvPr/>
        </p:nvSpPr>
        <p:spPr>
          <a:xfrm>
            <a:off x="9018084" y="2253362"/>
            <a:ext cx="8355475" cy="1124857"/>
          </a:xfrm>
          <a:prstGeom prst="roundRect">
            <a:avLst>
              <a:gd name="adj" fmla="val 3387"/>
            </a:avLst>
          </a:prstGeom>
          <a:solidFill>
            <a:srgbClr val="EFECE4"/>
          </a:solidFill>
          <a:ln w="6311">
            <a:solidFill>
              <a:srgbClr val="16241C">
                <a:alpha val="14000"/>
              </a:srgbClr>
            </a:solidFill>
            <a:prstDash val="solid"/>
          </a:ln>
        </p:spPr>
      </p:sp>
      <p:sp>
        <p:nvSpPr>
          <p:cNvPr id="9" name="Shape 7"/>
          <p:cNvSpPr/>
          <p:nvPr/>
        </p:nvSpPr>
        <p:spPr>
          <a:xfrm>
            <a:off x="9291015" y="2625389"/>
            <a:ext cx="380704" cy="380704"/>
          </a:xfrm>
          <a:prstGeom prst="roundRect">
            <a:avLst>
              <a:gd name="adj" fmla="val 15012"/>
            </a:avLst>
          </a:prstGeom>
          <a:ln w="18932">
            <a:solidFill>
              <a:srgbClr val="16241C"/>
            </a:solidFill>
            <a:prstDash val="solid"/>
          </a:ln>
        </p:spPr>
      </p:sp>
      <p:sp>
        <p:nvSpPr>
          <p:cNvPr id="10" name="Text 8"/>
          <p:cNvSpPr/>
          <p:nvPr/>
        </p:nvSpPr>
        <p:spPr>
          <a:xfrm>
            <a:off x="10052917" y="2640574"/>
            <a:ext cx="5748327" cy="388533"/>
          </a:xfrm>
          <a:prstGeom prst="rect">
            <a:avLst/>
          </a:prstGeom>
          <a:noFill/>
          <a:ln/>
        </p:spPr>
        <p:txBody>
          <a:bodyPr wrap="square" lIns="25400" tIns="25400" rIns="25400" bIns="25400" rtlCol="0" anchor="t">
            <a:normAutofit/>
          </a:bodyPr>
          <a:lstStyle/>
          <a:p>
            <a:pPr algn="l" indent="0" marL="0">
              <a:lnSpc>
                <a:spcPct val="115000"/>
              </a:lnSpc>
              <a:buNone/>
            </a:pPr>
            <a:r>
              <a:rPr lang="en-US" sz="2400" i="1" spc="-11" kern="0" dirty="0">
                <a:solidFill>
                  <a:srgbClr val="16241C"/>
                </a:solidFill>
                <a:latin typeface="Georgia" pitchFamily="34" charset="0"/>
                <a:ea typeface="Georgia" pitchFamily="34" charset="-122"/>
                <a:cs typeface="Georgia" pitchFamily="34" charset="-120"/>
              </a:rPr>
              <a:t>Supabase keys verified clean (or rotated)</a:t>
            </a:r>
            <a:endParaRPr lang="en-US" sz="2400" dirty="0"/>
          </a:p>
        </p:txBody>
      </p:sp>
      <p:sp>
        <p:nvSpPr>
          <p:cNvPr id="11" name="Text 9"/>
          <p:cNvSpPr/>
          <p:nvPr/>
        </p:nvSpPr>
        <p:spPr>
          <a:xfrm>
            <a:off x="15786178" y="2507264"/>
            <a:ext cx="1314450" cy="655154"/>
          </a:xfrm>
          <a:prstGeom prst="rect">
            <a:avLst/>
          </a:prstGeom>
          <a:noFill/>
          <a:ln/>
        </p:spPr>
        <p:txBody>
          <a:bodyPr wrap="square" lIns="25400" tIns="25400" rIns="25400" bIns="25400" rtlCol="0" anchor="t">
            <a:normAutofit/>
          </a:bodyPr>
          <a:lstStyle/>
          <a:p>
            <a:pPr algn="r" indent="0" marL="0">
              <a:lnSpc>
                <a:spcPct val="135000"/>
              </a:lnSpc>
              <a:buNone/>
            </a:pPr>
            <a:r>
              <a:rPr lang="en-US" sz="1800" spc="108" kern="0" dirty="0">
                <a:solidFill>
                  <a:srgbClr val="4A5A51"/>
                </a:solidFill>
                <a:latin typeface="Courier New" pitchFamily="34" charset="0"/>
                <a:ea typeface="Courier New" pitchFamily="34" charset="-122"/>
                <a:cs typeface="Courier New" pitchFamily="34" charset="-120"/>
              </a:rPr>
              <a:t>BACKEND LEAD</a:t>
            </a:r>
            <a:endParaRPr lang="en-US" sz="1800" dirty="0"/>
          </a:p>
        </p:txBody>
      </p:sp>
      <p:sp>
        <p:nvSpPr>
          <p:cNvPr id="12" name="Shape 10"/>
          <p:cNvSpPr/>
          <p:nvPr/>
        </p:nvSpPr>
        <p:spPr>
          <a:xfrm>
            <a:off x="9018084" y="3549591"/>
            <a:ext cx="8355475" cy="1433384"/>
          </a:xfrm>
          <a:prstGeom prst="roundRect">
            <a:avLst>
              <a:gd name="adj" fmla="val 2658"/>
            </a:avLst>
          </a:prstGeom>
          <a:solidFill>
            <a:srgbClr val="EFECE4"/>
          </a:solidFill>
          <a:ln w="6311">
            <a:solidFill>
              <a:srgbClr val="16241C">
                <a:alpha val="14000"/>
              </a:srgbClr>
            </a:solidFill>
            <a:prstDash val="solid"/>
          </a:ln>
        </p:spPr>
      </p:sp>
      <p:sp>
        <p:nvSpPr>
          <p:cNvPr id="13" name="Shape 11"/>
          <p:cNvSpPr/>
          <p:nvPr/>
        </p:nvSpPr>
        <p:spPr>
          <a:xfrm>
            <a:off x="9291015" y="4075931"/>
            <a:ext cx="380704" cy="380704"/>
          </a:xfrm>
          <a:prstGeom prst="roundRect">
            <a:avLst>
              <a:gd name="adj" fmla="val 15012"/>
            </a:avLst>
          </a:prstGeom>
          <a:ln w="18932">
            <a:solidFill>
              <a:srgbClr val="16241C"/>
            </a:solidFill>
            <a:prstDash val="solid"/>
          </a:ln>
        </p:spPr>
      </p:sp>
      <p:sp>
        <p:nvSpPr>
          <p:cNvPr id="14" name="Text 12"/>
          <p:cNvSpPr/>
          <p:nvPr/>
        </p:nvSpPr>
        <p:spPr>
          <a:xfrm>
            <a:off x="10052917" y="4091017"/>
            <a:ext cx="5748327" cy="388533"/>
          </a:xfrm>
          <a:prstGeom prst="rect">
            <a:avLst/>
          </a:prstGeom>
          <a:noFill/>
          <a:ln/>
        </p:spPr>
        <p:txBody>
          <a:bodyPr wrap="square" lIns="25400" tIns="25400" rIns="25400" bIns="25400" rtlCol="0" anchor="t">
            <a:normAutofit/>
          </a:bodyPr>
          <a:lstStyle/>
          <a:p>
            <a:pPr algn="l" indent="0" marL="0">
              <a:lnSpc>
                <a:spcPct val="115000"/>
              </a:lnSpc>
              <a:buNone/>
            </a:pPr>
            <a:r>
              <a:rPr lang="en-US" sz="2400" i="1" spc="-11" kern="0" dirty="0">
                <a:solidFill>
                  <a:srgbClr val="16241C"/>
                </a:solidFill>
                <a:latin typeface="Georgia" pitchFamily="34" charset="0"/>
                <a:ea typeface="Georgia" pitchFamily="34" charset="-122"/>
                <a:cs typeface="Georgia" pitchFamily="34" charset="-120"/>
              </a:rPr>
              <a:t>STATE.md reflects the running app</a:t>
            </a:r>
            <a:endParaRPr lang="en-US" sz="2400" dirty="0"/>
          </a:p>
        </p:txBody>
      </p:sp>
      <p:sp>
        <p:nvSpPr>
          <p:cNvPr id="15" name="Text 13"/>
          <p:cNvSpPr/>
          <p:nvPr/>
        </p:nvSpPr>
        <p:spPr>
          <a:xfrm>
            <a:off x="15786178" y="3803492"/>
            <a:ext cx="1314450" cy="963681"/>
          </a:xfrm>
          <a:prstGeom prst="rect">
            <a:avLst/>
          </a:prstGeom>
          <a:noFill/>
          <a:ln/>
        </p:spPr>
        <p:txBody>
          <a:bodyPr wrap="square" lIns="25400" tIns="25400" rIns="25400" bIns="25400" rtlCol="0" anchor="t">
            <a:normAutofit/>
          </a:bodyPr>
          <a:lstStyle/>
          <a:p>
            <a:pPr algn="r" indent="0" marL="0">
              <a:lnSpc>
                <a:spcPct val="135000"/>
              </a:lnSpc>
              <a:buNone/>
            </a:pPr>
            <a:r>
              <a:rPr lang="en-US" sz="1800" spc="108" kern="0" dirty="0">
                <a:solidFill>
                  <a:srgbClr val="4A5A51"/>
                </a:solidFill>
                <a:latin typeface="Courier New" pitchFamily="34" charset="0"/>
                <a:ea typeface="Courier New" pitchFamily="34" charset="-122"/>
                <a:cs typeface="Courier New" pitchFamily="34" charset="-120"/>
              </a:rPr>
              <a:t>TECH LEAD + PM</a:t>
            </a:r>
            <a:endParaRPr lang="en-US" sz="1800" dirty="0"/>
          </a:p>
        </p:txBody>
      </p:sp>
      <p:sp>
        <p:nvSpPr>
          <p:cNvPr id="16" name="Shape 14"/>
          <p:cNvSpPr/>
          <p:nvPr/>
        </p:nvSpPr>
        <p:spPr>
          <a:xfrm>
            <a:off x="9018084" y="5154346"/>
            <a:ext cx="8355475" cy="1124857"/>
          </a:xfrm>
          <a:prstGeom prst="roundRect">
            <a:avLst>
              <a:gd name="adj" fmla="val 3387"/>
            </a:avLst>
          </a:prstGeom>
          <a:solidFill>
            <a:srgbClr val="EFECE4"/>
          </a:solidFill>
          <a:ln w="6311">
            <a:solidFill>
              <a:srgbClr val="16241C">
                <a:alpha val="14000"/>
              </a:srgbClr>
            </a:solidFill>
            <a:prstDash val="solid"/>
          </a:ln>
        </p:spPr>
      </p:sp>
      <p:sp>
        <p:nvSpPr>
          <p:cNvPr id="17" name="Shape 15"/>
          <p:cNvSpPr/>
          <p:nvPr/>
        </p:nvSpPr>
        <p:spPr>
          <a:xfrm>
            <a:off x="9291015" y="5526373"/>
            <a:ext cx="380704" cy="380704"/>
          </a:xfrm>
          <a:prstGeom prst="roundRect">
            <a:avLst>
              <a:gd name="adj" fmla="val 15012"/>
            </a:avLst>
          </a:prstGeom>
          <a:ln w="18932">
            <a:solidFill>
              <a:srgbClr val="16241C"/>
            </a:solidFill>
            <a:prstDash val="solid"/>
          </a:ln>
        </p:spPr>
      </p:sp>
      <p:sp>
        <p:nvSpPr>
          <p:cNvPr id="18" name="Text 16"/>
          <p:cNvSpPr/>
          <p:nvPr/>
        </p:nvSpPr>
        <p:spPr>
          <a:xfrm>
            <a:off x="10052917" y="5541558"/>
            <a:ext cx="5748327" cy="388533"/>
          </a:xfrm>
          <a:prstGeom prst="rect">
            <a:avLst/>
          </a:prstGeom>
          <a:noFill/>
          <a:ln/>
        </p:spPr>
        <p:txBody>
          <a:bodyPr wrap="square" lIns="25400" tIns="25400" rIns="25400" bIns="25400" rtlCol="0" anchor="t">
            <a:normAutofit/>
          </a:bodyPr>
          <a:lstStyle/>
          <a:p>
            <a:pPr algn="l" indent="0" marL="0">
              <a:lnSpc>
                <a:spcPct val="115000"/>
              </a:lnSpc>
              <a:buNone/>
            </a:pPr>
            <a:r>
              <a:rPr lang="en-US" sz="2400" i="1" spc="-11" kern="0" dirty="0">
                <a:solidFill>
                  <a:srgbClr val="16241C"/>
                </a:solidFill>
                <a:latin typeface="Georgia" pitchFamily="34" charset="0"/>
                <a:ea typeface="Georgia" pitchFamily="34" charset="-122"/>
                <a:cs typeface="Georgia" pitchFamily="34" charset="-120"/>
              </a:rPr>
              <a:t>RLS isolation passes the browser probe</a:t>
            </a:r>
            <a:endParaRPr lang="en-US" sz="2400" dirty="0"/>
          </a:p>
        </p:txBody>
      </p:sp>
      <p:sp>
        <p:nvSpPr>
          <p:cNvPr id="19" name="Text 17"/>
          <p:cNvSpPr/>
          <p:nvPr/>
        </p:nvSpPr>
        <p:spPr>
          <a:xfrm>
            <a:off x="15786178" y="5408247"/>
            <a:ext cx="1314450" cy="655154"/>
          </a:xfrm>
          <a:prstGeom prst="rect">
            <a:avLst/>
          </a:prstGeom>
          <a:noFill/>
          <a:ln/>
        </p:spPr>
        <p:txBody>
          <a:bodyPr wrap="square" lIns="25400" tIns="25400" rIns="25400" bIns="25400" rtlCol="0" anchor="t">
            <a:normAutofit/>
          </a:bodyPr>
          <a:lstStyle/>
          <a:p>
            <a:pPr algn="r" indent="0" marL="0">
              <a:lnSpc>
                <a:spcPct val="135000"/>
              </a:lnSpc>
              <a:buNone/>
            </a:pPr>
            <a:r>
              <a:rPr lang="en-US" sz="1800" spc="108" kern="0" dirty="0">
                <a:solidFill>
                  <a:srgbClr val="4A5A51"/>
                </a:solidFill>
                <a:latin typeface="Courier New" pitchFamily="34" charset="0"/>
                <a:ea typeface="Courier New" pitchFamily="34" charset="-122"/>
                <a:cs typeface="Courier New" pitchFamily="34" charset="-120"/>
              </a:rPr>
              <a:t>SECURITY REVIEWER</a:t>
            </a:r>
            <a:endParaRPr lang="en-US" sz="1800" dirty="0"/>
          </a:p>
        </p:txBody>
      </p:sp>
      <p:sp>
        <p:nvSpPr>
          <p:cNvPr id="20" name="Shape 18"/>
          <p:cNvSpPr/>
          <p:nvPr/>
        </p:nvSpPr>
        <p:spPr>
          <a:xfrm>
            <a:off x="9018084" y="6450574"/>
            <a:ext cx="8355475" cy="1124857"/>
          </a:xfrm>
          <a:prstGeom prst="roundRect">
            <a:avLst>
              <a:gd name="adj" fmla="val 3387"/>
            </a:avLst>
          </a:prstGeom>
          <a:solidFill>
            <a:srgbClr val="EFECE4"/>
          </a:solidFill>
          <a:ln w="6311">
            <a:solidFill>
              <a:srgbClr val="16241C">
                <a:alpha val="14000"/>
              </a:srgbClr>
            </a:solidFill>
            <a:prstDash val="solid"/>
          </a:ln>
        </p:spPr>
      </p:sp>
      <p:sp>
        <p:nvSpPr>
          <p:cNvPr id="21" name="Shape 19"/>
          <p:cNvSpPr/>
          <p:nvPr/>
        </p:nvSpPr>
        <p:spPr>
          <a:xfrm>
            <a:off x="9291015" y="6822601"/>
            <a:ext cx="380704" cy="380704"/>
          </a:xfrm>
          <a:prstGeom prst="roundRect">
            <a:avLst>
              <a:gd name="adj" fmla="val 15012"/>
            </a:avLst>
          </a:prstGeom>
          <a:ln w="18932">
            <a:solidFill>
              <a:srgbClr val="16241C"/>
            </a:solidFill>
            <a:prstDash val="solid"/>
          </a:ln>
        </p:spPr>
      </p:sp>
      <p:sp>
        <p:nvSpPr>
          <p:cNvPr id="22" name="Text 20"/>
          <p:cNvSpPr/>
          <p:nvPr/>
        </p:nvSpPr>
        <p:spPr>
          <a:xfrm>
            <a:off x="10052917" y="6837786"/>
            <a:ext cx="5748327" cy="388533"/>
          </a:xfrm>
          <a:prstGeom prst="rect">
            <a:avLst/>
          </a:prstGeom>
          <a:noFill/>
          <a:ln/>
        </p:spPr>
        <p:txBody>
          <a:bodyPr wrap="square" lIns="25400" tIns="25400" rIns="25400" bIns="25400" rtlCol="0" anchor="t">
            <a:normAutofit/>
          </a:bodyPr>
          <a:lstStyle/>
          <a:p>
            <a:pPr algn="l" indent="0" marL="0">
              <a:lnSpc>
                <a:spcPct val="115000"/>
              </a:lnSpc>
              <a:buNone/>
            </a:pPr>
            <a:r>
              <a:rPr lang="en-US" sz="2400" i="1" spc="-11" kern="0" dirty="0">
                <a:solidFill>
                  <a:srgbClr val="16241C"/>
                </a:solidFill>
                <a:latin typeface="Georgia" pitchFamily="34" charset="0"/>
                <a:ea typeface="Georgia" pitchFamily="34" charset="-122"/>
                <a:cs typeface="Georgia" pitchFamily="34" charset="-120"/>
              </a:rPr>
              <a:t>Error boundary live in prod</a:t>
            </a:r>
            <a:endParaRPr lang="en-US" sz="2400" dirty="0"/>
          </a:p>
        </p:txBody>
      </p:sp>
      <p:sp>
        <p:nvSpPr>
          <p:cNvPr id="23" name="Text 21"/>
          <p:cNvSpPr/>
          <p:nvPr/>
        </p:nvSpPr>
        <p:spPr>
          <a:xfrm>
            <a:off x="15786178" y="6704476"/>
            <a:ext cx="1314450" cy="655154"/>
          </a:xfrm>
          <a:prstGeom prst="rect">
            <a:avLst/>
          </a:prstGeom>
          <a:noFill/>
          <a:ln/>
        </p:spPr>
        <p:txBody>
          <a:bodyPr wrap="square" lIns="25400" tIns="25400" rIns="25400" bIns="25400" rtlCol="0" anchor="t">
            <a:normAutofit/>
          </a:bodyPr>
          <a:lstStyle/>
          <a:p>
            <a:pPr algn="r" indent="0" marL="0">
              <a:lnSpc>
                <a:spcPct val="135000"/>
              </a:lnSpc>
              <a:buNone/>
            </a:pPr>
            <a:r>
              <a:rPr lang="en-US" sz="1800" spc="108" kern="0" dirty="0">
                <a:solidFill>
                  <a:srgbClr val="4A5A51"/>
                </a:solidFill>
                <a:latin typeface="Courier New" pitchFamily="34" charset="0"/>
                <a:ea typeface="Courier New" pitchFamily="34" charset="-122"/>
                <a:cs typeface="Courier New" pitchFamily="34" charset="-120"/>
              </a:rPr>
              <a:t>FRONTEND LEAD</a:t>
            </a:r>
            <a:endParaRPr lang="en-US" sz="1800" dirty="0"/>
          </a:p>
        </p:txBody>
      </p:sp>
      <p:sp>
        <p:nvSpPr>
          <p:cNvPr id="24" name="Shape 22"/>
          <p:cNvSpPr/>
          <p:nvPr/>
        </p:nvSpPr>
        <p:spPr>
          <a:xfrm>
            <a:off x="9018084" y="7746802"/>
            <a:ext cx="8355475" cy="1124857"/>
          </a:xfrm>
          <a:prstGeom prst="roundRect">
            <a:avLst>
              <a:gd name="adj" fmla="val 3387"/>
            </a:avLst>
          </a:prstGeom>
          <a:solidFill>
            <a:srgbClr val="EFECE4"/>
          </a:solidFill>
          <a:ln w="6311">
            <a:solidFill>
              <a:srgbClr val="16241C">
                <a:alpha val="14000"/>
              </a:srgbClr>
            </a:solidFill>
            <a:prstDash val="solid"/>
          </a:ln>
        </p:spPr>
      </p:sp>
      <p:sp>
        <p:nvSpPr>
          <p:cNvPr id="25" name="Shape 23"/>
          <p:cNvSpPr/>
          <p:nvPr/>
        </p:nvSpPr>
        <p:spPr>
          <a:xfrm>
            <a:off x="9291015" y="8118829"/>
            <a:ext cx="380704" cy="380704"/>
          </a:xfrm>
          <a:prstGeom prst="roundRect">
            <a:avLst>
              <a:gd name="adj" fmla="val 15012"/>
            </a:avLst>
          </a:prstGeom>
          <a:ln w="18932">
            <a:solidFill>
              <a:srgbClr val="16241C"/>
            </a:solidFill>
            <a:prstDash val="solid"/>
          </a:ln>
        </p:spPr>
      </p:sp>
      <p:sp>
        <p:nvSpPr>
          <p:cNvPr id="26" name="Text 24"/>
          <p:cNvSpPr/>
          <p:nvPr/>
        </p:nvSpPr>
        <p:spPr>
          <a:xfrm>
            <a:off x="10052917" y="8134014"/>
            <a:ext cx="5748327" cy="388533"/>
          </a:xfrm>
          <a:prstGeom prst="rect">
            <a:avLst/>
          </a:prstGeom>
          <a:noFill/>
          <a:ln/>
        </p:spPr>
        <p:txBody>
          <a:bodyPr wrap="square" lIns="25400" tIns="25400" rIns="25400" bIns="25400" rtlCol="0" anchor="t">
            <a:normAutofit/>
          </a:bodyPr>
          <a:lstStyle/>
          <a:p>
            <a:pPr algn="l" indent="0" marL="0">
              <a:lnSpc>
                <a:spcPct val="115000"/>
              </a:lnSpc>
              <a:buNone/>
            </a:pPr>
            <a:r>
              <a:rPr lang="en-US" sz="2400" i="1" spc="-11" kern="0" dirty="0">
                <a:solidFill>
                  <a:srgbClr val="16241C"/>
                </a:solidFill>
                <a:latin typeface="Georgia" pitchFamily="34" charset="0"/>
                <a:ea typeface="Georgia" pitchFamily="34" charset="-122"/>
                <a:cs typeface="Georgia" pitchFamily="34" charset="-120"/>
              </a:rPr>
              <a:t>Indexes deployed on three hot tables</a:t>
            </a:r>
            <a:endParaRPr lang="en-US" sz="2400" dirty="0"/>
          </a:p>
        </p:txBody>
      </p:sp>
      <p:sp>
        <p:nvSpPr>
          <p:cNvPr id="27" name="Text 25"/>
          <p:cNvSpPr/>
          <p:nvPr/>
        </p:nvSpPr>
        <p:spPr>
          <a:xfrm>
            <a:off x="15786178" y="8000704"/>
            <a:ext cx="1314450" cy="655154"/>
          </a:xfrm>
          <a:prstGeom prst="rect">
            <a:avLst/>
          </a:prstGeom>
          <a:noFill/>
          <a:ln/>
        </p:spPr>
        <p:txBody>
          <a:bodyPr wrap="square" lIns="25400" tIns="25400" rIns="25400" bIns="25400" rtlCol="0" anchor="t">
            <a:normAutofit/>
          </a:bodyPr>
          <a:lstStyle/>
          <a:p>
            <a:pPr algn="r" indent="0" marL="0">
              <a:lnSpc>
                <a:spcPct val="135000"/>
              </a:lnSpc>
              <a:buNone/>
            </a:pPr>
            <a:r>
              <a:rPr lang="en-US" sz="1800" spc="108" kern="0" dirty="0">
                <a:solidFill>
                  <a:srgbClr val="4A5A51"/>
                </a:solidFill>
                <a:latin typeface="Courier New" pitchFamily="34" charset="0"/>
                <a:ea typeface="Courier New" pitchFamily="34" charset="-122"/>
                <a:cs typeface="Courier New" pitchFamily="34" charset="-120"/>
              </a:rPr>
              <a:t>BACKEND LEAD</a:t>
            </a:r>
            <a:endParaRPr lang="en-US" sz="1800" dirty="0"/>
          </a:p>
        </p:txBody>
      </p:sp>
      <p:sp>
        <p:nvSpPr>
          <p:cNvPr id="28" name="Shape 26"/>
          <p:cNvSpPr/>
          <p:nvPr/>
        </p:nvSpPr>
        <p:spPr>
          <a:xfrm>
            <a:off x="914341" y="9381730"/>
            <a:ext cx="16459317" cy="9525"/>
          </a:xfrm>
          <a:prstGeom prst="rect">
            <a:avLst/>
          </a:prstGeom>
          <a:solidFill>
            <a:srgbClr val="16241C">
              <a:alpha val="14000"/>
            </a:srgbClr>
          </a:solidFill>
          <a:ln/>
        </p:spPr>
      </p:sp>
      <p:sp>
        <p:nvSpPr>
          <p:cNvPr id="29" name="Text 27"/>
          <p:cNvSpPr/>
          <p:nvPr/>
        </p:nvSpPr>
        <p:spPr>
          <a:xfrm>
            <a:off x="914341" y="9559412"/>
            <a:ext cx="3315343"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GREEN-LIGHT CONDITIONS</a:t>
            </a:r>
            <a:endParaRPr lang="en-US" sz="1800" dirty="0"/>
          </a:p>
        </p:txBody>
      </p:sp>
      <p:sp>
        <p:nvSpPr>
          <p:cNvPr id="30" name="Text 28"/>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20 / 25</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14341" y="506620"/>
            <a:ext cx="133311" cy="133311"/>
          </a:xfrm>
          <a:prstGeom prst="ellipse">
            <a:avLst/>
          </a:prstGeom>
          <a:solidFill>
            <a:srgbClr val="1F6F43"/>
          </a:solidFill>
          <a:ln/>
          <a:effectLst>
            <a:outerShdw sx="100000" sy="100000" kx="0" ky="0" algn="bl" rotWithShape="0" blurRad="101600" dist="50800" dir="16200000">
              <a:srgbClr val="D6E3DA">
                <a:alpha val="100000"/>
              </a:srgbClr>
            </a:outerShdw>
          </a:effectLst>
        </p:spPr>
      </p:sp>
      <p:sp>
        <p:nvSpPr>
          <p:cNvPr id="3" name="Text 1"/>
          <p:cNvSpPr/>
          <p:nvPr/>
        </p:nvSpPr>
        <p:spPr>
          <a:xfrm>
            <a:off x="1180962" y="419061"/>
            <a:ext cx="1978242"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16241C"/>
                </a:solidFill>
                <a:latin typeface="Courier New" pitchFamily="34" charset="0"/>
                <a:ea typeface="Courier New" pitchFamily="34" charset="-122"/>
                <a:cs typeface="Courier New" pitchFamily="34" charset="-120"/>
              </a:rPr>
              <a:t>TRAK FOOTBALL</a:t>
            </a:r>
            <a:endParaRPr lang="en-US" sz="1800" dirty="0"/>
          </a:p>
        </p:txBody>
      </p:sp>
      <p:sp>
        <p:nvSpPr>
          <p:cNvPr id="4" name="Text 2"/>
          <p:cNvSpPr/>
          <p:nvPr/>
        </p:nvSpPr>
        <p:spPr>
          <a:xfrm>
            <a:off x="13862226" y="419061"/>
            <a:ext cx="361677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OPEN QUESTIONS · 21 / 25</a:t>
            </a:r>
            <a:endParaRPr lang="en-US" sz="1800" dirty="0"/>
          </a:p>
        </p:txBody>
      </p:sp>
      <p:sp>
        <p:nvSpPr>
          <p:cNvPr id="5" name="Text 3"/>
          <p:cNvSpPr/>
          <p:nvPr/>
        </p:nvSpPr>
        <p:spPr>
          <a:xfrm>
            <a:off x="914341" y="1219121"/>
            <a:ext cx="1471612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7C8A82"/>
                </a:solidFill>
                <a:latin typeface="Courier New" pitchFamily="34" charset="0"/>
                <a:ea typeface="Courier New" pitchFamily="34" charset="-122"/>
                <a:cs typeface="Courier New" pitchFamily="34" charset="-120"/>
              </a:rPr>
              <a:t>FOR THE TEAM TO ANSWER</a:t>
            </a:r>
            <a:endParaRPr lang="en-US" sz="1800" dirty="0"/>
          </a:p>
        </p:txBody>
      </p:sp>
      <p:sp>
        <p:nvSpPr>
          <p:cNvPr id="6" name="Text 4"/>
          <p:cNvSpPr/>
          <p:nvPr/>
        </p:nvSpPr>
        <p:spPr>
          <a:xfrm>
            <a:off x="914341" y="1737178"/>
            <a:ext cx="14716124" cy="1605091"/>
          </a:xfrm>
          <a:prstGeom prst="rect">
            <a:avLst/>
          </a:prstGeom>
          <a:noFill/>
          <a:ln/>
        </p:spPr>
        <p:txBody>
          <a:bodyPr wrap="square" lIns="25400" tIns="25400" rIns="25400" bIns="25400" rtlCol="0" anchor="t">
            <a:normAutofit/>
          </a:bodyPr>
          <a:lstStyle/>
          <a:p>
            <a:pPr algn="l" indent="0" marL="0">
              <a:lnSpc>
                <a:spcPct val="102000"/>
              </a:lnSpc>
              <a:buNone/>
            </a:pPr>
            <a:r>
              <a:rPr lang="en-US" sz="6000" spc="-120" kern="0" dirty="0">
                <a:solidFill>
                  <a:srgbClr val="16241C"/>
                </a:solidFill>
                <a:latin typeface="Georgia" pitchFamily="34" charset="0"/>
                <a:ea typeface="Georgia" pitchFamily="34" charset="-122"/>
                <a:cs typeface="Georgia" pitchFamily="34" charset="-120"/>
              </a:rPr>
              <a:t>Six open questions </a:t>
            </a:r>
            <a:pPr algn="l" indent="0" marL="0">
              <a:lnSpc>
                <a:spcPct val="102000"/>
              </a:lnSpc>
              <a:buNone/>
            </a:pPr>
            <a:r>
              <a:rPr lang="en-US" sz="6000" i="1" spc="-120" kern="0" dirty="0">
                <a:solidFill>
                  <a:srgbClr val="1F6F43"/>
                </a:solidFill>
                <a:latin typeface="Georgia" pitchFamily="34" charset="0"/>
                <a:ea typeface="Georgia" pitchFamily="34" charset="-122"/>
                <a:cs typeface="Georgia" pitchFamily="34" charset="-120"/>
              </a:rPr>
              <a:t>we cannot close from the codebase alone.</a:t>
            </a:r>
            <a:endParaRPr lang="en-US" sz="6000" dirty="0"/>
          </a:p>
        </p:txBody>
      </p:sp>
      <p:sp>
        <p:nvSpPr>
          <p:cNvPr id="7" name="Shape 5"/>
          <p:cNvSpPr/>
          <p:nvPr/>
        </p:nvSpPr>
        <p:spPr>
          <a:xfrm>
            <a:off x="914341" y="3837510"/>
            <a:ext cx="7924878" cy="9525"/>
          </a:xfrm>
          <a:prstGeom prst="rect">
            <a:avLst/>
          </a:prstGeom>
          <a:solidFill>
            <a:srgbClr val="16241C">
              <a:alpha val="14000"/>
            </a:srgbClr>
          </a:solidFill>
          <a:ln/>
        </p:spPr>
      </p:sp>
      <p:sp>
        <p:nvSpPr>
          <p:cNvPr id="8" name="Text 6"/>
          <p:cNvSpPr/>
          <p:nvPr/>
        </p:nvSpPr>
        <p:spPr>
          <a:xfrm>
            <a:off x="914341" y="4186642"/>
            <a:ext cx="387192" cy="1642678"/>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Q1</a:t>
            </a:r>
            <a:endParaRPr lang="en-US" sz="1800" dirty="0"/>
          </a:p>
        </p:txBody>
      </p:sp>
      <p:sp>
        <p:nvSpPr>
          <p:cNvPr id="9" name="Text 7"/>
          <p:cNvSpPr/>
          <p:nvPr/>
        </p:nvSpPr>
        <p:spPr>
          <a:xfrm>
            <a:off x="1491954" y="4110442"/>
            <a:ext cx="1764472" cy="454597"/>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Who is the</a:t>
            </a:r>
            <a:endParaRPr lang="en-US" sz="2850" dirty="0"/>
          </a:p>
        </p:txBody>
      </p:sp>
      <p:sp>
        <p:nvSpPr>
          <p:cNvPr id="10" name="Text 8"/>
          <p:cNvSpPr/>
          <p:nvPr/>
        </p:nvSpPr>
        <p:spPr>
          <a:xfrm>
            <a:off x="3265714" y="4085199"/>
            <a:ext cx="1688942" cy="511392"/>
          </a:xfrm>
          <a:prstGeom prst="rect">
            <a:avLst/>
          </a:prstGeom>
          <a:noFill/>
          <a:ln/>
        </p:spPr>
        <p:txBody>
          <a:bodyPr wrap="square" lIns="25400" tIns="25400" rIns="25400" bIns="25400" rtlCol="0" anchor="t">
            <a:normAutofit/>
          </a:bodyPr>
          <a:lstStyle/>
          <a:p>
            <a:pPr algn="l" indent="0" marL="0">
              <a:lnSpc>
                <a:spcPct val="118000"/>
              </a:lnSpc>
              <a:buNone/>
            </a:pPr>
            <a:r>
              <a:rPr lang="en-US" sz="2850" i="1" spc="-14" kern="0" dirty="0">
                <a:solidFill>
                  <a:srgbClr val="1F6F43"/>
                </a:solidFill>
                <a:latin typeface="Georgia" pitchFamily="34" charset="0"/>
                <a:ea typeface="Georgia" pitchFamily="34" charset="-122"/>
                <a:cs typeface="Georgia" pitchFamily="34" charset="-120"/>
              </a:rPr>
              <a:t>single owner</a:t>
            </a:r>
            <a:endParaRPr lang="en-US" sz="2850" dirty="0"/>
          </a:p>
        </p:txBody>
      </p:sp>
      <p:sp>
        <p:nvSpPr>
          <p:cNvPr id="11" name="Text 9"/>
          <p:cNvSpPr/>
          <p:nvPr/>
        </p:nvSpPr>
        <p:spPr>
          <a:xfrm>
            <a:off x="1491954" y="4110442"/>
            <a:ext cx="6532374" cy="881644"/>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of the pilot launch decision?</a:t>
            </a:r>
            <a:endParaRPr lang="en-US" sz="2850" dirty="0"/>
          </a:p>
        </p:txBody>
      </p:sp>
      <p:sp>
        <p:nvSpPr>
          <p:cNvPr id="12" name="Text 10"/>
          <p:cNvSpPr/>
          <p:nvPr/>
        </p:nvSpPr>
        <p:spPr>
          <a:xfrm>
            <a:off x="1491954" y="5097847"/>
            <a:ext cx="7567683"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5A51"/>
                </a:solidFill>
                <a:latin typeface="Arial" pitchFamily="34" charset="0"/>
                <a:ea typeface="Arial" pitchFamily="34" charset="-122"/>
                <a:cs typeface="Arial" pitchFamily="34" charset="-120"/>
              </a:rPr>
              <a:t>Each P0 item has a doer; only one person should hold the go / no-go.</a:t>
            </a:r>
            <a:endParaRPr lang="en-US" sz="1950" dirty="0"/>
          </a:p>
        </p:txBody>
      </p:sp>
      <p:sp>
        <p:nvSpPr>
          <p:cNvPr id="13" name="Shape 11"/>
          <p:cNvSpPr/>
          <p:nvPr/>
        </p:nvSpPr>
        <p:spPr>
          <a:xfrm>
            <a:off x="9448780" y="3837510"/>
            <a:ext cx="7924878" cy="9525"/>
          </a:xfrm>
          <a:prstGeom prst="rect">
            <a:avLst/>
          </a:prstGeom>
          <a:solidFill>
            <a:srgbClr val="16241C">
              <a:alpha val="14000"/>
            </a:srgbClr>
          </a:solidFill>
          <a:ln/>
        </p:spPr>
      </p:sp>
      <p:sp>
        <p:nvSpPr>
          <p:cNvPr id="14" name="Text 12"/>
          <p:cNvSpPr/>
          <p:nvPr/>
        </p:nvSpPr>
        <p:spPr>
          <a:xfrm>
            <a:off x="9448780" y="4186642"/>
            <a:ext cx="387192" cy="1642678"/>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Q2</a:t>
            </a:r>
            <a:endParaRPr lang="en-US" sz="1800" dirty="0"/>
          </a:p>
        </p:txBody>
      </p:sp>
      <p:sp>
        <p:nvSpPr>
          <p:cNvPr id="15" name="Text 13"/>
          <p:cNvSpPr/>
          <p:nvPr/>
        </p:nvSpPr>
        <p:spPr>
          <a:xfrm>
            <a:off x="10026393" y="4110442"/>
            <a:ext cx="1799081" cy="454597"/>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How many</a:t>
            </a:r>
            <a:endParaRPr lang="en-US" sz="2850" dirty="0"/>
          </a:p>
        </p:txBody>
      </p:sp>
      <p:sp>
        <p:nvSpPr>
          <p:cNvPr id="16" name="Text 14"/>
          <p:cNvSpPr/>
          <p:nvPr/>
        </p:nvSpPr>
        <p:spPr>
          <a:xfrm>
            <a:off x="11834763" y="4085199"/>
            <a:ext cx="1292264" cy="511392"/>
          </a:xfrm>
          <a:prstGeom prst="rect">
            <a:avLst/>
          </a:prstGeom>
          <a:noFill/>
          <a:ln/>
        </p:spPr>
        <p:txBody>
          <a:bodyPr wrap="square" lIns="25400" tIns="25400" rIns="25400" bIns="25400" rtlCol="0" anchor="t">
            <a:normAutofit/>
          </a:bodyPr>
          <a:lstStyle/>
          <a:p>
            <a:pPr algn="l" indent="0" marL="0">
              <a:lnSpc>
                <a:spcPct val="118000"/>
              </a:lnSpc>
              <a:buNone/>
            </a:pPr>
            <a:r>
              <a:rPr lang="en-US" sz="2850" i="1" spc="-14" kern="0" dirty="0">
                <a:solidFill>
                  <a:srgbClr val="1F6F43"/>
                </a:solidFill>
                <a:latin typeface="Georgia" pitchFamily="34" charset="0"/>
                <a:ea typeface="Georgia" pitchFamily="34" charset="-122"/>
                <a:cs typeface="Georgia" pitchFamily="34" charset="-120"/>
              </a:rPr>
              <a:t>real users</a:t>
            </a:r>
            <a:endParaRPr lang="en-US" sz="2850" dirty="0"/>
          </a:p>
        </p:txBody>
      </p:sp>
      <p:sp>
        <p:nvSpPr>
          <p:cNvPr id="17" name="Text 15"/>
          <p:cNvSpPr/>
          <p:nvPr/>
        </p:nvSpPr>
        <p:spPr>
          <a:xfrm>
            <a:off x="10026393" y="4110442"/>
            <a:ext cx="6853611" cy="881644"/>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are we inviting in pilot week one?</a:t>
            </a:r>
            <a:endParaRPr lang="en-US" sz="2850" dirty="0"/>
          </a:p>
        </p:txBody>
      </p:sp>
      <p:sp>
        <p:nvSpPr>
          <p:cNvPr id="18" name="Text 16"/>
          <p:cNvSpPr/>
          <p:nvPr/>
        </p:nvSpPr>
        <p:spPr>
          <a:xfrm>
            <a:off x="10026393" y="5097847"/>
            <a:ext cx="7567683"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5A51"/>
                </a:solidFill>
                <a:latin typeface="Arial" pitchFamily="34" charset="0"/>
                <a:ea typeface="Arial" pitchFamily="34" charset="-122"/>
                <a:cs typeface="Arial" pitchFamily="34" charset="-120"/>
              </a:rPr>
              <a:t>Index strategy and pagination thresholds depend on the actual cohort size.</a:t>
            </a:r>
            <a:endParaRPr lang="en-US" sz="1950" dirty="0"/>
          </a:p>
        </p:txBody>
      </p:sp>
      <p:sp>
        <p:nvSpPr>
          <p:cNvPr id="19" name="Shape 17"/>
          <p:cNvSpPr/>
          <p:nvPr/>
        </p:nvSpPr>
        <p:spPr>
          <a:xfrm>
            <a:off x="914341" y="6324462"/>
            <a:ext cx="7924878" cy="9525"/>
          </a:xfrm>
          <a:prstGeom prst="rect">
            <a:avLst/>
          </a:prstGeom>
          <a:solidFill>
            <a:srgbClr val="16241C">
              <a:alpha val="14000"/>
            </a:srgbClr>
          </a:solidFill>
          <a:ln/>
        </p:spPr>
      </p:sp>
      <p:sp>
        <p:nvSpPr>
          <p:cNvPr id="20" name="Text 18"/>
          <p:cNvSpPr/>
          <p:nvPr/>
        </p:nvSpPr>
        <p:spPr>
          <a:xfrm>
            <a:off x="914341" y="6673593"/>
            <a:ext cx="387192" cy="1642678"/>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Q3</a:t>
            </a:r>
            <a:endParaRPr lang="en-US" sz="1800" dirty="0"/>
          </a:p>
        </p:txBody>
      </p:sp>
      <p:sp>
        <p:nvSpPr>
          <p:cNvPr id="21" name="Text 19"/>
          <p:cNvSpPr/>
          <p:nvPr/>
        </p:nvSpPr>
        <p:spPr>
          <a:xfrm>
            <a:off x="1491954" y="6597393"/>
            <a:ext cx="1874906" cy="454597"/>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What is the</a:t>
            </a:r>
            <a:endParaRPr lang="en-US" sz="2850" dirty="0"/>
          </a:p>
        </p:txBody>
      </p:sp>
      <p:sp>
        <p:nvSpPr>
          <p:cNvPr id="22" name="Text 20"/>
          <p:cNvSpPr/>
          <p:nvPr/>
        </p:nvSpPr>
        <p:spPr>
          <a:xfrm>
            <a:off x="3376149" y="6572151"/>
            <a:ext cx="1823534" cy="511392"/>
          </a:xfrm>
          <a:prstGeom prst="rect">
            <a:avLst/>
          </a:prstGeom>
          <a:noFill/>
          <a:ln/>
        </p:spPr>
        <p:txBody>
          <a:bodyPr wrap="square" lIns="25400" tIns="25400" rIns="25400" bIns="25400" rtlCol="0" anchor="t">
            <a:normAutofit/>
          </a:bodyPr>
          <a:lstStyle/>
          <a:p>
            <a:pPr algn="l" indent="0" marL="0">
              <a:lnSpc>
                <a:spcPct val="118000"/>
              </a:lnSpc>
              <a:buNone/>
            </a:pPr>
            <a:r>
              <a:rPr lang="en-US" sz="2850" i="1" spc="-14" kern="0" dirty="0">
                <a:solidFill>
                  <a:srgbClr val="1F6F43"/>
                </a:solidFill>
                <a:latin typeface="Georgia" pitchFamily="34" charset="0"/>
                <a:ea typeface="Georgia" pitchFamily="34" charset="-122"/>
                <a:cs typeface="Georgia" pitchFamily="34" charset="-120"/>
              </a:rPr>
              <a:t>incident path</a:t>
            </a:r>
            <a:endParaRPr lang="en-US" sz="2850" dirty="0"/>
          </a:p>
        </p:txBody>
      </p:sp>
      <p:sp>
        <p:nvSpPr>
          <p:cNvPr id="23" name="Text 21"/>
          <p:cNvSpPr/>
          <p:nvPr/>
        </p:nvSpPr>
        <p:spPr>
          <a:xfrm>
            <a:off x="1491954" y="6597393"/>
            <a:ext cx="6613623" cy="881644"/>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when a pilot user reports a crash on a Saturday?</a:t>
            </a:r>
            <a:endParaRPr lang="en-US" sz="2850" dirty="0"/>
          </a:p>
        </p:txBody>
      </p:sp>
      <p:sp>
        <p:nvSpPr>
          <p:cNvPr id="24" name="Text 22"/>
          <p:cNvSpPr/>
          <p:nvPr/>
        </p:nvSpPr>
        <p:spPr>
          <a:xfrm>
            <a:off x="1491954" y="7584799"/>
            <a:ext cx="7567683" cy="731473"/>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5A51"/>
                </a:solidFill>
                <a:latin typeface="Arial" pitchFamily="34" charset="0"/>
                <a:ea typeface="Arial" pitchFamily="34" charset="-122"/>
                <a:cs typeface="Arial" pitchFamily="34" charset="-120"/>
              </a:rPr>
              <a:t>Without observability or on-call coverage, this is a quiet single point of failure.</a:t>
            </a:r>
            <a:endParaRPr lang="en-US" sz="1950" dirty="0"/>
          </a:p>
        </p:txBody>
      </p:sp>
      <p:sp>
        <p:nvSpPr>
          <p:cNvPr id="25" name="Shape 23"/>
          <p:cNvSpPr/>
          <p:nvPr/>
        </p:nvSpPr>
        <p:spPr>
          <a:xfrm>
            <a:off x="9448780" y="6324462"/>
            <a:ext cx="7924878" cy="9525"/>
          </a:xfrm>
          <a:prstGeom prst="rect">
            <a:avLst/>
          </a:prstGeom>
          <a:solidFill>
            <a:srgbClr val="16241C">
              <a:alpha val="14000"/>
            </a:srgbClr>
          </a:solidFill>
          <a:ln/>
        </p:spPr>
      </p:sp>
      <p:sp>
        <p:nvSpPr>
          <p:cNvPr id="26" name="Text 24"/>
          <p:cNvSpPr/>
          <p:nvPr/>
        </p:nvSpPr>
        <p:spPr>
          <a:xfrm>
            <a:off x="9448780" y="6673593"/>
            <a:ext cx="387192" cy="1642678"/>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Q4</a:t>
            </a:r>
            <a:endParaRPr lang="en-US" sz="1800" dirty="0"/>
          </a:p>
        </p:txBody>
      </p:sp>
      <p:sp>
        <p:nvSpPr>
          <p:cNvPr id="27" name="Text 25"/>
          <p:cNvSpPr/>
          <p:nvPr/>
        </p:nvSpPr>
        <p:spPr>
          <a:xfrm>
            <a:off x="10026393" y="6597393"/>
            <a:ext cx="1740018" cy="454597"/>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Who owns</a:t>
            </a:r>
            <a:endParaRPr lang="en-US" sz="2850" dirty="0"/>
          </a:p>
        </p:txBody>
      </p:sp>
      <p:sp>
        <p:nvSpPr>
          <p:cNvPr id="28" name="Text 26"/>
          <p:cNvSpPr/>
          <p:nvPr/>
        </p:nvSpPr>
        <p:spPr>
          <a:xfrm>
            <a:off x="11775700" y="6572151"/>
            <a:ext cx="2228889" cy="511392"/>
          </a:xfrm>
          <a:prstGeom prst="rect">
            <a:avLst/>
          </a:prstGeom>
          <a:noFill/>
          <a:ln/>
        </p:spPr>
        <p:txBody>
          <a:bodyPr wrap="square" lIns="25400" tIns="25400" rIns="25400" bIns="25400" rtlCol="0" anchor="t">
            <a:normAutofit/>
          </a:bodyPr>
          <a:lstStyle/>
          <a:p>
            <a:pPr algn="l" indent="0" marL="0">
              <a:lnSpc>
                <a:spcPct val="118000"/>
              </a:lnSpc>
              <a:buNone/>
            </a:pPr>
            <a:r>
              <a:rPr lang="en-US" sz="2850" i="1" spc="-14" kern="0" dirty="0">
                <a:solidFill>
                  <a:srgbClr val="1F6F43"/>
                </a:solidFill>
                <a:latin typeface="Georgia" pitchFamily="34" charset="0"/>
                <a:ea typeface="Georgia" pitchFamily="34" charset="-122"/>
                <a:cs typeface="Georgia" pitchFamily="34" charset="-120"/>
              </a:rPr>
              <a:t>parental consent</a:t>
            </a:r>
            <a:endParaRPr lang="en-US" sz="2850" dirty="0"/>
          </a:p>
        </p:txBody>
      </p:sp>
      <p:sp>
        <p:nvSpPr>
          <p:cNvPr id="29" name="Text 27"/>
          <p:cNvSpPr/>
          <p:nvPr/>
        </p:nvSpPr>
        <p:spPr>
          <a:xfrm>
            <a:off x="10026393" y="6597393"/>
            <a:ext cx="6847924" cy="881644"/>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for the minors in scope — product, ops, or legal?</a:t>
            </a:r>
            <a:endParaRPr lang="en-US" sz="2850" dirty="0"/>
          </a:p>
        </p:txBody>
      </p:sp>
      <p:sp>
        <p:nvSpPr>
          <p:cNvPr id="30" name="Text 28"/>
          <p:cNvSpPr/>
          <p:nvPr/>
        </p:nvSpPr>
        <p:spPr>
          <a:xfrm>
            <a:off x="10026393" y="7584799"/>
            <a:ext cx="7567683" cy="384786"/>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5A51"/>
                </a:solidFill>
                <a:latin typeface="Arial" pitchFamily="34" charset="0"/>
                <a:ea typeface="Arial" pitchFamily="34" charset="-122"/>
                <a:cs typeface="Arial" pitchFamily="34" charset="-120"/>
              </a:rPr>
              <a:t>Item 22 needs a named owner before pilot day one, not after.</a:t>
            </a:r>
            <a:endParaRPr lang="en-US" sz="1950" dirty="0"/>
          </a:p>
        </p:txBody>
      </p:sp>
      <p:sp>
        <p:nvSpPr>
          <p:cNvPr id="31" name="Shape 29"/>
          <p:cNvSpPr/>
          <p:nvPr/>
        </p:nvSpPr>
        <p:spPr>
          <a:xfrm>
            <a:off x="914341" y="8811413"/>
            <a:ext cx="7924878" cy="9525"/>
          </a:xfrm>
          <a:prstGeom prst="rect">
            <a:avLst/>
          </a:prstGeom>
          <a:solidFill>
            <a:srgbClr val="16241C">
              <a:alpha val="14000"/>
            </a:srgbClr>
          </a:solidFill>
          <a:ln/>
        </p:spPr>
      </p:sp>
      <p:sp>
        <p:nvSpPr>
          <p:cNvPr id="32" name="Text 30"/>
          <p:cNvSpPr/>
          <p:nvPr/>
        </p:nvSpPr>
        <p:spPr>
          <a:xfrm>
            <a:off x="914341" y="9160545"/>
            <a:ext cx="387192" cy="1295992"/>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Q5</a:t>
            </a:r>
            <a:endParaRPr lang="en-US" sz="1800" dirty="0"/>
          </a:p>
        </p:txBody>
      </p:sp>
      <p:sp>
        <p:nvSpPr>
          <p:cNvPr id="33" name="Text 31"/>
          <p:cNvSpPr/>
          <p:nvPr/>
        </p:nvSpPr>
        <p:spPr>
          <a:xfrm>
            <a:off x="1491954" y="9084345"/>
            <a:ext cx="1915925" cy="454597"/>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What is our</a:t>
            </a:r>
            <a:endParaRPr lang="en-US" sz="2850" dirty="0"/>
          </a:p>
        </p:txBody>
      </p:sp>
      <p:sp>
        <p:nvSpPr>
          <p:cNvPr id="34" name="Text 32"/>
          <p:cNvSpPr/>
          <p:nvPr/>
        </p:nvSpPr>
        <p:spPr>
          <a:xfrm>
            <a:off x="3417168" y="9059103"/>
            <a:ext cx="2558912" cy="511392"/>
          </a:xfrm>
          <a:prstGeom prst="rect">
            <a:avLst/>
          </a:prstGeom>
          <a:noFill/>
          <a:ln/>
        </p:spPr>
        <p:txBody>
          <a:bodyPr wrap="square" lIns="25400" tIns="25400" rIns="25400" bIns="25400" rtlCol="0" anchor="t">
            <a:normAutofit/>
          </a:bodyPr>
          <a:lstStyle/>
          <a:p>
            <a:pPr algn="l" indent="0" marL="0">
              <a:lnSpc>
                <a:spcPct val="118000"/>
              </a:lnSpc>
              <a:buNone/>
            </a:pPr>
            <a:r>
              <a:rPr lang="en-US" sz="2850" i="1" spc="-14" kern="0" dirty="0">
                <a:solidFill>
                  <a:srgbClr val="1F6F43"/>
                </a:solidFill>
                <a:latin typeface="Georgia" pitchFamily="34" charset="0"/>
                <a:ea typeface="Georgia" pitchFamily="34" charset="-122"/>
                <a:cs typeface="Georgia" pitchFamily="34" charset="-120"/>
              </a:rPr>
              <a:t>working hypothesis</a:t>
            </a:r>
            <a:endParaRPr lang="en-US" sz="2850" dirty="0"/>
          </a:p>
        </p:txBody>
      </p:sp>
      <p:sp>
        <p:nvSpPr>
          <p:cNvPr id="35" name="Text 33"/>
          <p:cNvSpPr/>
          <p:nvPr/>
        </p:nvSpPr>
        <p:spPr>
          <a:xfrm>
            <a:off x="1491954" y="9084345"/>
            <a:ext cx="7394420" cy="881644"/>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on pricing — and when do we test it?</a:t>
            </a:r>
            <a:endParaRPr lang="en-US" sz="2850" dirty="0"/>
          </a:p>
        </p:txBody>
      </p:sp>
      <p:sp>
        <p:nvSpPr>
          <p:cNvPr id="36" name="Text 34"/>
          <p:cNvSpPr/>
          <p:nvPr/>
        </p:nvSpPr>
        <p:spPr>
          <a:xfrm>
            <a:off x="1491954" y="10071750"/>
            <a:ext cx="7567683" cy="384786"/>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5A51"/>
                </a:solidFill>
                <a:latin typeface="Arial" pitchFamily="34" charset="0"/>
                <a:ea typeface="Arial" pitchFamily="34" charset="-122"/>
                <a:cs typeface="Arial" pitchFamily="34" charset="-120"/>
              </a:rPr>
              <a:t>Item 25 is the only entry we cannot answer from the IDE.</a:t>
            </a:r>
            <a:endParaRPr lang="en-US" sz="1950" dirty="0"/>
          </a:p>
        </p:txBody>
      </p:sp>
      <p:sp>
        <p:nvSpPr>
          <p:cNvPr id="37" name="Shape 35"/>
          <p:cNvSpPr/>
          <p:nvPr/>
        </p:nvSpPr>
        <p:spPr>
          <a:xfrm>
            <a:off x="9448780" y="8811413"/>
            <a:ext cx="7924878" cy="9525"/>
          </a:xfrm>
          <a:prstGeom prst="rect">
            <a:avLst/>
          </a:prstGeom>
          <a:solidFill>
            <a:srgbClr val="16241C">
              <a:alpha val="14000"/>
            </a:srgbClr>
          </a:solidFill>
          <a:ln/>
        </p:spPr>
      </p:sp>
      <p:sp>
        <p:nvSpPr>
          <p:cNvPr id="38" name="Text 36"/>
          <p:cNvSpPr/>
          <p:nvPr/>
        </p:nvSpPr>
        <p:spPr>
          <a:xfrm>
            <a:off x="9448780" y="9160545"/>
            <a:ext cx="387192" cy="1295992"/>
          </a:xfrm>
          <a:prstGeom prst="rect">
            <a:avLst/>
          </a:prstGeom>
          <a:noFill/>
          <a:ln/>
        </p:spPr>
        <p:txBody>
          <a:bodyPr wrap="square" lIns="25400" tIns="25400" rIns="25400" bIns="25400" rtlCol="0" anchor="t">
            <a:normAutofit/>
          </a:bodyPr>
          <a:lstStyle/>
          <a:p>
            <a:pPr algn="l" indent="0" marL="0">
              <a:lnSpc>
                <a:spcPct val="135000"/>
              </a:lnSpc>
              <a:buNone/>
            </a:pPr>
            <a:r>
              <a:rPr lang="en-US" sz="1800" spc="144" kern="0" dirty="0">
                <a:solidFill>
                  <a:srgbClr val="7C8A82"/>
                </a:solidFill>
                <a:latin typeface="Courier New" pitchFamily="34" charset="0"/>
                <a:ea typeface="Courier New" pitchFamily="34" charset="-122"/>
                <a:cs typeface="Courier New" pitchFamily="34" charset="-120"/>
              </a:rPr>
              <a:t>Q6</a:t>
            </a:r>
            <a:endParaRPr lang="en-US" sz="1800" dirty="0"/>
          </a:p>
        </p:txBody>
      </p:sp>
      <p:sp>
        <p:nvSpPr>
          <p:cNvPr id="39" name="Text 37"/>
          <p:cNvSpPr/>
          <p:nvPr/>
        </p:nvSpPr>
        <p:spPr>
          <a:xfrm>
            <a:off x="10026393" y="9084345"/>
            <a:ext cx="4284231" cy="454597"/>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If two P0 items slip, do we</a:t>
            </a:r>
            <a:endParaRPr lang="en-US" sz="2850" dirty="0"/>
          </a:p>
        </p:txBody>
      </p:sp>
      <p:sp>
        <p:nvSpPr>
          <p:cNvPr id="40" name="Text 38"/>
          <p:cNvSpPr/>
          <p:nvPr/>
        </p:nvSpPr>
        <p:spPr>
          <a:xfrm>
            <a:off x="14271328" y="9059103"/>
            <a:ext cx="1868103" cy="511392"/>
          </a:xfrm>
          <a:prstGeom prst="rect">
            <a:avLst/>
          </a:prstGeom>
          <a:noFill/>
          <a:ln/>
        </p:spPr>
        <p:txBody>
          <a:bodyPr wrap="square" lIns="25400" tIns="25400" rIns="25400" bIns="25400" rtlCol="0" anchor="t">
            <a:normAutofit/>
          </a:bodyPr>
          <a:lstStyle/>
          <a:p>
            <a:pPr algn="l" indent="0" marL="0">
              <a:lnSpc>
                <a:spcPct val="118000"/>
              </a:lnSpc>
              <a:buNone/>
            </a:pPr>
            <a:r>
              <a:rPr lang="en-US" sz="2850" i="1" spc="-14" kern="0" dirty="0">
                <a:solidFill>
                  <a:srgbClr val="1F6F43"/>
                </a:solidFill>
                <a:latin typeface="Georgia" pitchFamily="34" charset="0"/>
                <a:ea typeface="Georgia" pitchFamily="34" charset="-122"/>
                <a:cs typeface="Georgia" pitchFamily="34" charset="-120"/>
              </a:rPr>
              <a:t>delay the pilot</a:t>
            </a:r>
            <a:endParaRPr lang="en-US" sz="2850" dirty="0"/>
          </a:p>
        </p:txBody>
      </p:sp>
      <p:sp>
        <p:nvSpPr>
          <p:cNvPr id="41" name="Text 39"/>
          <p:cNvSpPr/>
          <p:nvPr/>
        </p:nvSpPr>
        <p:spPr>
          <a:xfrm>
            <a:off x="10026393" y="9084345"/>
            <a:ext cx="6655975" cy="881644"/>
          </a:xfrm>
          <a:prstGeom prst="rect">
            <a:avLst/>
          </a:prstGeom>
          <a:noFill/>
          <a:ln/>
        </p:spPr>
        <p:txBody>
          <a:bodyPr wrap="square" lIns="0" tIns="0" rIns="0" bIns="0" rtlCol="0" anchor="t">
            <a:normAutofit/>
          </a:bodyPr>
          <a:lstStyle/>
          <a:p>
            <a:pPr algn="l" indent="0" marL="0">
              <a:lnSpc>
                <a:spcPct val="118000"/>
              </a:lnSpc>
              <a:buNone/>
            </a:pPr>
            <a:r>
              <a:rPr lang="en-US" sz="2850" spc="-14" kern="0" dirty="0">
                <a:solidFill>
                  <a:srgbClr val="16241C"/>
                </a:solidFill>
                <a:latin typeface="Georgia" pitchFamily="34" charset="0"/>
                <a:ea typeface="Georgia" pitchFamily="34" charset="-122"/>
                <a:cs typeface="Georgia" pitchFamily="34" charset="-120"/>
              </a:rPr>
              <a:t>or shrink the cohort?</a:t>
            </a:r>
            <a:endParaRPr lang="en-US" sz="2850" dirty="0"/>
          </a:p>
        </p:txBody>
      </p:sp>
      <p:sp>
        <p:nvSpPr>
          <p:cNvPr id="42" name="Text 40"/>
          <p:cNvSpPr/>
          <p:nvPr/>
        </p:nvSpPr>
        <p:spPr>
          <a:xfrm>
            <a:off x="10026393" y="10071750"/>
            <a:ext cx="7567683" cy="384786"/>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5A51"/>
                </a:solidFill>
                <a:latin typeface="Arial" pitchFamily="34" charset="0"/>
                <a:ea typeface="Arial" pitchFamily="34" charset="-122"/>
                <a:cs typeface="Arial" pitchFamily="34" charset="-120"/>
              </a:rPr>
              <a:t>Decide the rule now, while it's hypothetical and unemotional.</a:t>
            </a:r>
            <a:endParaRPr lang="en-US" sz="1950" dirty="0"/>
          </a:p>
        </p:txBody>
      </p:sp>
      <p:sp>
        <p:nvSpPr>
          <p:cNvPr id="43" name="Shape 41"/>
          <p:cNvSpPr/>
          <p:nvPr/>
        </p:nvSpPr>
        <p:spPr>
          <a:xfrm>
            <a:off x="914341" y="9381730"/>
            <a:ext cx="16459317" cy="9525"/>
          </a:xfrm>
          <a:prstGeom prst="rect">
            <a:avLst/>
          </a:prstGeom>
          <a:solidFill>
            <a:srgbClr val="16241C">
              <a:alpha val="14000"/>
            </a:srgbClr>
          </a:solidFill>
          <a:ln/>
        </p:spPr>
      </p:sp>
      <p:sp>
        <p:nvSpPr>
          <p:cNvPr id="44" name="Text 42"/>
          <p:cNvSpPr/>
          <p:nvPr/>
        </p:nvSpPr>
        <p:spPr>
          <a:xfrm>
            <a:off x="914341" y="9559412"/>
            <a:ext cx="4068820"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OPEN QUESTIONS FOR THE TEAM</a:t>
            </a:r>
            <a:endParaRPr lang="en-US" sz="1800" dirty="0"/>
          </a:p>
        </p:txBody>
      </p:sp>
      <p:sp>
        <p:nvSpPr>
          <p:cNvPr id="45" name="Text 43"/>
          <p:cNvSpPr/>
          <p:nvPr/>
        </p:nvSpPr>
        <p:spPr>
          <a:xfrm>
            <a:off x="16349474" y="9559412"/>
            <a:ext cx="1100384"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72" kern="0" dirty="0">
                <a:solidFill>
                  <a:srgbClr val="7C8A82"/>
                </a:solidFill>
                <a:latin typeface="Courier New" pitchFamily="34" charset="0"/>
                <a:ea typeface="Courier New" pitchFamily="34" charset="-122"/>
                <a:cs typeface="Courier New" pitchFamily="34" charset="-120"/>
              </a:rPr>
              <a:t>21 / 25</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8287999" cy="10286999"/>
          </a:xfrm>
          <a:prstGeom prst="rect">
            <a:avLst/>
          </a:prstGeom>
          <a:solidFill>
            <a:srgbClr val="14201A"/>
          </a:solidFill>
          <a:ln/>
        </p:spPr>
      </p:sp>
      <p:pic>
        <p:nvPicPr>
          <p:cNvPr id="3" name="Image 0" descr="preencoded.png">    </p:cNvPr>
          <p:cNvPicPr>
            <a:picLocks noChangeAspect="1"/>
          </p:cNvPicPr>
          <p:nvPr/>
        </p:nvPicPr>
        <p:blipFill>
          <a:blip r:embed="rId1"/>
          <a:stretch>
            <a:fillRect/>
          </a:stretch>
        </p:blipFill>
        <p:spPr>
          <a:xfrm>
            <a:off x="0" y="0"/>
            <a:ext cx="18287999" cy="10286999"/>
          </a:xfrm>
          <a:prstGeom prst="rect">
            <a:avLst/>
          </a:prstGeom>
        </p:spPr>
      </p:pic>
      <p:sp>
        <p:nvSpPr>
          <p:cNvPr id="4" name="Shape 1"/>
          <p:cNvSpPr/>
          <p:nvPr/>
        </p:nvSpPr>
        <p:spPr>
          <a:xfrm>
            <a:off x="914341" y="925680"/>
            <a:ext cx="133311" cy="133311"/>
          </a:xfrm>
          <a:prstGeom prst="ellipse">
            <a:avLst/>
          </a:prstGeom>
          <a:solidFill>
            <a:srgbClr val="1F6F43"/>
          </a:solidFill>
          <a:ln/>
          <a:effectLst>
            <a:outerShdw sx="100000" sy="100000" kx="0" ky="0" algn="bl" rotWithShape="0" blurRad="101600" dist="50800" dir="16200000">
              <a:srgbClr val="1F6F43">
                <a:alpha val="22000"/>
              </a:srgbClr>
            </a:outerShdw>
          </a:effectLst>
        </p:spPr>
      </p:sp>
      <p:sp>
        <p:nvSpPr>
          <p:cNvPr id="5" name="Text 2"/>
          <p:cNvSpPr/>
          <p:nvPr/>
        </p:nvSpPr>
        <p:spPr>
          <a:xfrm>
            <a:off x="1180962" y="838121"/>
            <a:ext cx="2037699"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F6F4EF"/>
                </a:solidFill>
                <a:latin typeface="Courier New" pitchFamily="34" charset="0"/>
                <a:ea typeface="Courier New" pitchFamily="34" charset="-122"/>
                <a:cs typeface="Courier New" pitchFamily="34" charset="-120"/>
              </a:rPr>
              <a:t>TRAK FOOTBALL</a:t>
            </a:r>
            <a:endParaRPr lang="en-US" sz="1800" dirty="0"/>
          </a:p>
        </p:txBody>
      </p:sp>
      <p:sp>
        <p:nvSpPr>
          <p:cNvPr id="6" name="Text 3"/>
          <p:cNvSpPr/>
          <p:nvPr/>
        </p:nvSpPr>
        <p:spPr>
          <a:xfrm>
            <a:off x="15864843" y="838121"/>
            <a:ext cx="1585015"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108" kern="0" dirty="0">
                <a:solidFill>
                  <a:srgbClr val="AEBCB3"/>
                </a:solidFill>
                <a:latin typeface="Courier New" pitchFamily="34" charset="0"/>
                <a:ea typeface="Courier New" pitchFamily="34" charset="-122"/>
                <a:cs typeface="Courier New" pitchFamily="34" charset="-120"/>
              </a:rPr>
              <a:t>DISCUSSION</a:t>
            </a:r>
            <a:endParaRPr lang="en-US" sz="1800" dirty="0"/>
          </a:p>
        </p:txBody>
      </p:sp>
      <p:sp>
        <p:nvSpPr>
          <p:cNvPr id="7" name="Text 4"/>
          <p:cNvSpPr/>
          <p:nvPr/>
        </p:nvSpPr>
        <p:spPr>
          <a:xfrm>
            <a:off x="914341" y="3644052"/>
            <a:ext cx="16953097" cy="346627"/>
          </a:xfrm>
          <a:prstGeom prst="rect">
            <a:avLst/>
          </a:prstGeom>
          <a:noFill/>
          <a:ln/>
        </p:spPr>
        <p:txBody>
          <a:bodyPr wrap="square" lIns="25400" tIns="25400" rIns="25400" bIns="25400" rtlCol="0" anchor="t">
            <a:normAutofit/>
          </a:bodyPr>
          <a:lstStyle/>
          <a:p>
            <a:pPr algn="l" indent="0" marL="0">
              <a:lnSpc>
                <a:spcPct val="135000"/>
              </a:lnSpc>
              <a:buNone/>
            </a:pPr>
            <a:r>
              <a:rPr lang="en-US" sz="1800" spc="288" kern="0" dirty="0">
                <a:solidFill>
                  <a:srgbClr val="8EA298"/>
                </a:solidFill>
                <a:latin typeface="Courier New" pitchFamily="34" charset="0"/>
                <a:ea typeface="Courier New" pitchFamily="34" charset="-122"/>
                <a:cs typeface="Courier New" pitchFamily="34" charset="-120"/>
              </a:rPr>
              <a:t>DISCUSSION</a:t>
            </a:r>
            <a:endParaRPr lang="en-US" sz="1800" dirty="0"/>
          </a:p>
        </p:txBody>
      </p:sp>
      <p:sp>
        <p:nvSpPr>
          <p:cNvPr id="8" name="Text 5"/>
          <p:cNvSpPr/>
          <p:nvPr/>
        </p:nvSpPr>
        <p:spPr>
          <a:xfrm>
            <a:off x="914341" y="4295420"/>
            <a:ext cx="14716124" cy="3071704"/>
          </a:xfrm>
          <a:prstGeom prst="rect">
            <a:avLst/>
          </a:prstGeom>
          <a:noFill/>
          <a:ln/>
        </p:spPr>
        <p:txBody>
          <a:bodyPr wrap="square" lIns="25400" tIns="25400" rIns="25400" bIns="25400" rtlCol="0" anchor="t">
            <a:normAutofit/>
          </a:bodyPr>
          <a:lstStyle/>
          <a:p>
            <a:pPr algn="l" indent="0" marL="0">
              <a:lnSpc>
                <a:spcPct val="94000"/>
              </a:lnSpc>
              <a:buNone/>
            </a:pPr>
            <a:r>
              <a:rPr lang="en-US" sz="12600" spc="-315" kern="0" dirty="0">
                <a:solidFill>
                  <a:srgbClr val="F6F4EF"/>
                </a:solidFill>
                <a:latin typeface="Georgia" pitchFamily="34" charset="0"/>
                <a:ea typeface="Georgia" pitchFamily="34" charset="-122"/>
                <a:cs typeface="Georgia" pitchFamily="34" charset="-120"/>
              </a:rPr>
              <a:t>Five blockers. </a:t>
            </a:r>
            <a:pPr algn="l" indent="0" marL="0">
              <a:lnSpc>
                <a:spcPct val="94000"/>
              </a:lnSpc>
              <a:buNone/>
            </a:pPr>
            <a:r>
              <a:rPr lang="en-US" sz="12600" i="1" spc="-315" kern="0" dirty="0">
                <a:solidFill>
                  <a:srgbClr val="5FB585"/>
                </a:solidFill>
                <a:latin typeface="Georgia" pitchFamily="34" charset="0"/>
                <a:ea typeface="Georgia" pitchFamily="34" charset="-122"/>
                <a:cs typeface="Georgia" pitchFamily="34" charset="-120"/>
              </a:rPr>
              <a:t>One week. </a:t>
            </a:r>
            <a:pPr algn="l" indent="0" marL="0">
              <a:lnSpc>
                <a:spcPct val="94000"/>
              </a:lnSpc>
              <a:buNone/>
            </a:pPr>
            <a:r>
              <a:rPr lang="en-US" sz="12600" spc="-315" kern="0" dirty="0">
                <a:solidFill>
                  <a:srgbClr val="F6F4EF"/>
                </a:solidFill>
                <a:latin typeface="Georgia" pitchFamily="34" charset="0"/>
                <a:ea typeface="Georgia" pitchFamily="34" charset="-122"/>
                <a:cs typeface="Georgia" pitchFamily="34" charset="-120"/>
              </a:rPr>
              <a:t>Then we play.</a:t>
            </a:r>
            <a:endParaRPr lang="en-US" sz="12600" dirty="0"/>
          </a:p>
        </p:txBody>
      </p:sp>
      <p:sp>
        <p:nvSpPr>
          <p:cNvPr id="9" name="Text 6"/>
          <p:cNvSpPr/>
          <p:nvPr/>
        </p:nvSpPr>
        <p:spPr>
          <a:xfrm>
            <a:off x="914341" y="7671864"/>
            <a:ext cx="11772899" cy="979162"/>
          </a:xfrm>
          <a:prstGeom prst="rect">
            <a:avLst/>
          </a:prstGeom>
          <a:noFill/>
          <a:ln/>
        </p:spPr>
        <p:txBody>
          <a:bodyPr wrap="square" lIns="25400" tIns="25400" rIns="25400" bIns="25400" rtlCol="0" anchor="t">
            <a:normAutofit/>
          </a:bodyPr>
          <a:lstStyle/>
          <a:p>
            <a:pPr algn="l" indent="0" marL="0">
              <a:lnSpc>
                <a:spcPct val="130000"/>
              </a:lnSpc>
              <a:buNone/>
            </a:pPr>
            <a:r>
              <a:rPr lang="en-US" sz="2850" spc="-11" kern="0" dirty="0">
                <a:solidFill>
                  <a:srgbClr val="AEBCB3"/>
                </a:solidFill>
                <a:latin typeface="Arial" pitchFamily="34" charset="0"/>
                <a:ea typeface="Arial" pitchFamily="34" charset="-122"/>
                <a:cs typeface="Arial" pitchFamily="34" charset="-120"/>
              </a:rPr>
              <a:t>Thank you. Questions, dissent, and revised owner names all welcome — better here than on the pitch.</a:t>
            </a:r>
            <a:endParaRPr lang="en-US" sz="2850" dirty="0"/>
          </a:p>
        </p:txBody>
      </p:sp>
      <p:sp>
        <p:nvSpPr>
          <p:cNvPr id="10" name="Shape 7"/>
          <p:cNvSpPr/>
          <p:nvPr/>
        </p:nvSpPr>
        <p:spPr>
          <a:xfrm>
            <a:off x="914341" y="8955767"/>
            <a:ext cx="16459317" cy="9525"/>
          </a:xfrm>
          <a:prstGeom prst="rect">
            <a:avLst/>
          </a:prstGeom>
          <a:solidFill>
            <a:srgbClr val="FFFFFF">
              <a:alpha val="14000"/>
            </a:srgbClr>
          </a:solidFill>
          <a:ln/>
        </p:spPr>
      </p:sp>
      <p:sp>
        <p:nvSpPr>
          <p:cNvPr id="11" name="Text 8"/>
          <p:cNvSpPr/>
          <p:nvPr/>
        </p:nvSpPr>
        <p:spPr>
          <a:xfrm>
            <a:off x="914341" y="9190638"/>
            <a:ext cx="5387686"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7" kern="0" dirty="0">
                <a:solidFill>
                  <a:srgbClr val="AEBCB3"/>
                </a:solidFill>
                <a:latin typeface="Courier New" pitchFamily="34" charset="0"/>
                <a:ea typeface="Courier New" pitchFamily="34" charset="-122"/>
                <a:cs typeface="Courier New" pitchFamily="34" charset="-120"/>
              </a:rPr>
              <a:t>TRAK FOOTBALL · PRE-PILOT REVIEW</a:t>
            </a:r>
            <a:endParaRPr lang="en-US" sz="1950" dirty="0"/>
          </a:p>
        </p:txBody>
      </p:sp>
      <p:sp>
        <p:nvSpPr>
          <p:cNvPr id="12" name="Text 9"/>
          <p:cNvSpPr/>
          <p:nvPr/>
        </p:nvSpPr>
        <p:spPr>
          <a:xfrm>
            <a:off x="16229376" y="9190638"/>
            <a:ext cx="1220482" cy="372461"/>
          </a:xfrm>
          <a:prstGeom prst="rect">
            <a:avLst/>
          </a:prstGeom>
          <a:noFill/>
          <a:ln/>
        </p:spPr>
        <p:txBody>
          <a:bodyPr wrap="square" lIns="25400" tIns="25400" rIns="25400" bIns="25400" rtlCol="0" anchor="t">
            <a:normAutofit/>
          </a:bodyPr>
          <a:lstStyle/>
          <a:p>
            <a:pPr algn="l" indent="0" marL="0">
              <a:lnSpc>
                <a:spcPct val="135000"/>
              </a:lnSpc>
              <a:buNone/>
            </a:pPr>
            <a:r>
              <a:rPr lang="en-US" sz="1950" spc="117" kern="0" dirty="0">
                <a:solidFill>
                  <a:srgbClr val="AEBCB3"/>
                </a:solidFill>
                <a:latin typeface="Courier New" pitchFamily="34" charset="0"/>
                <a:ea typeface="Courier New" pitchFamily="34" charset="-122"/>
                <a:cs typeface="Courier New" pitchFamily="34" charset="-120"/>
              </a:rPr>
              <a:t>25 / 25</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2026-05-26T12:56:35Z</dcterms:created>
  <dcterms:modified xsi:type="dcterms:W3CDTF">2026-05-26T12:56:35Z</dcterms:modified>
</cp:coreProperties>
</file>